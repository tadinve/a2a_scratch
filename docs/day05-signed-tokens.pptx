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signed tokens" id="{ebb43e05-53ed-32d9-3438-436bb813bd19}">
          <p14:sldIdLst>
            <p14:sldId id="256"/>
            <p14:sldId id="257"/>
            <p14:sldId id="258"/>
          </p14:sldIdLst>
        </p14:section>
        <p14:section name="Building it" id="{367eabef-779a-b880-588c-288416266e4e}">
          <p14:sldIdLst>
            <p14:sldId id="259"/>
            <p14:sldId id="260"/>
            <p14:sldId id="261"/>
            <p14:sldId id="262"/>
            <p14:sldId id="263"/>
          </p14:sldIdLst>
        </p14:section>
        <p14:section name="Limiting and running it" id="{a8d5959d-f1dd-3cc4-34ba-fb815660d1aa}">
          <p14:sldIdLst>
            <p14:sldId id="264"/>
            <p14:sldId id="265"/>
            <p14:sldId id="266"/>
            <p14:sldId id="267"/>
          </p14:sldIdLst>
        </p14:section>
        <p14:section name="Proving it" id="{b8fbf502-2ef8-2698-aebc-acd290c8b740}">
          <p14:sldIdLst>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05 replaced the shared API key with signed JWTs. Over nine steps we built a separate token issuer, scoped tokens, a token lifecycle in the agent, and signing-key rotation, then attacked every layer to prove it fails safely. 05.7, revocation, was discussed and deliberately skipped.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04 ended with role- and class-based authorization over API keys. Authorization was solid, but authentication had three problems: the inventory service had to know every caller’s secret, a stolen key worked forever, and there was no way to give one key less authority than its role. Day 05 fixes authentication only. Authorization logic carries over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processes. The token issuer is the only holder of the private signing key. The inventory service holds only public keys, selected by the token’s kid. The agent authenticates to the issuer with client credentials and a requested scope, receives a short-lived JWT, caches it per scope, and sends it as a bearer token. The service checks the signature and claims, then the token’s scope, then the role, then the record’s class, and only then reads stock details from SQLite.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generated an RSA key pair and wrote two scripts: one signs five claims with the private key, the other verifies with the public key. The key lesson is the security question from the brief: if you edit sub to admin-agent, the JSON is valid, the audience is right and the token isn’t expired, but it still fails, because the signature covers the exact bytes of the header and payload. A signed JWT gives integrity and origin, not confidentiality. The verifier pins RS256 rather than trusting the token’s own alg header, and requires all five claims explicitly, since the spec makes them optional.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X-API-Key was replaced by the standard Authorization: Bearer header. The service loads the issuer’s public key at startup and refuses to start if it is missing or is the private key by mistake. The token’s verified sub became the identity passed into the unchanged Day 04 authorization rules. All seven acceptance cases passed over the full HTTP path, and every 401 case proved with a spy that SQLite was never touched. One subtle result: a correctly signed token for an unknown identity gets 403, not 401, because authentication succeeded and only authorization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05.2 proved the service can verify a signed identity. 05.3 asks who is allowed to create one. The old script trusted a command-line argument for sub, which is not authentication at all. The new token issuer authenticates client credentials against its own registry and assigns the identity. The endpoint reads only the credential headers, so a sub in the body, query or another header is never read. An unknown client ID is compared against a dummy secret so it fails the same way as a wrong secret. Tests assert that neither the inventory service nor the agent code ever references the private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idea of the separate issuer. If a caller can say which identity to put in a token, the signature only proves that someone asked nicely. Identity must come out of an authentication step the issuer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Until now we were impersonating the agent by pasting tokens into curl and Postman. In 05.4 the agent’s get_stock tool does it itself: it authenticates to the issuer with its client ID and secret, receives a short-lived JWT, and calls the inventory service with it. The model still passes only a SKU; credentials never enter the model’s path. We deliberately fetched a fresh token on every request so the whole flow showed up in the logs.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05.5 a token proved identity but carried no restriction. Now each client has an entitlement in the issuer’s registry, and each token request names the scope it wants. The issuer refuses anything outside the entitlement; the highlighted row is the key test, where restricted-agent asks for class A and no token is minted at all. The inventory service checks the token’s scope and then the role, and both must allow the record’s class. The agent’s scope comes from configuration, never from the model. A missing scope is a 400 rather than a silent default to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05.4 fetched a token for every call. 05.6 made tokens behave like real runtime credentials. The agent caches each token in memory with its expiry and renews it 30 seconds early, so it never sends a token about to expire. A 401 on a cached token triggers exactly one renewal and one retry; a 403 never does, because insufficient authority is not fixed by a new token. The cache key includes the scope, so a class B token is never reused for a class A request. A useful operational property: an issuer outage is not a service outage while the agent holds a valid token.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Revocation was discussed and intentionally not built. The benefit of a signed JWT is that a service can verify it alone, with only a public key. Revoking an individual token early means the service must consult something on every request, a denylist keyed by the token’s jti or an introspection endpoint, which reintroduces exactly the shared state we removed. For this project, short five-minute lifetimes plus key retirement are an acceptable mitigation. This is a known gap to revisit, not an oversight.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config files now answer two questions: config/issuer.json says which private key the issuer signs with, and config/inventory_service.json says which public keys the service trusts, by kid. Every token header carries the kid. A rotation is new keys plus config edits plus restarts, with no code change. We ran it live end to end: during the overlap both the old key-1 token and new key-2 tokens worked; after retirement the old token failed with UnknownKeyIdError. We also hit the classic mistake by accident: switching the issuer first breaks every new token, which is why verifiers must trust the new key before anyone signs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05.9 added no architecture. It is one script that attacks every layer in-process, against the real issuer app, the real service app and the real agent tool, with throwaway keys, and expects every attack to fail safely. A spy on SQLite proves no denied request read protected details. Two results stood out: each attack produced a distinct logged reason class, which is the raw material for monitoring; and a forged class A scope on a restricted identity got past the scope check but was stopped by the role check, so defence in depth was visible. The drill also runs as one test in the regular 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actual failures from the build. The first was a debug print going to standard output, so a shell capture put three lines into an Authorization header and uvicorn rejected the request. The second was pytest importing conftest under two names, which generated two key pairs. The third was a test helper that silently turned a typo into a header. The last three came from the live rotation: services read config only at startup, the verifier must trust a new key before the issuer uses it, and the five-minute lifetime that limits a stolen token also limits how long a rotation can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commands reproduce everything. The pytest suite covers JWT verification, the issuer, scopes, the agent’s token lifecycle with a fake clock, rotation phases and the attack drill. The live checks run against both real services over HTTP. The agent flow demo drives the real agent tool through six scenarios. The rotation check script was used to run the key rotation live, step by step, with restarts.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05 makes identity verifiable, scoped and rotatable, but it is still a learning system. A stolen bearer token works until it expires. Client secrets are static. All three processes run as the same OS user, so file permissions don’t enforce the separation the code respects. Keys are local files rather than a managed signing service, everything runs over localhost HTTP, and revocation was deliberately skipped. The next step is to move up a layer rather than keep extending JWT internals.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64240" cy="320040"/>
          </a:xfrm>
          <a:prstGeom prst="rect">
            <a:avLst/>
          </a:prstGeom>
          <a:noFill/>
          <a:ln/>
        </p:spPr>
        <p:txBody>
          <a:bodyPr wrap="square" rtlCol="0"/>
          <a:lstStyle>
            <a:lvl1pPr indent="0" marL="0">
              <a:buNone/>
              <a:defRPr lang="en-US" sz="1400" b="1" dirty="0">
                <a:solidFill>
                  <a:schemeClr val="accent1"/>
                </a:solidFill>
                <a:latin typeface="Courier New" pitchFamily="34" charset="0"/>
                <a:ea typeface="Courier New" pitchFamily="34" charset="-122"/>
                <a:cs typeface="Courier New" pitchFamily="34" charset="-120"/>
              </a:defRPr>
            </a:lvl1pPr>
          </a:lstStyle>
          <a:p>
            <a:pPr indent="0" marL="0">
              <a:buNone/>
            </a:pPr>
            <a:endParaRPr lang="en-US" sz="1400" dirty="0"/>
          </a:p>
        </p:txBody>
      </p:sp>
      <p:sp>
        <p:nvSpPr>
          <p:cNvPr id="3" name="Text 0"/>
          <p:cNvSpPr/>
          <p:nvPr>
            <p:ph idx="101" type="title" hasCustomPrompt="1"/>
          </p:nvPr>
        </p:nvSpPr>
        <p:spPr>
          <a:xfrm>
            <a:off x="548640" y="731520"/>
            <a:ext cx="11064240" cy="731520"/>
          </a:xfrm>
          <a:prstGeom prst="rect">
            <a:avLst/>
          </a:prstGeom>
          <a:noFill/>
          <a:ln/>
        </p:spPr>
        <p:txBody>
          <a:bodyPr wrap="square" rtlCol="0"/>
          <a:lstStyle>
            <a:lvl1pPr indent="0" marL="0">
              <a:buNone/>
              <a:defRPr lang="en-US" sz="3400" b="1" dirty="0">
                <a:solidFill>
                  <a:schemeClr val="tx1"/>
                </a:solidFill>
              </a:defRPr>
            </a:lvl1pPr>
          </a:lstStyle>
          <a:p>
            <a:pPr indent="0" marL="0">
              <a:buNone/>
            </a:pPr>
            <a:endParaRPr lang="en-US" sz="3400" dirty="0"/>
          </a:p>
        </p:txBody>
      </p:sp>
      <p:sp>
        <p:nvSpPr>
          <p:cNvPr id="4" name="Text 0"/>
          <p:cNvSpPr/>
          <p:nvPr/>
        </p:nvSpPr>
        <p:spPr>
          <a:xfrm>
            <a:off x="548640" y="6355080"/>
            <a:ext cx="7315200" cy="274320"/>
          </a:xfrm>
          <a:prstGeom prst="rect">
            <a:avLst/>
          </a:prstGeom>
          <a:noFill/>
          <a:ln/>
        </p:spPr>
        <p:txBody>
          <a:bodyPr wrap="square" lIns="0" tIns="0" rIns="0" bIns="0" rtlCol="0" anchor="ctr"/>
          <a:lstStyle/>
          <a:p>
            <a:pPr indent="0" marL="0">
              <a:buNone/>
            </a:pPr>
            <a:r>
              <a:rPr lang="en-US" sz="1100" dirty="0">
                <a:solidFill>
                  <a:schemeClr val="accent6"/>
                </a:solidFill>
              </a:rPr>
              <a:t>Day 05 · Signed tokens for agents</a:t>
            </a:r>
            <a:endParaRPr lang="en-US" sz="11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F667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TIN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64240" cy="320040"/>
          </a:xfrm>
          <a:prstGeom prst="rect">
            <a:avLst/>
          </a:prstGeom>
          <a:noFill/>
          <a:ln/>
        </p:spPr>
        <p:txBody>
          <a:bodyPr wrap="square" rtlCol="0"/>
          <a:lstStyle>
            <a:lvl1pPr indent="0" marL="0">
              <a:buNone/>
              <a:defRPr lang="en-US" sz="1400" b="1" dirty="0">
                <a:solidFill>
                  <a:schemeClr val="accent1"/>
                </a:solidFill>
                <a:latin typeface="Courier New" pitchFamily="34" charset="0"/>
                <a:ea typeface="Courier New" pitchFamily="34" charset="-122"/>
                <a:cs typeface="Courier New" pitchFamily="34" charset="-120"/>
              </a:defRPr>
            </a:lvl1pPr>
          </a:lstStyle>
          <a:p>
            <a:pPr indent="0" marL="0">
              <a:buNone/>
            </a:pPr>
            <a:endParaRPr lang="en-US" sz="1400" dirty="0"/>
          </a:p>
        </p:txBody>
      </p:sp>
      <p:sp>
        <p:nvSpPr>
          <p:cNvPr id="3" name="Text 0"/>
          <p:cNvSpPr/>
          <p:nvPr>
            <p:ph idx="101" type="title" hasCustomPrompt="1"/>
          </p:nvPr>
        </p:nvSpPr>
        <p:spPr>
          <a:xfrm>
            <a:off x="548640" y="731520"/>
            <a:ext cx="11064240" cy="731520"/>
          </a:xfrm>
          <a:prstGeom prst="rect">
            <a:avLst/>
          </a:prstGeom>
          <a:noFill/>
          <a:ln/>
        </p:spPr>
        <p:txBody>
          <a:bodyPr wrap="square" rtlCol="0"/>
          <a:lstStyle>
            <a:lvl1pPr indent="0" marL="0">
              <a:buNone/>
              <a:defRPr lang="en-US" sz="3400" b="1" dirty="0">
                <a:solidFill>
                  <a:schemeClr val="tx1"/>
                </a:solidFill>
              </a:defRPr>
            </a:lvl1pPr>
          </a:lstStyle>
          <a:p>
            <a:pPr indent="0" marL="0">
              <a:buNone/>
            </a:pPr>
            <a:endParaRPr lang="en-US" sz="3400" dirty="0"/>
          </a:p>
        </p:txBody>
      </p:sp>
      <p:sp>
        <p:nvSpPr>
          <p:cNvPr id="4" name="Text 0"/>
          <p:cNvSpPr/>
          <p:nvPr/>
        </p:nvSpPr>
        <p:spPr>
          <a:xfrm>
            <a:off x="548640" y="6355080"/>
            <a:ext cx="7315200" cy="274320"/>
          </a:xfrm>
          <a:prstGeom prst="rect">
            <a:avLst/>
          </a:prstGeom>
          <a:noFill/>
          <a:ln/>
        </p:spPr>
        <p:txBody>
          <a:bodyPr wrap="square" lIns="0" tIns="0" rIns="0" bIns="0" rtlCol="0" anchor="ctr"/>
          <a:lstStyle/>
          <a:p>
            <a:pPr indent="0" marL="0">
              <a:buNone/>
            </a:pPr>
            <a:r>
              <a:rPr lang="en-US" sz="1100" dirty="0">
                <a:solidFill>
                  <a:schemeClr val="accent6"/>
                </a:solidFill>
              </a:rPr>
              <a:t>Day 05 · Signed tokens for agents</a:t>
            </a:r>
            <a:endParaRPr lang="en-US" sz="11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F667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64240" cy="320040"/>
          </a:xfrm>
          <a:prstGeom prst="rect">
            <a:avLst/>
          </a:prstGeom>
          <a:noFill/>
          <a:ln/>
        </p:spPr>
        <p:txBody>
          <a:bodyPr wrap="square" rtlCol="0"/>
          <a:lstStyle>
            <a:lvl1pPr indent="0" marL="0">
              <a:buNone/>
              <a:defRPr lang="en-US" sz="1400" b="1" dirty="0">
                <a:solidFill>
                  <a:schemeClr val="accent3"/>
                </a:solidFill>
                <a:latin typeface="Courier New" pitchFamily="34" charset="0"/>
                <a:ea typeface="Courier New" pitchFamily="34" charset="-122"/>
                <a:cs typeface="Courier New" pitchFamily="34" charset="-120"/>
              </a:defRPr>
            </a:lvl1pPr>
          </a:lstStyle>
          <a:p>
            <a:pPr indent="0" marL="0">
              <a:buNone/>
            </a:pPr>
            <a:endParaRPr lang="en-US" sz="1400" dirty="0"/>
          </a:p>
        </p:txBody>
      </p:sp>
      <p:sp>
        <p:nvSpPr>
          <p:cNvPr id="3" name="Text 0"/>
          <p:cNvSpPr/>
          <p:nvPr>
            <p:ph idx="101" type="title" hasCustomPrompt="1"/>
          </p:nvPr>
        </p:nvSpPr>
        <p:spPr>
          <a:xfrm>
            <a:off x="548640" y="731520"/>
            <a:ext cx="11064240" cy="731520"/>
          </a:xfrm>
          <a:prstGeom prst="rect">
            <a:avLst/>
          </a:prstGeom>
          <a:noFill/>
          <a:ln/>
        </p:spPr>
        <p:txBody>
          <a:bodyPr wrap="square" rtlCol="0"/>
          <a:lstStyle>
            <a:lvl1pPr indent="0" marL="0">
              <a:buNone/>
              <a:defRPr lang="en-US" sz="3400" b="1" dirty="0">
                <a:solidFill>
                  <a:schemeClr val="bg1"/>
                </a:solidFill>
              </a:defRPr>
            </a:lvl1pPr>
          </a:lstStyle>
          <a:p>
            <a:pPr indent="0" marL="0">
              <a:buNone/>
            </a:pPr>
            <a:endParaRPr lang="en-US" sz="3400" dirty="0"/>
          </a:p>
        </p:txBody>
      </p:sp>
      <p:sp>
        <p:nvSpPr>
          <p:cNvPr id="4" name="Text 0"/>
          <p:cNvSpPr/>
          <p:nvPr/>
        </p:nvSpPr>
        <p:spPr>
          <a:xfrm>
            <a:off x="548640" y="6355080"/>
            <a:ext cx="7315200" cy="274320"/>
          </a:xfrm>
          <a:prstGeom prst="rect">
            <a:avLst/>
          </a:prstGeom>
          <a:noFill/>
          <a:ln/>
        </p:spPr>
        <p:txBody>
          <a:bodyPr wrap="square" lIns="0" tIns="0" rIns="0" bIns="0" rtlCol="0" anchor="ctr"/>
          <a:lstStyle/>
          <a:p>
            <a:pPr indent="0" marL="0">
              <a:buNone/>
            </a:pPr>
            <a:r>
              <a:rPr lang="en-US" sz="1100" dirty="0">
                <a:solidFill>
                  <a:srgbClr val="C9D3E3"/>
                </a:solidFill>
              </a:rPr>
              <a:t>Day 05 · Signed tokens for agents</a:t>
            </a:r>
            <a:endParaRPr lang="en-US" sz="11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C9D3E3"/>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731520"/>
            <a:ext cx="10698480" cy="365760"/>
          </a:xfrm>
          <a:prstGeom prst="rect">
            <a:avLst/>
          </a:prstGeom>
          <a:noFill/>
          <a:ln/>
        </p:spPr>
        <p:txBody>
          <a:bodyPr wrap="square" rtlCol="0"/>
          <a:lstStyle>
            <a:lvl1pPr indent="0" marL="0">
              <a:buNone/>
              <a:defRPr lang="en-US" sz="1600" b="1" dirty="0">
                <a:solidFill>
                  <a:schemeClr val="accent3"/>
                </a:solidFill>
                <a:latin typeface="Courier New" pitchFamily="34" charset="0"/>
                <a:ea typeface="Courier New" pitchFamily="34" charset="-122"/>
                <a:cs typeface="Courier New" pitchFamily="34" charset="-120"/>
              </a:defRPr>
            </a:lvl1pPr>
          </a:lstStyle>
          <a:p>
            <a:pPr indent="0" marL="0">
              <a:buNone/>
            </a:pPr>
            <a:endParaRPr lang="en-US" sz="1600" dirty="0"/>
          </a:p>
        </p:txBody>
      </p:sp>
      <p:sp>
        <p:nvSpPr>
          <p:cNvPr id="3" name="Text 0"/>
          <p:cNvSpPr/>
          <p:nvPr>
            <p:ph idx="101" type="title" hasCustomPrompt="1"/>
          </p:nvPr>
        </p:nvSpPr>
        <p:spPr>
          <a:xfrm>
            <a:off x="731520" y="2103120"/>
            <a:ext cx="10698480" cy="1280160"/>
          </a:xfrm>
          <a:prstGeom prst="rect">
            <a:avLst/>
          </a:prstGeom>
          <a:noFill/>
          <a:ln/>
        </p:spPr>
        <p:txBody>
          <a:bodyPr wrap="square" rtlCol="0"/>
          <a:lstStyle>
            <a:lvl1pPr indent="0" marL="0">
              <a:buNone/>
              <a:defRPr lang="en-US" sz="5400" b="1" dirty="0">
                <a:solidFill>
                  <a:schemeClr val="bg1"/>
                </a:solidFill>
              </a:defRPr>
            </a:lvl1pPr>
          </a:lstStyle>
          <a:p>
            <a:pPr indent="0" marL="0">
              <a:buNone/>
            </a:pPr>
            <a:endParaRPr lang="en-US" sz="5400" dirty="0"/>
          </a:p>
        </p:txBody>
      </p:sp>
      <p:sp>
        <p:nvSpPr>
          <p:cNvPr id="4" name="Text 0"/>
          <p:cNvSpPr/>
          <p:nvPr>
            <p:ph idx="102" type="body" hasCustomPrompt="1"/>
          </p:nvPr>
        </p:nvSpPr>
        <p:spPr>
          <a:xfrm>
            <a:off x="731520" y="3474720"/>
            <a:ext cx="10698480" cy="914400"/>
          </a:xfrm>
          <a:prstGeom prst="rect">
            <a:avLst/>
          </a:prstGeom>
          <a:noFill/>
          <a:ln/>
        </p:spPr>
        <p:txBody>
          <a:bodyPr wrap="square" rtlCol="0"/>
          <a:lstStyle>
            <a:lvl1pPr indent="0" marL="0">
              <a:buNone/>
              <a:defRPr lang="en-US" sz="2400" dirty="0">
                <a:solidFill>
                  <a:srgbClr val="C9D3E3"/>
                </a:solidFill>
              </a:defRPr>
            </a:lvl1pPr>
          </a:lstStyle>
          <a:p>
            <a:pPr indent="0" marL="0">
              <a:buNone/>
            </a:pPr>
            <a:endParaRPr lang="en-US" sz="24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463040"/>
            <a:ext cx="10698480" cy="365760"/>
          </a:xfrm>
          <a:prstGeom prst="rect">
            <a:avLst/>
          </a:prstGeom>
          <a:noFill/>
          <a:ln/>
        </p:spPr>
        <p:txBody>
          <a:bodyPr wrap="square" rtlCol="0"/>
          <a:lstStyle>
            <a:lvl1pPr indent="0" marL="0">
              <a:buNone/>
              <a:defRPr lang="en-US" sz="1600" b="1" dirty="0">
                <a:solidFill>
                  <a:srgbClr val="FFF8EE"/>
                </a:solidFill>
                <a:latin typeface="Courier New" pitchFamily="34" charset="0"/>
                <a:ea typeface="Courier New" pitchFamily="34" charset="-122"/>
                <a:cs typeface="Courier New" pitchFamily="34" charset="-120"/>
              </a:defRPr>
            </a:lvl1pPr>
          </a:lstStyle>
          <a:p>
            <a:pPr indent="0" marL="0">
              <a:buNone/>
            </a:pPr>
            <a:endParaRPr lang="en-US" sz="1600" dirty="0"/>
          </a:p>
        </p:txBody>
      </p:sp>
      <p:sp>
        <p:nvSpPr>
          <p:cNvPr id="3" name="Text 0"/>
          <p:cNvSpPr/>
          <p:nvPr>
            <p:ph idx="101" type="title" hasCustomPrompt="1"/>
          </p:nvPr>
        </p:nvSpPr>
        <p:spPr>
          <a:xfrm>
            <a:off x="731520" y="2011680"/>
            <a:ext cx="10698480" cy="2011680"/>
          </a:xfrm>
          <a:prstGeom prst="rect">
            <a:avLst/>
          </a:prstGeom>
          <a:noFill/>
          <a:ln/>
        </p:spPr>
        <p:txBody>
          <a:bodyPr wrap="square" rtlCol="0"/>
          <a:lstStyle>
            <a:lvl1pPr indent="0" marL="0">
              <a:buNone/>
              <a:defRPr lang="en-US" sz="4800" b="1" dirty="0">
                <a:solidFill>
                  <a:srgbClr val="FFF8EE"/>
                </a:solidFill>
              </a:defRPr>
            </a:lvl1pPr>
          </a:lstStyle>
          <a:p>
            <a:pPr indent="0" marL="0">
              <a:buNone/>
            </a:pPr>
            <a:endParaRPr lang="en-US" sz="4800" dirty="0"/>
          </a:p>
        </p:txBody>
      </p:sp>
      <p:sp>
        <p:nvSpPr>
          <p:cNvPr id="4" name="Text 0"/>
          <p:cNvSpPr/>
          <p:nvPr>
            <p:ph idx="102" type="body" hasCustomPrompt="1"/>
          </p:nvPr>
        </p:nvSpPr>
        <p:spPr>
          <a:xfrm>
            <a:off x="731520" y="4206240"/>
            <a:ext cx="10698480" cy="822960"/>
          </a:xfrm>
          <a:prstGeom prst="rect">
            <a:avLst/>
          </a:prstGeom>
          <a:noFill/>
          <a:ln/>
        </p:spPr>
        <p:txBody>
          <a:bodyPr wrap="square" rtlCol="0"/>
          <a:lstStyle>
            <a:lvl1pPr indent="0" marL="0">
              <a:buNone/>
              <a:defRPr lang="en-US" sz="2200" dirty="0">
                <a:solidFill>
                  <a:srgbClr val="FFF8EE"/>
                </a:solidFill>
              </a:defRPr>
            </a:lvl1pPr>
          </a:lstStyle>
          <a:p>
            <a:pPr indent="0" marL="0">
              <a:buNone/>
            </a:pPr>
            <a:endParaRPr lang="en-US" sz="2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F667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731520"/>
            <a:ext cx="10698480" cy="365760"/>
          </a:xfrm>
          <a:prstGeom prst="rect">
            <a:avLst/>
          </a:prstGeom>
          <a:noFill/>
          <a:ln/>
        </p:spPr>
        <p:txBody>
          <a:bodyPr wrap="square" lIns="0" tIns="0" rIns="0" bIns="0" rtlCol="0"/>
          <a:lstStyle/>
          <a:p>
            <a:pPr indent="0" marL="0">
              <a:buNone/>
            </a:pPr>
            <a:r>
              <a:rPr lang="en-US" sz="1600" b="1" dirty="0">
                <a:solidFill>
                  <a:schemeClr val="accent3"/>
                </a:solidFill>
                <a:latin typeface="Courier New" pitchFamily="34" charset="0"/>
                <a:ea typeface="Courier New" pitchFamily="34" charset="-122"/>
                <a:cs typeface="Courier New" pitchFamily="34" charset="-120"/>
              </a:rPr>
              <a:t>A2A GOVERNANCE · DAY 05</a:t>
            </a:r>
            <a:endParaRPr lang="en-US" sz="1600" dirty="0"/>
          </a:p>
        </p:txBody>
      </p:sp>
      <p:sp>
        <p:nvSpPr>
          <p:cNvPr id="3" name="Text 0"/>
          <p:cNvSpPr/>
          <p:nvPr>
            <p:ph idx="101" type="title" hasCustomPrompt="1"/>
          </p:nvPr>
        </p:nvSpPr>
        <p:spPr>
          <a:xfrm>
            <a:off x="731520" y="2103120"/>
            <a:ext cx="10698480" cy="1280160"/>
          </a:xfrm>
          <a:prstGeom prst="rect">
            <a:avLst/>
          </a:prstGeom>
          <a:noFill/>
          <a:ln/>
        </p:spPr>
        <p:txBody>
          <a:bodyPr wrap="square" lIns="0" tIns="0" rIns="0" bIns="0" rtlCol="0" anchor="t"/>
          <a:lstStyle/>
          <a:p>
            <a:pPr indent="0" marL="0">
              <a:buNone/>
            </a:pPr>
            <a:r>
              <a:rPr lang="en-US" sz="5400" b="1" dirty="0">
                <a:solidFill>
                  <a:schemeClr val="bg1"/>
                </a:solidFill>
              </a:rPr>
              <a:t>Signed tokens for agents</a:t>
            </a:r>
            <a:endParaRPr lang="en-US" sz="5400" dirty="0"/>
          </a:p>
        </p:txBody>
      </p:sp>
      <p:sp>
        <p:nvSpPr>
          <p:cNvPr id="4" name="Text 0"/>
          <p:cNvSpPr/>
          <p:nvPr>
            <p:ph idx="102" type="body" hasCustomPrompt="1"/>
          </p:nvPr>
        </p:nvSpPr>
        <p:spPr>
          <a:xfrm>
            <a:off x="731520" y="3474720"/>
            <a:ext cx="10698480" cy="914400"/>
          </a:xfrm>
          <a:prstGeom prst="rect">
            <a:avLst/>
          </a:prstGeom>
          <a:noFill/>
          <a:ln/>
        </p:spPr>
        <p:txBody>
          <a:bodyPr wrap="square" lIns="0" tIns="0" rIns="0" bIns="0" rtlCol="0" anchor="t"/>
          <a:lstStyle/>
          <a:p>
            <a:pPr indent="0" marL="0">
              <a:buNone/>
            </a:pPr>
            <a:r>
              <a:rPr lang="en-US" sz="2400" dirty="0">
                <a:solidFill>
                  <a:srgbClr val="C9D3E3"/>
                </a:solidFill>
              </a:rPr>
              <a:t>From a shared API key to verifiable, scoped, rotatable identity</a:t>
            </a:r>
            <a:endParaRPr lang="en-US" sz="2400" dirty="0"/>
          </a:p>
        </p:txBody>
      </p:sp>
      <p:sp>
        <p:nvSpPr>
          <p:cNvPr id="5" name="cover-scope"/>
          <p:cNvSpPr txBox="1"/>
          <p:nvPr/>
        </p:nvSpPr>
        <p:spPr>
          <a:xfrm>
            <a:off x="731520" y="5760720"/>
            <a:ext cx="10698480" cy="365760"/>
          </a:xfrm>
          <a:prstGeom prst="rect">
            <a:avLst/>
          </a:prstGeom>
          <a:noFill/>
          <a:ln/>
        </p:spPr>
        <p:txBody>
          <a:bodyPr wrap="square" lIns="0" tIns="0" rIns="0" bIns="0" rtlCol="0" anchor="t"/>
          <a:lstStyle/>
          <a:p>
            <a:pPr indent="0" marL="0">
              <a:buNone/>
            </a:pPr>
            <a:r>
              <a:rPr lang="en-US" sz="1600" dirty="0">
                <a:solidFill>
                  <a:srgbClr val="C9D3E3"/>
                </a:solidFill>
              </a:rPr>
              <a:t>05.1 – 05.9 · Inventory Agent · Token Issuer · Inventory Service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64240" cy="320040"/>
          </a:xfrm>
          <a:prstGeom prst="rect">
            <a:avLst/>
          </a:prstGeom>
          <a:noFill/>
          <a:ln/>
        </p:spPr>
        <p:txBody>
          <a:bodyPr wrap="square" lIns="0" tIns="0" rIns="0" bIns="0" rtlCol="0"/>
          <a:lstStyle/>
          <a:p>
            <a:pPr indent="0" marL="0">
              <a:buNone/>
            </a:pPr>
            <a:r>
              <a:rPr lang="en-US" sz="1400" b="1" dirty="0">
                <a:solidFill>
                  <a:schemeClr val="accent1"/>
                </a:solidFill>
                <a:latin typeface="Courier New" pitchFamily="34" charset="0"/>
                <a:ea typeface="Courier New" pitchFamily="34" charset="-122"/>
                <a:cs typeface="Courier New" pitchFamily="34" charset="-120"/>
              </a:rPr>
              <a:t>CONTEXT</a:t>
            </a:r>
            <a:endParaRPr lang="en-US" sz="1400" dirty="0"/>
          </a:p>
        </p:txBody>
      </p:sp>
      <p:sp>
        <p:nvSpPr>
          <p:cNvPr id="3" name="Text 0"/>
          <p:cNvSpPr/>
          <p:nvPr>
            <p:ph idx="101" type="title" hasCustomPrompt="1"/>
          </p:nvPr>
        </p:nvSpPr>
        <p:spPr>
          <a:xfrm>
            <a:off x="548640" y="731520"/>
            <a:ext cx="11064240" cy="731520"/>
          </a:xfrm>
          <a:prstGeom prst="rect">
            <a:avLst/>
          </a:prstGeom>
          <a:noFill/>
          <a:ln/>
        </p:spPr>
        <p:txBody>
          <a:bodyPr wrap="square" lIns="0" tIns="0" rIns="0" bIns="0" rtlCol="0" anchor="t"/>
          <a:lstStyle/>
          <a:p>
            <a:pPr indent="0" marL="0">
              <a:buNone/>
            </a:pPr>
            <a:r>
              <a:rPr lang="en-US" sz="3400" b="1" dirty="0">
                <a:solidFill>
                  <a:schemeClr val="tx1"/>
                </a:solidFill>
              </a:rPr>
              <a:t>Where Day 04 left us</a:t>
            </a:r>
            <a:endParaRPr lang="en-US" sz="3400" dirty="0"/>
          </a:p>
        </p:txBody>
      </p:sp>
      <p:sp>
        <p:nvSpPr>
          <p:cNvPr id="5" name="worked-box"/>
          <p:cNvSpPr/>
          <p:nvPr/>
        </p:nvSpPr>
        <p:spPr>
          <a:xfrm>
            <a:off x="548640" y="1737360"/>
            <a:ext cx="5394960" cy="2651760"/>
          </a:xfrm>
          <a:prstGeom prst="roundRect">
            <a:avLst>
              <a:gd name="adj" fmla="val 3448"/>
            </a:avLst>
          </a:prstGeom>
          <a:solidFill>
            <a:schemeClr val="bg2"/>
          </a:solidFill>
          <a:ln w="12700">
            <a:solidFill>
              <a:schemeClr val="accent5"/>
            </a:solidFill>
            <a:prstDash val="solid"/>
          </a:ln>
        </p:spPr>
      </p:sp>
      <p:sp>
        <p:nvSpPr>
          <p:cNvPr id="6" name="worked"/>
          <p:cNvSpPr txBox="1"/>
          <p:nvPr/>
        </p:nvSpPr>
        <p:spPr>
          <a:xfrm>
            <a:off x="777240" y="1920240"/>
            <a:ext cx="4937760" cy="2286000"/>
          </a:xfrm>
          <a:prstGeom prst="rect">
            <a:avLst/>
          </a:prstGeom>
          <a:noFill/>
          <a:ln/>
        </p:spPr>
        <p:txBody>
          <a:bodyPr wrap="square" lIns="0" tIns="0" rIns="0" bIns="0" rtlCol="0" anchor="t"/>
          <a:lstStyle/>
          <a:p>
            <a:pPr indent="0" marL="0">
              <a:spcAft>
                <a:spcPts val="600"/>
              </a:spcAft>
              <a:buNone/>
            </a:pPr>
            <a:r>
              <a:rPr lang="en-US" sz="1800" b="1" dirty="0">
                <a:solidFill>
                  <a:schemeClr val="accent2"/>
                </a:solidFill>
              </a:rPr>
              <a:t>What worked</a:t>
            </a:r>
            <a:endParaRPr lang="en-US" sz="1800" dirty="0"/>
          </a:p>
          <a:p>
            <a:pPr indent="0" marL="0">
              <a:spcAft>
                <a:spcPts val="600"/>
              </a:spcAft>
              <a:buNone/>
            </a:pPr>
            <a:r>
              <a:rPr lang="en-US" sz="1500" dirty="0">
                <a:solidFill>
                  <a:schemeClr val="tx2"/>
                </a:solidFill>
              </a:rPr>
              <a:t>Two API keys resolve to two identities</a:t>
            </a:r>
            <a:endParaRPr lang="en-US" sz="1800" dirty="0"/>
          </a:p>
          <a:p>
            <a:pPr indent="0" marL="0">
              <a:spcAft>
                <a:spcPts val="600"/>
              </a:spcAft>
              <a:buNone/>
            </a:pPr>
            <a:r>
              <a:rPr lang="en-US" sz="1500" dirty="0">
                <a:solidFill>
                  <a:schemeClr val="tx2"/>
                </a:solidFill>
              </a:rPr>
              <a:t>Roles and class-based permissions decide access</a:t>
            </a:r>
            <a:endParaRPr lang="en-US" sz="1800" dirty="0"/>
          </a:p>
          <a:p>
            <a:pPr indent="0" marL="0">
              <a:spcAft>
                <a:spcPts val="600"/>
              </a:spcAft>
              <a:buNone/>
            </a:pPr>
            <a:r>
              <a:rPr lang="en-US" sz="1500" dirty="0">
                <a:solidFill>
                  <a:schemeClr val="tx2"/>
                </a:solidFill>
              </a:rPr>
              <a:t>401 means “who are you?”, 403 means “not allowed”</a:t>
            </a:r>
            <a:endParaRPr lang="en-US" sz="1800" dirty="0"/>
          </a:p>
          <a:p>
            <a:pPr indent="0" marL="0">
              <a:spcAft>
                <a:spcPts val="600"/>
              </a:spcAft>
              <a:buNone/>
            </a:pPr>
            <a:r>
              <a:rPr lang="en-US" sz="1500" dirty="0">
                <a:solidFill>
                  <a:schemeClr val="tx2"/>
                </a:solidFill>
              </a:rPr>
              <a:t>SQLite is reached only after authorization</a:t>
            </a:r>
            <a:endParaRPr lang="en-US" sz="1800" dirty="0"/>
          </a:p>
        </p:txBody>
      </p:sp>
      <p:sp>
        <p:nvSpPr>
          <p:cNvPr id="7" name="hurt-box"/>
          <p:cNvSpPr/>
          <p:nvPr/>
        </p:nvSpPr>
        <p:spPr>
          <a:xfrm>
            <a:off x="6217920" y="1737360"/>
            <a:ext cx="5394960" cy="2651760"/>
          </a:xfrm>
          <a:prstGeom prst="roundRect">
            <a:avLst>
              <a:gd name="adj" fmla="val 3448"/>
            </a:avLst>
          </a:prstGeom>
          <a:solidFill>
            <a:schemeClr val="bg2"/>
          </a:solidFill>
          <a:ln w="12700">
            <a:solidFill>
              <a:schemeClr val="accent5"/>
            </a:solidFill>
            <a:prstDash val="solid"/>
          </a:ln>
        </p:spPr>
      </p:sp>
      <p:sp>
        <p:nvSpPr>
          <p:cNvPr id="8" name="hurt"/>
          <p:cNvSpPr txBox="1"/>
          <p:nvPr/>
        </p:nvSpPr>
        <p:spPr>
          <a:xfrm>
            <a:off x="6446520" y="1920240"/>
            <a:ext cx="4937760" cy="2286000"/>
          </a:xfrm>
          <a:prstGeom prst="rect">
            <a:avLst/>
          </a:prstGeom>
          <a:noFill/>
          <a:ln/>
        </p:spPr>
        <p:txBody>
          <a:bodyPr wrap="square" lIns="0" tIns="0" rIns="0" bIns="0" rtlCol="0" anchor="t"/>
          <a:lstStyle/>
          <a:p>
            <a:pPr indent="0" marL="0">
              <a:spcAft>
                <a:spcPts val="600"/>
              </a:spcAft>
              <a:buNone/>
            </a:pPr>
            <a:r>
              <a:rPr lang="en-US" sz="1800" b="1" dirty="0">
                <a:solidFill>
                  <a:schemeClr val="accent1"/>
                </a:solidFill>
              </a:rPr>
              <a:t>What still hurt</a:t>
            </a:r>
            <a:endParaRPr lang="en-US" sz="1800" dirty="0"/>
          </a:p>
          <a:p>
            <a:pPr indent="0" marL="0">
              <a:spcAft>
                <a:spcPts val="600"/>
              </a:spcAft>
              <a:buNone/>
            </a:pPr>
            <a:r>
              <a:rPr lang="en-US" sz="1500" dirty="0">
                <a:solidFill>
                  <a:schemeClr val="tx2"/>
                </a:solidFill>
              </a:rPr>
              <a:t>The service stores every caller’s secret</a:t>
            </a:r>
            <a:endParaRPr lang="en-US" sz="1800" dirty="0"/>
          </a:p>
          <a:p>
            <a:pPr indent="0" marL="0">
              <a:spcAft>
                <a:spcPts val="600"/>
              </a:spcAft>
              <a:buNone/>
            </a:pPr>
            <a:r>
              <a:rPr lang="en-US" sz="1500" dirty="0">
                <a:solidFill>
                  <a:schemeClr val="tx2"/>
                </a:solidFill>
              </a:rPr>
              <a:t>A copied key is that identity, with no expiry</a:t>
            </a:r>
            <a:endParaRPr lang="en-US" sz="1800" dirty="0"/>
          </a:p>
          <a:p>
            <a:pPr indent="0" marL="0">
              <a:spcAft>
                <a:spcPts val="600"/>
              </a:spcAft>
              <a:buNone/>
            </a:pPr>
            <a:r>
              <a:rPr lang="en-US" sz="1500" dirty="0">
                <a:solidFill>
                  <a:schemeClr val="tx2"/>
                </a:solidFill>
              </a:rPr>
              <a:t>Nothing limits what one key can do</a:t>
            </a:r>
            <a:endParaRPr lang="en-US" sz="1800" dirty="0"/>
          </a:p>
          <a:p>
            <a:pPr indent="0" marL="0">
              <a:spcAft>
                <a:spcPts val="600"/>
              </a:spcAft>
              <a:buNone/>
            </a:pPr>
            <a:r>
              <a:rPr lang="en-US" sz="1500" dirty="0">
                <a:solidFill>
                  <a:schemeClr val="tx2"/>
                </a:solidFill>
              </a:rPr>
              <a:t>Changing a key means editing every party</a:t>
            </a:r>
            <a:endParaRPr lang="en-US" sz="1800" dirty="0"/>
          </a:p>
        </p:txBody>
      </p:sp>
      <p:sp>
        <p:nvSpPr>
          <p:cNvPr id="9" name="goal"/>
          <p:cNvSpPr txBox="1"/>
          <p:nvPr/>
        </p:nvSpPr>
        <p:spPr>
          <a:xfrm>
            <a:off x="548640" y="4754880"/>
            <a:ext cx="11064240" cy="731520"/>
          </a:xfrm>
          <a:prstGeom prst="rect">
            <a:avLst/>
          </a:prstGeom>
          <a:noFill/>
          <a:ln/>
        </p:spPr>
        <p:txBody>
          <a:bodyPr wrap="square" lIns="0" tIns="0" rIns="0" bIns="0" rtlCol="0" anchor="t"/>
          <a:lstStyle/>
          <a:p>
            <a:pPr indent="0" marL="0">
              <a:buNone/>
            </a:pPr>
            <a:r>
              <a:rPr lang="en-US" sz="2200" b="1" dirty="0">
                <a:solidFill>
                  <a:schemeClr val="tx1"/>
                </a:solidFill>
              </a:rPr>
              <a:t>Day 05 goal: </a:t>
            </a:r>
            <a:pPr indent="0" marL="0">
              <a:buNone/>
            </a:pPr>
            <a:r>
              <a:rPr lang="en-US" sz="2200" dirty="0">
                <a:solidFill>
                  <a:schemeClr val="tx1"/>
                </a:solidFill>
              </a:rPr>
              <a:t>the service verifies who is calling, without holding anyone’s secret.</a:t>
            </a:r>
            <a:endParaRPr lang="en-US" sz="22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F667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64240" cy="320040"/>
          </a:xfrm>
          <a:prstGeom prst="rect">
            <a:avLst/>
          </a:prstGeom>
          <a:noFill/>
          <a:ln/>
        </p:spPr>
        <p:txBody>
          <a:bodyPr wrap="square" lIns="0" tIns="0" rIns="0" bIns="0" rtlCol="0"/>
          <a:lstStyle/>
          <a:p>
            <a:pPr indent="0" marL="0">
              <a:buNone/>
            </a:pPr>
            <a:r>
              <a:rPr lang="en-US" sz="1400" b="1" dirty="0">
                <a:solidFill>
                  <a:schemeClr val="accent1"/>
                </a:solidFill>
                <a:latin typeface="Courier New" pitchFamily="34" charset="0"/>
                <a:ea typeface="Courier New" pitchFamily="34" charset="-122"/>
                <a:cs typeface="Courier New" pitchFamily="34" charset="-120"/>
              </a:rPr>
              <a:t>THE END STATE</a:t>
            </a:r>
            <a:endParaRPr lang="en-US" sz="1400" dirty="0"/>
          </a:p>
        </p:txBody>
      </p:sp>
      <p:sp>
        <p:nvSpPr>
          <p:cNvPr id="3" name="Text 0"/>
          <p:cNvSpPr/>
          <p:nvPr>
            <p:ph idx="101" type="title" hasCustomPrompt="1"/>
          </p:nvPr>
        </p:nvSpPr>
        <p:spPr>
          <a:xfrm>
            <a:off x="548640" y="731520"/>
            <a:ext cx="11064240" cy="731520"/>
          </a:xfrm>
          <a:prstGeom prst="rect">
            <a:avLst/>
          </a:prstGeom>
          <a:noFill/>
          <a:ln/>
        </p:spPr>
        <p:txBody>
          <a:bodyPr wrap="square" lIns="0" tIns="0" rIns="0" bIns="0" rtlCol="0" anchor="t"/>
          <a:lstStyle/>
          <a:p>
            <a:pPr indent="0" marL="0">
              <a:buNone/>
            </a:pPr>
            <a:r>
              <a:rPr lang="en-US" sz="3400" b="1" dirty="0">
                <a:solidFill>
                  <a:schemeClr val="tx1"/>
                </a:solidFill>
              </a:rPr>
              <a:t>The architecture we ended with</a:t>
            </a:r>
            <a:endParaRPr lang="en-US" sz="3400" dirty="0"/>
          </a:p>
        </p:txBody>
      </p:sp>
      <p:sp>
        <p:nvSpPr>
          <p:cNvPr id="5" name="agent-1-box"/>
          <p:cNvSpPr/>
          <p:nvPr/>
        </p:nvSpPr>
        <p:spPr>
          <a:xfrm>
            <a:off x="548640" y="1737360"/>
            <a:ext cx="2560320" cy="1325880"/>
          </a:xfrm>
          <a:prstGeom prst="roundRect">
            <a:avLst>
              <a:gd name="adj" fmla="val 6897"/>
            </a:avLst>
          </a:prstGeom>
          <a:solidFill>
            <a:schemeClr val="bg1"/>
          </a:solidFill>
          <a:ln w="12700">
            <a:solidFill>
              <a:schemeClr val="tx1"/>
            </a:solidFill>
            <a:prstDash val="solid"/>
          </a:ln>
        </p:spPr>
      </p:sp>
      <p:sp>
        <p:nvSpPr>
          <p:cNvPr id="6" name="agent-1"/>
          <p:cNvSpPr txBox="1"/>
          <p:nvPr/>
        </p:nvSpPr>
        <p:spPr>
          <a:xfrm>
            <a:off x="777240" y="1920240"/>
            <a:ext cx="2103120" cy="960120"/>
          </a:xfrm>
          <a:prstGeom prst="rect">
            <a:avLst/>
          </a:prstGeom>
          <a:noFill/>
          <a:ln/>
        </p:spPr>
        <p:txBody>
          <a:bodyPr wrap="square" lIns="0" tIns="0" rIns="0" bIns="0" rtlCol="0" anchor="t"/>
          <a:lstStyle/>
          <a:p>
            <a:pPr indent="0" marL="0">
              <a:spcAft>
                <a:spcPts val="600"/>
              </a:spcAft>
              <a:buNone/>
            </a:pPr>
            <a:r>
              <a:rPr lang="en-US" sz="1800" b="1" dirty="0">
                <a:solidFill>
                  <a:schemeClr val="tx1"/>
                </a:solidFill>
              </a:rPr>
              <a:t>Inventory Agent</a:t>
            </a:r>
            <a:endParaRPr lang="en-US" sz="1800" dirty="0"/>
          </a:p>
          <a:p>
            <a:pPr indent="0" marL="0">
              <a:spcAft>
                <a:spcPts val="600"/>
              </a:spcAft>
              <a:buNone/>
            </a:pPr>
            <a:r>
              <a:rPr lang="en-US" sz="1500" dirty="0">
                <a:solidFill>
                  <a:schemeClr val="tx2"/>
                </a:solidFill>
              </a:rPr>
              <a:t>ADK + get_stock(sku)</a:t>
            </a:r>
            <a:endParaRPr lang="en-US" sz="1800" dirty="0"/>
          </a:p>
        </p:txBody>
      </p:sp>
      <p:sp>
        <p:nvSpPr>
          <p:cNvPr id="7" name="step1"/>
          <p:cNvSpPr txBox="1"/>
          <p:nvPr/>
        </p:nvSpPr>
        <p:spPr>
          <a:xfrm>
            <a:off x="3291840" y="1737360"/>
            <a:ext cx="2194560" cy="365760"/>
          </a:xfrm>
          <a:prstGeom prst="rect">
            <a:avLst/>
          </a:prstGeom>
          <a:noFill/>
          <a:ln/>
        </p:spPr>
        <p:txBody>
          <a:bodyPr wrap="square" lIns="0" tIns="0" rIns="0" bIns="0" rtlCol="0" anchor="t"/>
          <a:lstStyle/>
          <a:p>
            <a:pPr indent="0" marL="0">
              <a:buNone/>
            </a:pPr>
            <a:r>
              <a:rPr lang="en-US" sz="1500" b="1" dirty="0">
                <a:solidFill>
                  <a:schemeClr val="accent1"/>
                </a:solidFill>
              </a:rPr>
              <a:t>① token request</a:t>
            </a:r>
            <a:endParaRPr lang="en-US" sz="1500" dirty="0"/>
          </a:p>
        </p:txBody>
      </p:sp>
      <p:sp>
        <p:nvSpPr>
          <p:cNvPr id="8" name="arrow-1"/>
          <p:cNvSpPr/>
          <p:nvPr/>
        </p:nvSpPr>
        <p:spPr>
          <a:xfrm>
            <a:off x="3886200" y="2148840"/>
            <a:ext cx="914400" cy="384048"/>
          </a:xfrm>
          <a:prstGeom prst="rightArrow">
            <a:avLst/>
          </a:prstGeom>
          <a:solidFill>
            <a:schemeClr val="accent1"/>
          </a:solidFill>
          <a:ln w="12700">
            <a:solidFill>
              <a:schemeClr val="accent1"/>
            </a:solidFill>
            <a:prstDash val="solid"/>
          </a:ln>
        </p:spPr>
      </p:sp>
      <p:sp>
        <p:nvSpPr>
          <p:cNvPr id="9" name="step1-what"/>
          <p:cNvSpPr txBox="1"/>
          <p:nvPr/>
        </p:nvSpPr>
        <p:spPr>
          <a:xfrm>
            <a:off x="3291840" y="2606040"/>
            <a:ext cx="2194560" cy="548640"/>
          </a:xfrm>
          <a:prstGeom prst="rect">
            <a:avLst/>
          </a:prstGeom>
          <a:noFill/>
          <a:ln/>
        </p:spPr>
        <p:txBody>
          <a:bodyPr wrap="square" lIns="0" tIns="0" rIns="0" bIns="0" rtlCol="0" anchor="t"/>
          <a:lstStyle/>
          <a:p>
            <a:pPr indent="0" marL="0">
              <a:buNone/>
            </a:pPr>
            <a:r>
              <a:rPr lang="en-US" sz="1400" dirty="0">
                <a:solidFill>
                  <a:schemeClr val="tx2"/>
                </a:solidFill>
              </a:rPr>
              <a:t>client id + secret + scope</a:t>
            </a:r>
            <a:endParaRPr lang="en-US" sz="1400" dirty="0"/>
          </a:p>
        </p:txBody>
      </p:sp>
      <p:sp>
        <p:nvSpPr>
          <p:cNvPr id="10" name="issuer-box"/>
          <p:cNvSpPr/>
          <p:nvPr/>
        </p:nvSpPr>
        <p:spPr>
          <a:xfrm>
            <a:off x="5669280" y="1737360"/>
            <a:ext cx="5943600" cy="1325880"/>
          </a:xfrm>
          <a:prstGeom prst="roundRect">
            <a:avLst>
              <a:gd name="adj" fmla="val 6897"/>
            </a:avLst>
          </a:prstGeom>
          <a:solidFill>
            <a:schemeClr val="bg1"/>
          </a:solidFill>
          <a:ln w="12700">
            <a:solidFill>
              <a:schemeClr val="tx1"/>
            </a:solidFill>
            <a:prstDash val="solid"/>
          </a:ln>
        </p:spPr>
      </p:sp>
      <p:sp>
        <p:nvSpPr>
          <p:cNvPr id="11" name="issuer"/>
          <p:cNvSpPr txBox="1"/>
          <p:nvPr/>
        </p:nvSpPr>
        <p:spPr>
          <a:xfrm>
            <a:off x="5897880" y="1920240"/>
            <a:ext cx="5486400" cy="960120"/>
          </a:xfrm>
          <a:prstGeom prst="rect">
            <a:avLst/>
          </a:prstGeom>
          <a:noFill/>
          <a:ln/>
        </p:spPr>
        <p:txBody>
          <a:bodyPr wrap="square" lIns="0" tIns="0" rIns="0" bIns="0" rtlCol="0" anchor="t"/>
          <a:lstStyle/>
          <a:p>
            <a:pPr indent="0" marL="0">
              <a:spcAft>
                <a:spcPts val="600"/>
              </a:spcAft>
              <a:buNone/>
            </a:pPr>
            <a:r>
              <a:rPr lang="en-US" sz="1800" b="1" dirty="0">
                <a:solidFill>
                  <a:schemeClr val="tx1"/>
                </a:solidFill>
              </a:rPr>
              <a:t>Token Issuer :8001</a:t>
            </a:r>
            <a:endParaRPr lang="en-US" sz="1800" dirty="0"/>
          </a:p>
          <a:p>
            <a:pPr indent="0" marL="0">
              <a:spcAft>
                <a:spcPts val="600"/>
              </a:spcAft>
              <a:buNone/>
            </a:pPr>
            <a:r>
              <a:rPr lang="en-US" sz="1500" dirty="0">
                <a:solidFill>
                  <a:schemeClr val="tx2"/>
                </a:solidFill>
              </a:rPr>
              <a:t>Holds the private key · decides sub, approves scope, signs RS256 + kid</a:t>
            </a:r>
            <a:endParaRPr lang="en-US" sz="1800" dirty="0"/>
          </a:p>
        </p:txBody>
      </p:sp>
      <p:sp>
        <p:nvSpPr>
          <p:cNvPr id="12" name="agent-2-box"/>
          <p:cNvSpPr/>
          <p:nvPr/>
        </p:nvSpPr>
        <p:spPr>
          <a:xfrm>
            <a:off x="548640" y="3383280"/>
            <a:ext cx="2560320" cy="1325880"/>
          </a:xfrm>
          <a:prstGeom prst="roundRect">
            <a:avLst>
              <a:gd name="adj" fmla="val 6897"/>
            </a:avLst>
          </a:prstGeom>
          <a:solidFill>
            <a:schemeClr val="bg1"/>
          </a:solidFill>
          <a:ln w="12700">
            <a:solidFill>
              <a:schemeClr val="tx1"/>
            </a:solidFill>
            <a:prstDash val="solid"/>
          </a:ln>
        </p:spPr>
      </p:sp>
      <p:sp>
        <p:nvSpPr>
          <p:cNvPr id="13" name="agent-2"/>
          <p:cNvSpPr txBox="1"/>
          <p:nvPr/>
        </p:nvSpPr>
        <p:spPr>
          <a:xfrm>
            <a:off x="777240" y="3566160"/>
            <a:ext cx="2103120" cy="960120"/>
          </a:xfrm>
          <a:prstGeom prst="rect">
            <a:avLst/>
          </a:prstGeom>
          <a:noFill/>
          <a:ln/>
        </p:spPr>
        <p:txBody>
          <a:bodyPr wrap="square" lIns="0" tIns="0" rIns="0" bIns="0" rtlCol="0" anchor="t"/>
          <a:lstStyle/>
          <a:p>
            <a:pPr indent="0" marL="0">
              <a:spcAft>
                <a:spcPts val="600"/>
              </a:spcAft>
              <a:buNone/>
            </a:pPr>
            <a:r>
              <a:rPr lang="en-US" sz="1800" b="1" dirty="0">
                <a:solidFill>
                  <a:schemeClr val="tx1"/>
                </a:solidFill>
              </a:rPr>
              <a:t>Inventory Agent</a:t>
            </a:r>
            <a:endParaRPr lang="en-US" sz="1800" dirty="0"/>
          </a:p>
          <a:p>
            <a:pPr indent="0" marL="0">
              <a:spcAft>
                <a:spcPts val="600"/>
              </a:spcAft>
              <a:buNone/>
            </a:pPr>
            <a:r>
              <a:rPr lang="en-US" sz="1500" dirty="0">
                <a:solidFill>
                  <a:schemeClr val="tx2"/>
                </a:solidFill>
              </a:rPr>
              <a:t>caches the JWT per scope</a:t>
            </a:r>
            <a:endParaRPr lang="en-US" sz="1800" dirty="0"/>
          </a:p>
        </p:txBody>
      </p:sp>
      <p:sp>
        <p:nvSpPr>
          <p:cNvPr id="14" name="step2"/>
          <p:cNvSpPr txBox="1"/>
          <p:nvPr/>
        </p:nvSpPr>
        <p:spPr>
          <a:xfrm>
            <a:off x="3291840" y="3383280"/>
            <a:ext cx="2194560" cy="365760"/>
          </a:xfrm>
          <a:prstGeom prst="rect">
            <a:avLst/>
          </a:prstGeom>
          <a:noFill/>
          <a:ln/>
        </p:spPr>
        <p:txBody>
          <a:bodyPr wrap="square" lIns="0" tIns="0" rIns="0" bIns="0" rtlCol="0" anchor="t"/>
          <a:lstStyle/>
          <a:p>
            <a:pPr indent="0" marL="0">
              <a:buNone/>
            </a:pPr>
            <a:r>
              <a:rPr lang="en-US" sz="1500" b="1" dirty="0">
                <a:solidFill>
                  <a:schemeClr val="accent2"/>
                </a:solidFill>
              </a:rPr>
              <a:t>② inventory call</a:t>
            </a:r>
            <a:endParaRPr lang="en-US" sz="1500" dirty="0"/>
          </a:p>
        </p:txBody>
      </p:sp>
      <p:sp>
        <p:nvSpPr>
          <p:cNvPr id="15" name="arrow-2"/>
          <p:cNvSpPr/>
          <p:nvPr/>
        </p:nvSpPr>
        <p:spPr>
          <a:xfrm>
            <a:off x="3886200" y="3794760"/>
            <a:ext cx="914400" cy="384048"/>
          </a:xfrm>
          <a:prstGeom prst="rightArrow">
            <a:avLst/>
          </a:prstGeom>
          <a:solidFill>
            <a:schemeClr val="accent2"/>
          </a:solidFill>
          <a:ln w="12700">
            <a:solidFill>
              <a:schemeClr val="accent2"/>
            </a:solidFill>
            <a:prstDash val="solid"/>
          </a:ln>
        </p:spPr>
      </p:sp>
      <p:sp>
        <p:nvSpPr>
          <p:cNvPr id="16" name="step2-what"/>
          <p:cNvSpPr txBox="1"/>
          <p:nvPr/>
        </p:nvSpPr>
        <p:spPr>
          <a:xfrm>
            <a:off x="3291840" y="4251960"/>
            <a:ext cx="2194560" cy="548640"/>
          </a:xfrm>
          <a:prstGeom prst="rect">
            <a:avLst/>
          </a:prstGeom>
          <a:noFill/>
          <a:ln/>
        </p:spPr>
        <p:txBody>
          <a:bodyPr wrap="square" lIns="0" tIns="0" rIns="0" bIns="0" rtlCol="0" anchor="t"/>
          <a:lstStyle/>
          <a:p>
            <a:pPr indent="0" marL="0">
              <a:buNone/>
            </a:pPr>
            <a:r>
              <a:rPr lang="en-US" sz="1400" dirty="0">
                <a:solidFill>
                  <a:schemeClr val="tx2"/>
                </a:solidFill>
              </a:rPr>
              <a:t>Authorization: Bearer &lt;jwt&gt;</a:t>
            </a:r>
            <a:endParaRPr lang="en-US" sz="1400" dirty="0"/>
          </a:p>
        </p:txBody>
      </p:sp>
      <p:sp>
        <p:nvSpPr>
          <p:cNvPr id="17" name="service-box"/>
          <p:cNvSpPr/>
          <p:nvPr/>
        </p:nvSpPr>
        <p:spPr>
          <a:xfrm>
            <a:off x="5669280" y="3383280"/>
            <a:ext cx="3931920" cy="1325880"/>
          </a:xfrm>
          <a:prstGeom prst="roundRect">
            <a:avLst>
              <a:gd name="adj" fmla="val 6897"/>
            </a:avLst>
          </a:prstGeom>
          <a:solidFill>
            <a:schemeClr val="bg1"/>
          </a:solidFill>
          <a:ln w="12700">
            <a:solidFill>
              <a:schemeClr val="tx1"/>
            </a:solidFill>
            <a:prstDash val="solid"/>
          </a:ln>
        </p:spPr>
      </p:sp>
      <p:sp>
        <p:nvSpPr>
          <p:cNvPr id="18" name="service"/>
          <p:cNvSpPr txBox="1"/>
          <p:nvPr/>
        </p:nvSpPr>
        <p:spPr>
          <a:xfrm>
            <a:off x="5897880" y="3566160"/>
            <a:ext cx="3474720" cy="960120"/>
          </a:xfrm>
          <a:prstGeom prst="rect">
            <a:avLst/>
          </a:prstGeom>
          <a:noFill/>
          <a:ln/>
        </p:spPr>
        <p:txBody>
          <a:bodyPr wrap="square" lIns="0" tIns="0" rIns="0" bIns="0" rtlCol="0" anchor="t"/>
          <a:lstStyle/>
          <a:p>
            <a:pPr indent="0" marL="0">
              <a:spcAft>
                <a:spcPts val="600"/>
              </a:spcAft>
              <a:buNone/>
            </a:pPr>
            <a:r>
              <a:rPr lang="en-US" sz="1800" b="1" dirty="0">
                <a:solidFill>
                  <a:schemeClr val="tx1"/>
                </a:solidFill>
              </a:rPr>
              <a:t>Inventory Service :8000</a:t>
            </a:r>
            <a:endParaRPr lang="en-US" sz="1800" dirty="0"/>
          </a:p>
          <a:p>
            <a:pPr indent="0" marL="0">
              <a:spcAft>
                <a:spcPts val="600"/>
              </a:spcAft>
              <a:buNone/>
            </a:pPr>
            <a:r>
              <a:rPr lang="en-US" sz="1500" dirty="0">
                <a:solidFill>
                  <a:schemeClr val="tx2"/>
                </a:solidFill>
              </a:rPr>
              <a:t>Public keys only, by kid · verify → scope → role → class</a:t>
            </a:r>
            <a:endParaRPr lang="en-US" sz="1800" dirty="0"/>
          </a:p>
        </p:txBody>
      </p:sp>
      <p:sp>
        <p:nvSpPr>
          <p:cNvPr id="19" name="arrow-3"/>
          <p:cNvSpPr/>
          <p:nvPr/>
        </p:nvSpPr>
        <p:spPr>
          <a:xfrm>
            <a:off x="9738360" y="3886200"/>
            <a:ext cx="457200" cy="292608"/>
          </a:xfrm>
          <a:prstGeom prst="rightArrow">
            <a:avLst/>
          </a:prstGeom>
          <a:solidFill>
            <a:schemeClr val="tx1"/>
          </a:solidFill>
          <a:ln w="12700">
            <a:solidFill>
              <a:schemeClr val="tx1"/>
            </a:solidFill>
            <a:prstDash val="solid"/>
          </a:ln>
        </p:spPr>
      </p:sp>
      <p:sp>
        <p:nvSpPr>
          <p:cNvPr id="20" name="sqlite-box"/>
          <p:cNvSpPr/>
          <p:nvPr/>
        </p:nvSpPr>
        <p:spPr>
          <a:xfrm>
            <a:off x="10332720" y="3383280"/>
            <a:ext cx="1280160" cy="1325880"/>
          </a:xfrm>
          <a:prstGeom prst="roundRect">
            <a:avLst>
              <a:gd name="adj" fmla="val 7143"/>
            </a:avLst>
          </a:prstGeom>
          <a:solidFill>
            <a:schemeClr val="bg1"/>
          </a:solidFill>
          <a:ln w="12700">
            <a:solidFill>
              <a:schemeClr val="tx1"/>
            </a:solidFill>
            <a:prstDash val="solid"/>
          </a:ln>
        </p:spPr>
      </p:sp>
      <p:sp>
        <p:nvSpPr>
          <p:cNvPr id="21" name="sqlite"/>
          <p:cNvSpPr txBox="1"/>
          <p:nvPr/>
        </p:nvSpPr>
        <p:spPr>
          <a:xfrm>
            <a:off x="10561320" y="3566160"/>
            <a:ext cx="822960" cy="960120"/>
          </a:xfrm>
          <a:prstGeom prst="rect">
            <a:avLst/>
          </a:prstGeom>
          <a:noFill/>
          <a:ln/>
        </p:spPr>
        <p:txBody>
          <a:bodyPr wrap="square" lIns="0" tIns="0" rIns="0" bIns="0" rtlCol="0" anchor="t"/>
          <a:lstStyle/>
          <a:p>
            <a:pPr indent="0" marL="0">
              <a:spcAft>
                <a:spcPts val="600"/>
              </a:spcAft>
              <a:buNone/>
            </a:pPr>
            <a:r>
              <a:rPr lang="en-US" sz="1800" b="1" dirty="0">
                <a:solidFill>
                  <a:schemeClr val="tx1"/>
                </a:solidFill>
              </a:rPr>
              <a:t>SQLite</a:t>
            </a:r>
            <a:endParaRPr lang="en-US" sz="1800" dirty="0"/>
          </a:p>
          <a:p>
            <a:pPr indent="0" marL="0">
              <a:spcAft>
                <a:spcPts val="600"/>
              </a:spcAft>
              <a:buNone/>
            </a:pPr>
            <a:r>
              <a:rPr lang="en-US" sz="1500" dirty="0">
                <a:solidFill>
                  <a:schemeClr val="tx2"/>
                </a:solidFill>
              </a:rPr>
              <a:t>details last</a:t>
            </a:r>
            <a:endParaRPr lang="en-US" sz="1800" dirty="0"/>
          </a:p>
        </p:txBody>
      </p:sp>
      <p:sp>
        <p:nvSpPr>
          <p:cNvPr id="22" name="arch-note"/>
          <p:cNvSpPr txBox="1"/>
          <p:nvPr/>
        </p:nvSpPr>
        <p:spPr>
          <a:xfrm>
            <a:off x="548640" y="5029200"/>
            <a:ext cx="11064240" cy="822960"/>
          </a:xfrm>
          <a:prstGeom prst="rect">
            <a:avLst/>
          </a:prstGeom>
          <a:noFill/>
          <a:ln/>
        </p:spPr>
        <p:txBody>
          <a:bodyPr wrap="square" lIns="0" tIns="0" rIns="0" bIns="0" rtlCol="0" anchor="t"/>
          <a:lstStyle/>
          <a:p>
            <a:pPr indent="0" marL="0">
              <a:buNone/>
            </a:pPr>
            <a:r>
              <a:rPr lang="en-US" sz="1800" dirty="0">
                <a:solidFill>
                  <a:schemeClr val="tx2"/>
                </a:solidFill>
              </a:rPr>
              <a:t>The agent gets a signed JWT in step ① and presents it in step ②. The model only ever passes a SKU.</a:t>
            </a:r>
            <a:endParaRPr lang="en-US" sz="18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F667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64240" cy="320040"/>
          </a:xfrm>
          <a:prstGeom prst="rect">
            <a:avLst/>
          </a:prstGeom>
          <a:noFill/>
          <a:ln/>
        </p:spPr>
        <p:txBody>
          <a:bodyPr wrap="square" lIns="0" tIns="0" rIns="0" bIns="0" rtlCol="0"/>
          <a:lstStyle/>
          <a:p>
            <a:pPr indent="0" marL="0">
              <a:buNone/>
            </a:pPr>
            <a:r>
              <a:rPr lang="en-US" sz="1400" b="1" dirty="0">
                <a:solidFill>
                  <a:schemeClr val="accent1"/>
                </a:solidFill>
                <a:latin typeface="Courier New" pitchFamily="34" charset="0"/>
                <a:ea typeface="Courier New" pitchFamily="34" charset="-122"/>
                <a:cs typeface="Courier New" pitchFamily="34" charset="-120"/>
              </a:rPr>
              <a:t>05.1 · JWT MECHANICS</a:t>
            </a:r>
            <a:endParaRPr lang="en-US" sz="1400" dirty="0"/>
          </a:p>
        </p:txBody>
      </p:sp>
      <p:sp>
        <p:nvSpPr>
          <p:cNvPr id="3" name="Text 0"/>
          <p:cNvSpPr/>
          <p:nvPr>
            <p:ph idx="101" type="title" hasCustomPrompt="1"/>
          </p:nvPr>
        </p:nvSpPr>
        <p:spPr>
          <a:xfrm>
            <a:off x="548640" y="731520"/>
            <a:ext cx="11064240" cy="731520"/>
          </a:xfrm>
          <a:prstGeom prst="rect">
            <a:avLst/>
          </a:prstGeom>
          <a:noFill/>
          <a:ln/>
        </p:spPr>
        <p:txBody>
          <a:bodyPr wrap="square" lIns="0" tIns="0" rIns="0" bIns="0" rtlCol="0" anchor="t"/>
          <a:lstStyle/>
          <a:p>
            <a:pPr indent="0" marL="0">
              <a:buNone/>
            </a:pPr>
            <a:r>
              <a:rPr lang="en-US" sz="3400" b="1" dirty="0">
                <a:solidFill>
                  <a:schemeClr val="tx1"/>
                </a:solidFill>
              </a:rPr>
              <a:t>A JWT is signed, not secret</a:t>
            </a:r>
            <a:endParaRPr lang="en-US" sz="3400" dirty="0"/>
          </a:p>
        </p:txBody>
      </p:sp>
      <p:sp>
        <p:nvSpPr>
          <p:cNvPr id="5" name="token-panel"/>
          <p:cNvSpPr/>
          <p:nvPr/>
        </p:nvSpPr>
        <p:spPr>
          <a:xfrm>
            <a:off x="548640" y="1691640"/>
            <a:ext cx="11064240" cy="1417320"/>
          </a:xfrm>
          <a:prstGeom prst="roundRect">
            <a:avLst>
              <a:gd name="adj" fmla="val 6452"/>
            </a:avLst>
          </a:prstGeom>
          <a:solidFill>
            <a:schemeClr val="tx1"/>
          </a:solidFill>
          <a:ln w="12700">
            <a:solidFill>
              <a:schemeClr val="tx1"/>
            </a:solidFill>
            <a:prstDash val="solid"/>
          </a:ln>
        </p:spPr>
      </p:sp>
      <p:sp>
        <p:nvSpPr>
          <p:cNvPr id="6" name="token"/>
          <p:cNvSpPr txBox="1"/>
          <p:nvPr/>
        </p:nvSpPr>
        <p:spPr>
          <a:xfrm>
            <a:off x="868680" y="1828800"/>
            <a:ext cx="10424160" cy="502920"/>
          </a:xfrm>
          <a:prstGeom prst="rect">
            <a:avLst/>
          </a:prstGeom>
          <a:noFill/>
          <a:ln/>
        </p:spPr>
        <p:txBody>
          <a:bodyPr wrap="square" lIns="0" tIns="0" rIns="0" bIns="0" rtlCol="0" anchor="ctr"/>
          <a:lstStyle/>
          <a:p>
            <a:pPr indent="0" marL="0">
              <a:buNone/>
            </a:pPr>
            <a:r>
              <a:rPr lang="en-US" sz="2200" dirty="0">
                <a:solidFill>
                  <a:schemeClr val="accent3"/>
                </a:solidFill>
                <a:latin typeface="Courier New" pitchFamily="34" charset="0"/>
                <a:ea typeface="Courier New" pitchFamily="34" charset="-122"/>
                <a:cs typeface="Courier New" pitchFamily="34" charset="-120"/>
              </a:rPr>
              <a:t>eyJhbGciOiJSUzI1NiIs…</a:t>
            </a:r>
            <a:pPr indent="0" marL="0">
              <a:buNone/>
            </a:pPr>
            <a:r>
              <a:rPr lang="en-US" sz="2200" dirty="0">
                <a:solidFill>
                  <a:srgbClr val="C9D3E3"/>
                </a:solidFill>
                <a:latin typeface="Courier New" pitchFamily="34" charset="0"/>
                <a:ea typeface="Courier New" pitchFamily="34" charset="-122"/>
                <a:cs typeface="Courier New" pitchFamily="34" charset="-120"/>
              </a:rPr>
              <a:t>.</a:t>
            </a:r>
            <a:pPr indent="0" marL="0">
              <a:buNone/>
            </a:pPr>
            <a:r>
              <a:rPr lang="en-US" sz="2200" dirty="0">
                <a:solidFill>
                  <a:schemeClr val="accent4"/>
                </a:solidFill>
                <a:latin typeface="Courier New" pitchFamily="34" charset="0"/>
                <a:ea typeface="Courier New" pitchFamily="34" charset="-122"/>
                <a:cs typeface="Courier New" pitchFamily="34" charset="-120"/>
              </a:rPr>
              <a:t>eyJpc3MiOiJhMmEtbG9j…</a:t>
            </a:r>
            <a:pPr indent="0" marL="0">
              <a:buNone/>
            </a:pPr>
            <a:r>
              <a:rPr lang="en-US" sz="2200" dirty="0">
                <a:solidFill>
                  <a:srgbClr val="C9D3E3"/>
                </a:solidFill>
                <a:latin typeface="Courier New" pitchFamily="34" charset="0"/>
                <a:ea typeface="Courier New" pitchFamily="34" charset="-122"/>
                <a:cs typeface="Courier New" pitchFamily="34" charset="-120"/>
              </a:rPr>
              <a:t>.</a:t>
            </a:r>
            <a:pPr indent="0" marL="0">
              <a:buNone/>
            </a:pPr>
            <a:r>
              <a:rPr lang="en-US" sz="2200" dirty="0">
                <a:solidFill>
                  <a:srgbClr val="E9E3D3"/>
                </a:solidFill>
                <a:latin typeface="Courier New" pitchFamily="34" charset="0"/>
                <a:ea typeface="Courier New" pitchFamily="34" charset="-122"/>
                <a:cs typeface="Courier New" pitchFamily="34" charset="-120"/>
              </a:rPr>
              <a:t>oyFQfh5jLz4Ibgh9…</a:t>
            </a:r>
            <a:endParaRPr lang="en-US" sz="2200" dirty="0"/>
          </a:p>
        </p:txBody>
      </p:sp>
      <p:sp>
        <p:nvSpPr>
          <p:cNvPr id="7" name="token-part-0"/>
          <p:cNvSpPr txBox="1"/>
          <p:nvPr/>
        </p:nvSpPr>
        <p:spPr>
          <a:xfrm>
            <a:off x="868680" y="2514600"/>
            <a:ext cx="2926080" cy="457200"/>
          </a:xfrm>
          <a:prstGeom prst="rect">
            <a:avLst/>
          </a:prstGeom>
          <a:noFill/>
          <a:ln/>
        </p:spPr>
        <p:txBody>
          <a:bodyPr wrap="square" lIns="0" tIns="0" rIns="0" bIns="0" rtlCol="0" anchor="t"/>
          <a:lstStyle/>
          <a:p>
            <a:pPr indent="0" marL="0">
              <a:buNone/>
            </a:pPr>
            <a:r>
              <a:rPr lang="en-US" sz="1500" dirty="0">
                <a:solidFill>
                  <a:schemeClr val="accent3"/>
                </a:solidFill>
              </a:rPr>
              <a:t>header: alg, typ, kid</a:t>
            </a:r>
            <a:endParaRPr lang="en-US" sz="1500" dirty="0"/>
          </a:p>
        </p:txBody>
      </p:sp>
      <p:sp>
        <p:nvSpPr>
          <p:cNvPr id="8" name="token-part-1"/>
          <p:cNvSpPr txBox="1"/>
          <p:nvPr/>
        </p:nvSpPr>
        <p:spPr>
          <a:xfrm>
            <a:off x="3977640" y="2514600"/>
            <a:ext cx="4206240" cy="457200"/>
          </a:xfrm>
          <a:prstGeom prst="rect">
            <a:avLst/>
          </a:prstGeom>
          <a:noFill/>
          <a:ln/>
        </p:spPr>
        <p:txBody>
          <a:bodyPr wrap="square" lIns="0" tIns="0" rIns="0" bIns="0" rtlCol="0" anchor="t"/>
          <a:lstStyle/>
          <a:p>
            <a:pPr indent="0" marL="0">
              <a:buNone/>
            </a:pPr>
            <a:r>
              <a:rPr lang="en-US" sz="1500" dirty="0">
                <a:solidFill>
                  <a:schemeClr val="accent4"/>
                </a:solidFill>
              </a:rPr>
              <a:t>payload: iss · sub · aud · iat · exp</a:t>
            </a:r>
            <a:endParaRPr lang="en-US" sz="1500" dirty="0"/>
          </a:p>
        </p:txBody>
      </p:sp>
      <p:sp>
        <p:nvSpPr>
          <p:cNvPr id="9" name="token-part-2"/>
          <p:cNvSpPr txBox="1"/>
          <p:nvPr/>
        </p:nvSpPr>
        <p:spPr>
          <a:xfrm>
            <a:off x="8412480" y="2514600"/>
            <a:ext cx="2926080" cy="457200"/>
          </a:xfrm>
          <a:prstGeom prst="rect">
            <a:avLst/>
          </a:prstGeom>
          <a:noFill/>
          <a:ln/>
        </p:spPr>
        <p:txBody>
          <a:bodyPr wrap="square" lIns="0" tIns="0" rIns="0" bIns="0" rtlCol="0" anchor="t"/>
          <a:lstStyle/>
          <a:p>
            <a:pPr indent="0" marL="0">
              <a:buNone/>
            </a:pPr>
            <a:r>
              <a:rPr lang="en-US" sz="1500" dirty="0">
                <a:solidFill>
                  <a:srgbClr val="E9E3D3"/>
                </a:solidFill>
              </a:rPr>
              <a:t>signature over both</a:t>
            </a:r>
            <a:endParaRPr lang="en-US" sz="1500" dirty="0"/>
          </a:p>
        </p:txBody>
      </p:sp>
      <p:sp>
        <p:nvSpPr>
          <p:cNvPr id="10" name="readable-box"/>
          <p:cNvSpPr/>
          <p:nvPr/>
        </p:nvSpPr>
        <p:spPr>
          <a:xfrm>
            <a:off x="548640" y="3383280"/>
            <a:ext cx="3520440" cy="1325880"/>
          </a:xfrm>
          <a:prstGeom prst="roundRect">
            <a:avLst>
              <a:gd name="adj" fmla="val 6897"/>
            </a:avLst>
          </a:prstGeom>
          <a:solidFill>
            <a:schemeClr val="bg2"/>
          </a:solidFill>
          <a:ln w="12700">
            <a:solidFill>
              <a:schemeClr val="accent5"/>
            </a:solidFill>
            <a:prstDash val="solid"/>
          </a:ln>
        </p:spPr>
      </p:sp>
      <p:sp>
        <p:nvSpPr>
          <p:cNvPr id="11" name="readable"/>
          <p:cNvSpPr txBox="1"/>
          <p:nvPr/>
        </p:nvSpPr>
        <p:spPr>
          <a:xfrm>
            <a:off x="777240" y="3566160"/>
            <a:ext cx="3063240" cy="960120"/>
          </a:xfrm>
          <a:prstGeom prst="rect">
            <a:avLst/>
          </a:prstGeom>
          <a:noFill/>
          <a:ln/>
        </p:spPr>
        <p:txBody>
          <a:bodyPr wrap="square" lIns="0" tIns="0" rIns="0" bIns="0" rtlCol="0" anchor="t"/>
          <a:lstStyle/>
          <a:p>
            <a:pPr indent="0" marL="0">
              <a:spcAft>
                <a:spcPts val="600"/>
              </a:spcAft>
              <a:buNone/>
            </a:pPr>
            <a:r>
              <a:rPr lang="en-US" sz="1800" b="1" dirty="0">
                <a:solidFill>
                  <a:schemeClr val="tx1"/>
                </a:solidFill>
              </a:rPr>
              <a:t>Readable by anyone</a:t>
            </a:r>
            <a:endParaRPr lang="en-US" sz="1800" dirty="0"/>
          </a:p>
          <a:p>
            <a:pPr indent="0" marL="0">
              <a:spcAft>
                <a:spcPts val="600"/>
              </a:spcAft>
              <a:buNone/>
            </a:pPr>
            <a:r>
              <a:rPr lang="en-US" sz="1500" dirty="0">
                <a:solidFill>
                  <a:schemeClr val="tx2"/>
                </a:solidFill>
              </a:rPr>
              <a:t>Base64URL decodes. Never put secrets in claims.</a:t>
            </a:r>
            <a:endParaRPr lang="en-US" sz="1800" dirty="0"/>
          </a:p>
        </p:txBody>
      </p:sp>
      <p:sp>
        <p:nvSpPr>
          <p:cNvPr id="12" name="detected-box"/>
          <p:cNvSpPr/>
          <p:nvPr/>
        </p:nvSpPr>
        <p:spPr>
          <a:xfrm>
            <a:off x="4320540" y="3383280"/>
            <a:ext cx="3520440" cy="1325880"/>
          </a:xfrm>
          <a:prstGeom prst="roundRect">
            <a:avLst>
              <a:gd name="adj" fmla="val 6897"/>
            </a:avLst>
          </a:prstGeom>
          <a:solidFill>
            <a:schemeClr val="bg2"/>
          </a:solidFill>
          <a:ln w="12700">
            <a:solidFill>
              <a:schemeClr val="accent5"/>
            </a:solidFill>
            <a:prstDash val="solid"/>
          </a:ln>
        </p:spPr>
      </p:sp>
      <p:sp>
        <p:nvSpPr>
          <p:cNvPr id="13" name="detected"/>
          <p:cNvSpPr txBox="1"/>
          <p:nvPr/>
        </p:nvSpPr>
        <p:spPr>
          <a:xfrm>
            <a:off x="4549140" y="3566160"/>
            <a:ext cx="3063240" cy="960120"/>
          </a:xfrm>
          <a:prstGeom prst="rect">
            <a:avLst/>
          </a:prstGeom>
          <a:noFill/>
          <a:ln/>
        </p:spPr>
        <p:txBody>
          <a:bodyPr wrap="square" lIns="0" tIns="0" rIns="0" bIns="0" rtlCol="0" anchor="t"/>
          <a:lstStyle/>
          <a:p>
            <a:pPr indent="0" marL="0">
              <a:spcAft>
                <a:spcPts val="600"/>
              </a:spcAft>
              <a:buNone/>
            </a:pPr>
            <a:r>
              <a:rPr lang="en-US" sz="1800" b="1" dirty="0">
                <a:solidFill>
                  <a:schemeClr val="tx1"/>
                </a:solidFill>
              </a:rPr>
              <a:t>Edits are detected</a:t>
            </a:r>
            <a:endParaRPr lang="en-US" sz="1800" dirty="0"/>
          </a:p>
          <a:p>
            <a:pPr indent="0" marL="0">
              <a:spcAft>
                <a:spcPts val="600"/>
              </a:spcAft>
              <a:buNone/>
            </a:pPr>
            <a:r>
              <a:rPr lang="en-US" sz="1500" dirty="0">
                <a:solidFill>
                  <a:schemeClr val="tx2"/>
                </a:solidFill>
              </a:rPr>
              <a:t>Change sub to admin-agent and the signature fails.</a:t>
            </a:r>
            <a:endParaRPr lang="en-US" sz="1800" dirty="0"/>
          </a:p>
        </p:txBody>
      </p:sp>
      <p:sp>
        <p:nvSpPr>
          <p:cNvPr id="14" name="pinned-box"/>
          <p:cNvSpPr/>
          <p:nvPr/>
        </p:nvSpPr>
        <p:spPr>
          <a:xfrm>
            <a:off x="8092440" y="3383280"/>
            <a:ext cx="3520440" cy="1325880"/>
          </a:xfrm>
          <a:prstGeom prst="roundRect">
            <a:avLst>
              <a:gd name="adj" fmla="val 6897"/>
            </a:avLst>
          </a:prstGeom>
          <a:solidFill>
            <a:schemeClr val="bg2"/>
          </a:solidFill>
          <a:ln w="12700">
            <a:solidFill>
              <a:schemeClr val="accent5"/>
            </a:solidFill>
            <a:prstDash val="solid"/>
          </a:ln>
        </p:spPr>
      </p:sp>
      <p:sp>
        <p:nvSpPr>
          <p:cNvPr id="15" name="pinned"/>
          <p:cNvSpPr txBox="1"/>
          <p:nvPr/>
        </p:nvSpPr>
        <p:spPr>
          <a:xfrm>
            <a:off x="8321040" y="3566160"/>
            <a:ext cx="3063240" cy="960120"/>
          </a:xfrm>
          <a:prstGeom prst="rect">
            <a:avLst/>
          </a:prstGeom>
          <a:noFill/>
          <a:ln/>
        </p:spPr>
        <p:txBody>
          <a:bodyPr wrap="square" lIns="0" tIns="0" rIns="0" bIns="0" rtlCol="0" anchor="t"/>
          <a:lstStyle/>
          <a:p>
            <a:pPr indent="0" marL="0">
              <a:spcAft>
                <a:spcPts val="600"/>
              </a:spcAft>
              <a:buNone/>
            </a:pPr>
            <a:r>
              <a:rPr lang="en-US" sz="1800" b="1" dirty="0">
                <a:solidFill>
                  <a:schemeClr val="tx1"/>
                </a:solidFill>
              </a:rPr>
              <a:t>Algorithm is pinned</a:t>
            </a:r>
            <a:endParaRPr lang="en-US" sz="1800" dirty="0"/>
          </a:p>
          <a:p>
            <a:pPr indent="0" marL="0">
              <a:spcAft>
                <a:spcPts val="600"/>
              </a:spcAft>
              <a:buNone/>
            </a:pPr>
            <a:r>
              <a:rPr lang="en-US" sz="1500" dirty="0">
                <a:solidFill>
                  <a:schemeClr val="tx2"/>
                </a:solidFill>
              </a:rPr>
              <a:t>RS256 only: none, HS256 and RS512 are refused.</a:t>
            </a:r>
            <a:endParaRPr lang="en-US" sz="1800" dirty="0"/>
          </a:p>
        </p:txBody>
      </p:sp>
      <p:sp>
        <p:nvSpPr>
          <p:cNvPr id="16" name="acceptance"/>
          <p:cNvSpPr txBox="1"/>
          <p:nvPr/>
        </p:nvSpPr>
        <p:spPr>
          <a:xfrm>
            <a:off x="548640" y="4983480"/>
            <a:ext cx="11064240" cy="731520"/>
          </a:xfrm>
          <a:prstGeom prst="rect">
            <a:avLst/>
          </a:prstGeom>
          <a:noFill/>
          <a:ln/>
        </p:spPr>
        <p:txBody>
          <a:bodyPr wrap="square" lIns="0" tIns="0" rIns="0" bIns="0" rtlCol="0" anchor="t"/>
          <a:lstStyle/>
          <a:p>
            <a:pPr indent="0" marL="0">
              <a:buNone/>
            </a:pPr>
            <a:r>
              <a:rPr lang="en-US" sz="1700" b="1" dirty="0">
                <a:solidFill>
                  <a:schemeClr val="tx1"/>
                </a:solidFill>
              </a:rPr>
              <a:t>8 acceptance cases. </a:t>
            </a:r>
            <a:pPr indent="0" marL="0">
              <a:buNone/>
            </a:pPr>
            <a:r>
              <a:rPr lang="en-US" sz="1700" dirty="0">
                <a:solidFill>
                  <a:schemeClr val="tx2"/>
                </a:solidFill>
              </a:rPr>
              <a:t>A valid token passes. An edited payload, another key, expiry, wrong iss or aud, a missing claim and a wrong algorithm all fail.</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F667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64240" cy="320040"/>
          </a:xfrm>
          <a:prstGeom prst="rect">
            <a:avLst/>
          </a:prstGeom>
          <a:noFill/>
          <a:ln/>
        </p:spPr>
        <p:txBody>
          <a:bodyPr wrap="square" lIns="0" tIns="0" rIns="0" bIns="0" rtlCol="0"/>
          <a:lstStyle/>
          <a:p>
            <a:pPr indent="0" marL="0">
              <a:buNone/>
            </a:pPr>
            <a:r>
              <a:rPr lang="en-US" sz="1400" b="1" dirty="0">
                <a:solidFill>
                  <a:schemeClr val="accent1"/>
                </a:solidFill>
                <a:latin typeface="Courier New" pitchFamily="34" charset="0"/>
                <a:ea typeface="Courier New" pitchFamily="34" charset="-122"/>
                <a:cs typeface="Courier New" pitchFamily="34" charset="-120"/>
              </a:rPr>
              <a:t>05.2 · SERVICE VERIFICATION</a:t>
            </a:r>
            <a:endParaRPr lang="en-US" sz="1400" dirty="0"/>
          </a:p>
        </p:txBody>
      </p:sp>
      <p:sp>
        <p:nvSpPr>
          <p:cNvPr id="3" name="Text 0"/>
          <p:cNvSpPr/>
          <p:nvPr>
            <p:ph idx="101" type="title" hasCustomPrompt="1"/>
          </p:nvPr>
        </p:nvSpPr>
        <p:spPr>
          <a:xfrm>
            <a:off x="548640" y="731520"/>
            <a:ext cx="11064240" cy="731520"/>
          </a:xfrm>
          <a:prstGeom prst="rect">
            <a:avLst/>
          </a:prstGeom>
          <a:noFill/>
          <a:ln/>
        </p:spPr>
        <p:txBody>
          <a:bodyPr wrap="square" lIns="0" tIns="0" rIns="0" bIns="0" rtlCol="0" anchor="t"/>
          <a:lstStyle/>
          <a:p>
            <a:pPr indent="0" marL="0">
              <a:buNone/>
            </a:pPr>
            <a:r>
              <a:rPr lang="en-US" sz="3400" b="1" dirty="0">
                <a:solidFill>
                  <a:schemeClr val="tx1"/>
                </a:solidFill>
              </a:rPr>
              <a:t>The service checks the token, not a stored key</a:t>
            </a:r>
            <a:endParaRPr lang="en-US" sz="3400" dirty="0"/>
          </a:p>
        </p:txBody>
      </p:sp>
      <p:graphicFrame>
        <p:nvGraphicFramePr>
          <p:cNvPr id="6" name="acceptance-table"/>
          <p:cNvGraphicFramePr>
            <a:graphicFrameLocks noGrp="1"/>
          </p:cNvGraphicFramePr>
          <p:nvPr>
            <p:extLst>
              <p:ext uri="{D42A27DB-BD31-4B8C-83A1-F6EECF244321}">
                <p14:modId xmlns:p14="http://schemas.microsoft.com/office/powerpoint/2010/main" val="1579011935"/>
              </p:ext>
            </p:extLst>
          </p:nvPr>
        </p:nvGraphicFramePr>
        <p:xfrm>
          <a:off x="548640" y="1737360"/>
          <a:ext cx="6309360" cy="914400"/>
        </p:xfrm>
        <a:graphic>
          <a:graphicData uri="http://schemas.openxmlformats.org/drawingml/2006/table">
            <a:tbl>
              <a:tblPr/>
              <a:tblGrid>
                <a:gridCol w="4937760"/>
                <a:gridCol w="1371600"/>
              </a:tblGrid>
              <a:tr h="0">
                <a:tc>
                  <a:txBody>
                    <a:bodyPr/>
                    <a:lstStyle/>
                    <a:p>
                      <a:pPr indent="0" marL="0">
                        <a:buNone/>
                      </a:pPr>
                      <a:r>
                        <a:rPr lang="en-US" sz="1500" b="1" dirty="0">
                          <a:solidFill>
                            <a:schemeClr val="tx1"/>
                          </a:solidFill>
                        </a:rPr>
                        <a:t>Request with Authorization: Bearer …</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EEF1F5"/>
                    </a:solidFill>
                  </a:tcPr>
                </a:tc>
                <a:tc>
                  <a:txBody>
                    <a:bodyPr/>
                    <a:lstStyle/>
                    <a:p>
                      <a:pPr indent="0" marL="0">
                        <a:buNone/>
                      </a:pPr>
                      <a:r>
                        <a:rPr lang="en-US" sz="1500" b="1" dirty="0">
                          <a:solidFill>
                            <a:schemeClr val="tx1"/>
                          </a:solidFill>
                        </a:rPr>
                        <a:t>Result</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EEF1F5"/>
                    </a:solidFill>
                  </a:tcPr>
                </a:tc>
              </a:tr>
              <a:tr h="0">
                <a:tc>
                  <a:txBody>
                    <a:bodyPr/>
                    <a:lstStyle/>
                    <a:p>
                      <a:pPr indent="0" marL="0">
                        <a:buNone/>
                      </a:pPr>
                      <a:r>
                        <a:rPr lang="en-US" sz="1500" dirty="0">
                          <a:solidFill>
                            <a:schemeClr val="tx1"/>
                          </a:solidFill>
                        </a:rPr>
                        <a:t>No Authorization header</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rPr>
                        <a:t>401</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r>
              <a:tr h="0">
                <a:tc>
                  <a:txBody>
                    <a:bodyPr/>
                    <a:lstStyle/>
                    <a:p>
                      <a:pPr indent="0" marL="0">
                        <a:buNone/>
                      </a:pPr>
                      <a:r>
                        <a:rPr lang="en-US" sz="1500" dirty="0">
                          <a:solidFill>
                            <a:schemeClr val="tx1"/>
                          </a:solidFill>
                        </a:rPr>
                        <a:t>Garbage bearer token</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rPr>
                        <a:t>401</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r>
              <a:tr h="0">
                <a:tc>
                  <a:txBody>
                    <a:bodyPr/>
                    <a:lstStyle/>
                    <a:p>
                      <a:pPr indent="0" marL="0">
                        <a:buNone/>
                      </a:pPr>
                      <a:r>
                        <a:rPr lang="en-US" sz="1500" dirty="0">
                          <a:solidFill>
                            <a:schemeClr val="tx1"/>
                          </a:solidFill>
                        </a:rPr>
                        <a:t>Signed by the wrong private key</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rPr>
                        <a:t>401</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r>
              <a:tr h="0">
                <a:tc>
                  <a:txBody>
                    <a:bodyPr/>
                    <a:lstStyle/>
                    <a:p>
                      <a:pPr indent="0" marL="0">
                        <a:buNone/>
                      </a:pPr>
                      <a:r>
                        <a:rPr lang="en-US" sz="1500" dirty="0">
                          <a:solidFill>
                            <a:schemeClr val="tx1"/>
                          </a:solidFill>
                        </a:rPr>
                        <a:t>Expired</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rPr>
                        <a:t>401</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r>
              <a:tr h="0">
                <a:tc>
                  <a:txBody>
                    <a:bodyPr/>
                    <a:lstStyle/>
                    <a:p>
                      <a:pPr indent="0" marL="0">
                        <a:buNone/>
                      </a:pPr>
                      <a:r>
                        <a:rPr lang="en-US" sz="1500" dirty="0">
                          <a:solidFill>
                            <a:schemeClr val="tx1"/>
                          </a:solidFill>
                        </a:rPr>
                        <a:t>Wrong aud</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rPr>
                        <a:t>401</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r>
              <a:tr h="0">
                <a:tc>
                  <a:txBody>
                    <a:bodyPr/>
                    <a:lstStyle/>
                    <a:p>
                      <a:pPr indent="0" marL="0">
                        <a:buNone/>
                      </a:pPr>
                      <a:r>
                        <a:rPr lang="en-US" sz="1500" dirty="0">
                          <a:solidFill>
                            <a:schemeClr val="tx1"/>
                          </a:solidFill>
                        </a:rPr>
                        <a:t>Valid, unauthorized identity</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rPr>
                        <a:t>403</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r>
              <a:tr h="0">
                <a:tc>
                  <a:txBody>
                    <a:bodyPr/>
                    <a:lstStyle/>
                    <a:p>
                      <a:pPr indent="0" marL="0">
                        <a:buNone/>
                      </a:pPr>
                      <a:r>
                        <a:rPr lang="en-US" sz="1500" dirty="0">
                          <a:solidFill>
                            <a:schemeClr val="tx1"/>
                          </a:solidFill>
                        </a:rPr>
                        <a:t>Valid, authorized identity</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rPr>
                        <a:t>200</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r>
            </a:tbl>
          </a:graphicData>
        </a:graphic>
      </p:graphicFrame>
      <p:sp>
        <p:nvSpPr>
          <p:cNvPr id="6" name="sub-box"/>
          <p:cNvSpPr/>
          <p:nvPr/>
        </p:nvSpPr>
        <p:spPr>
          <a:xfrm>
            <a:off x="7223760" y="1737360"/>
            <a:ext cx="4389120" cy="1280160"/>
          </a:xfrm>
          <a:prstGeom prst="roundRect">
            <a:avLst>
              <a:gd name="adj" fmla="val 7143"/>
            </a:avLst>
          </a:prstGeom>
          <a:solidFill>
            <a:schemeClr val="bg2"/>
          </a:solidFill>
          <a:ln w="12700">
            <a:solidFill>
              <a:schemeClr val="accent5"/>
            </a:solidFill>
            <a:prstDash val="solid"/>
          </a:ln>
        </p:spPr>
      </p:sp>
      <p:sp>
        <p:nvSpPr>
          <p:cNvPr id="7" name="sub"/>
          <p:cNvSpPr txBox="1"/>
          <p:nvPr/>
        </p:nvSpPr>
        <p:spPr>
          <a:xfrm>
            <a:off x="7452360" y="1920240"/>
            <a:ext cx="3931920" cy="914400"/>
          </a:xfrm>
          <a:prstGeom prst="rect">
            <a:avLst/>
          </a:prstGeom>
          <a:noFill/>
          <a:ln/>
        </p:spPr>
        <p:txBody>
          <a:bodyPr wrap="square" lIns="0" tIns="0" rIns="0" bIns="0" rtlCol="0" anchor="t"/>
          <a:lstStyle/>
          <a:p>
            <a:pPr indent="0" marL="0">
              <a:spcAft>
                <a:spcPts val="600"/>
              </a:spcAft>
              <a:buNone/>
            </a:pPr>
            <a:r>
              <a:rPr lang="en-US" sz="1800" b="1" dirty="0">
                <a:solidFill>
                  <a:schemeClr val="accent2"/>
                </a:solidFill>
              </a:rPr>
              <a:t>Identity is the verified sub</a:t>
            </a:r>
            <a:endParaRPr lang="en-US" sz="1800" dirty="0"/>
          </a:p>
          <a:p>
            <a:pPr indent="0" marL="0">
              <a:spcAft>
                <a:spcPts val="600"/>
              </a:spcAft>
              <a:buNone/>
            </a:pPr>
            <a:r>
              <a:rPr lang="en-US" sz="1500" dirty="0">
                <a:solidFill>
                  <a:schemeClr val="tx2"/>
                </a:solidFill>
              </a:rPr>
              <a:t>It replaced the API-key lookup. Authorization code stayed the same.</a:t>
            </a:r>
            <a:endParaRPr lang="en-US" sz="1800" dirty="0"/>
          </a:p>
        </p:txBody>
      </p:sp>
      <p:sp>
        <p:nvSpPr>
          <p:cNvPr id="8" name="before-sqlite-box"/>
          <p:cNvSpPr/>
          <p:nvPr/>
        </p:nvSpPr>
        <p:spPr>
          <a:xfrm>
            <a:off x="7223760" y="3154680"/>
            <a:ext cx="4389120" cy="1280160"/>
          </a:xfrm>
          <a:prstGeom prst="roundRect">
            <a:avLst>
              <a:gd name="adj" fmla="val 7143"/>
            </a:avLst>
          </a:prstGeom>
          <a:solidFill>
            <a:schemeClr val="bg2"/>
          </a:solidFill>
          <a:ln w="12700">
            <a:solidFill>
              <a:schemeClr val="accent5"/>
            </a:solidFill>
            <a:prstDash val="solid"/>
          </a:ln>
        </p:spPr>
      </p:sp>
      <p:sp>
        <p:nvSpPr>
          <p:cNvPr id="9" name="before-sqlite"/>
          <p:cNvSpPr txBox="1"/>
          <p:nvPr/>
        </p:nvSpPr>
        <p:spPr>
          <a:xfrm>
            <a:off x="7452360" y="3337560"/>
            <a:ext cx="3931920" cy="914400"/>
          </a:xfrm>
          <a:prstGeom prst="rect">
            <a:avLst/>
          </a:prstGeom>
          <a:noFill/>
          <a:ln/>
        </p:spPr>
        <p:txBody>
          <a:bodyPr wrap="square" lIns="0" tIns="0" rIns="0" bIns="0" rtlCol="0" anchor="t"/>
          <a:lstStyle/>
          <a:p>
            <a:pPr indent="0" marL="0">
              <a:spcAft>
                <a:spcPts val="600"/>
              </a:spcAft>
              <a:buNone/>
            </a:pPr>
            <a:r>
              <a:rPr lang="en-US" sz="1800" b="1" dirty="0">
                <a:solidFill>
                  <a:schemeClr val="accent2"/>
                </a:solidFill>
              </a:rPr>
              <a:t>Every 401 stops before SQLite</a:t>
            </a:r>
            <a:endParaRPr lang="en-US" sz="1800" dirty="0"/>
          </a:p>
          <a:p>
            <a:pPr indent="0" marL="0">
              <a:spcAft>
                <a:spcPts val="600"/>
              </a:spcAft>
              <a:buNone/>
            </a:pPr>
            <a:r>
              <a:rPr lang="en-US" sz="1500" dirty="0">
                <a:solidFill>
                  <a:schemeClr val="tx2"/>
                </a:solidFill>
              </a:rPr>
              <a:t>Spies prove no class or detail lookup ran.</a:t>
            </a:r>
            <a:endParaRPr lang="en-US" sz="1800" dirty="0"/>
          </a:p>
        </p:txBody>
      </p:sp>
      <p:sp>
        <p:nvSpPr>
          <p:cNvPr id="10" name="stranger-box"/>
          <p:cNvSpPr/>
          <p:nvPr/>
        </p:nvSpPr>
        <p:spPr>
          <a:xfrm>
            <a:off x="7223760" y="4572000"/>
            <a:ext cx="4389120" cy="1280160"/>
          </a:xfrm>
          <a:prstGeom prst="roundRect">
            <a:avLst>
              <a:gd name="adj" fmla="val 7143"/>
            </a:avLst>
          </a:prstGeom>
          <a:solidFill>
            <a:schemeClr val="bg2"/>
          </a:solidFill>
          <a:ln w="12700">
            <a:solidFill>
              <a:schemeClr val="accent5"/>
            </a:solidFill>
            <a:prstDash val="solid"/>
          </a:ln>
        </p:spPr>
      </p:sp>
      <p:sp>
        <p:nvSpPr>
          <p:cNvPr id="11" name="stranger"/>
          <p:cNvSpPr txBox="1"/>
          <p:nvPr/>
        </p:nvSpPr>
        <p:spPr>
          <a:xfrm>
            <a:off x="7452360" y="4754880"/>
            <a:ext cx="3931920" cy="914400"/>
          </a:xfrm>
          <a:prstGeom prst="rect">
            <a:avLst/>
          </a:prstGeom>
          <a:noFill/>
          <a:ln/>
        </p:spPr>
        <p:txBody>
          <a:bodyPr wrap="square" lIns="0" tIns="0" rIns="0" bIns="0" rtlCol="0" anchor="t"/>
          <a:lstStyle/>
          <a:p>
            <a:pPr indent="0" marL="0">
              <a:spcAft>
                <a:spcPts val="600"/>
              </a:spcAft>
              <a:buNone/>
            </a:pPr>
            <a:r>
              <a:rPr lang="en-US" sz="1800" b="1" dirty="0">
                <a:solidFill>
                  <a:schemeClr val="accent2"/>
                </a:solidFill>
              </a:rPr>
              <a:t>A signed stranger gets 403</a:t>
            </a:r>
            <a:endParaRPr lang="en-US" sz="1800" dirty="0"/>
          </a:p>
          <a:p>
            <a:pPr indent="0" marL="0">
              <a:spcAft>
                <a:spcPts val="600"/>
              </a:spcAft>
              <a:buNone/>
            </a:pPr>
            <a:r>
              <a:rPr lang="en-US" sz="1500" dirty="0">
                <a:solidFill>
                  <a:schemeClr val="tx2"/>
                </a:solidFill>
              </a:rPr>
              <a:t>Authenticated, but no role: denied by default.</a:t>
            </a:r>
            <a:endParaRPr lang="en-US" sz="18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F667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64240" cy="320040"/>
          </a:xfrm>
          <a:prstGeom prst="rect">
            <a:avLst/>
          </a:prstGeom>
          <a:noFill/>
          <a:ln/>
        </p:spPr>
        <p:txBody>
          <a:bodyPr wrap="square" lIns="0" tIns="0" rIns="0" bIns="0" rtlCol="0"/>
          <a:lstStyle/>
          <a:p>
            <a:pPr indent="0" marL="0">
              <a:buNone/>
            </a:pPr>
            <a:r>
              <a:rPr lang="en-US" sz="1400" b="1" dirty="0">
                <a:solidFill>
                  <a:schemeClr val="accent1"/>
                </a:solidFill>
                <a:latin typeface="Courier New" pitchFamily="34" charset="0"/>
                <a:ea typeface="Courier New" pitchFamily="34" charset="-122"/>
                <a:cs typeface="Courier New" pitchFamily="34" charset="-120"/>
              </a:rPr>
              <a:t>05.3 · A SEPARATE TOKEN ISSUER</a:t>
            </a:r>
            <a:endParaRPr lang="en-US" sz="1400" dirty="0"/>
          </a:p>
        </p:txBody>
      </p:sp>
      <p:sp>
        <p:nvSpPr>
          <p:cNvPr id="3" name="Text 0"/>
          <p:cNvSpPr/>
          <p:nvPr>
            <p:ph idx="101" type="title" hasCustomPrompt="1"/>
          </p:nvPr>
        </p:nvSpPr>
        <p:spPr>
          <a:xfrm>
            <a:off x="548640" y="731520"/>
            <a:ext cx="11064240" cy="731520"/>
          </a:xfrm>
          <a:prstGeom prst="rect">
            <a:avLst/>
          </a:prstGeom>
          <a:noFill/>
          <a:ln/>
        </p:spPr>
        <p:txBody>
          <a:bodyPr wrap="square" lIns="0" tIns="0" rIns="0" bIns="0" rtlCol="0" anchor="t"/>
          <a:lstStyle/>
          <a:p>
            <a:pPr indent="0" marL="0">
              <a:buNone/>
            </a:pPr>
            <a:r>
              <a:rPr lang="en-US" sz="3400" b="1" dirty="0">
                <a:solidFill>
                  <a:schemeClr val="tx1"/>
                </a:solidFill>
              </a:rPr>
              <a:t>Only the issuer can mint identity</a:t>
            </a:r>
            <a:endParaRPr lang="en-US" sz="3400" dirty="0"/>
          </a:p>
        </p:txBody>
      </p:sp>
      <p:sp>
        <p:nvSpPr>
          <p:cNvPr id="5" name="before-box"/>
          <p:cNvSpPr/>
          <p:nvPr/>
        </p:nvSpPr>
        <p:spPr>
          <a:xfrm>
            <a:off x="548640" y="1737360"/>
            <a:ext cx="5394960" cy="2286000"/>
          </a:xfrm>
          <a:prstGeom prst="roundRect">
            <a:avLst>
              <a:gd name="adj" fmla="val 4000"/>
            </a:avLst>
          </a:prstGeom>
          <a:solidFill>
            <a:srgbClr val="F6E3D3"/>
          </a:solidFill>
          <a:ln w="12700">
            <a:solidFill>
              <a:srgbClr val="F6E3D3"/>
            </a:solidFill>
            <a:prstDash val="solid"/>
          </a:ln>
        </p:spPr>
      </p:sp>
      <p:sp>
        <p:nvSpPr>
          <p:cNvPr id="6" name="before"/>
          <p:cNvSpPr txBox="1"/>
          <p:nvPr/>
        </p:nvSpPr>
        <p:spPr>
          <a:xfrm>
            <a:off x="777240" y="1920240"/>
            <a:ext cx="4937760" cy="1920240"/>
          </a:xfrm>
          <a:prstGeom prst="rect">
            <a:avLst/>
          </a:prstGeom>
          <a:noFill/>
          <a:ln/>
        </p:spPr>
        <p:txBody>
          <a:bodyPr wrap="square" lIns="0" tIns="0" rIns="0" bIns="0" rtlCol="0" anchor="t"/>
          <a:lstStyle/>
          <a:p>
            <a:pPr indent="0" marL="0">
              <a:spcAft>
                <a:spcPts val="1000"/>
              </a:spcAft>
              <a:buNone/>
            </a:pPr>
            <a:r>
              <a:rPr lang="en-US" sz="1900" b="1" dirty="0">
                <a:solidFill>
                  <a:schemeClr val="tx1"/>
                </a:solidFill>
              </a:rPr>
              <a:t>Before: a script with the key</a:t>
            </a:r>
            <a:endParaRPr lang="en-US" sz="1900" dirty="0"/>
          </a:p>
          <a:p>
            <a:pPr indent="0" marL="0">
              <a:spcAft>
                <a:spcPts val="1000"/>
              </a:spcAft>
              <a:buNone/>
            </a:pPr>
            <a:r>
              <a:rPr lang="en-US" sz="1500" dirty="0">
                <a:solidFill>
                  <a:schemeClr val="accent1"/>
                </a:solidFill>
                <a:latin typeface="Courier New" pitchFamily="34" charset="0"/>
                <a:ea typeface="Courier New" pitchFamily="34" charset="-122"/>
                <a:cs typeface="Courier New" pitchFamily="34" charset="-120"/>
              </a:rPr>
              <a:t>issue_jwt.py --sub admin-agent</a:t>
            </a:r>
            <a:endParaRPr lang="en-US" sz="1900" dirty="0"/>
          </a:p>
          <a:p>
            <a:pPr indent="0" marL="0">
              <a:spcAft>
                <a:spcPts val="1000"/>
              </a:spcAft>
              <a:buNone/>
            </a:pPr>
            <a:r>
              <a:rPr lang="en-US" sz="1500" dirty="0">
                <a:solidFill>
                  <a:schemeClr val="tx2"/>
                </a:solidFill>
              </a:rPr>
              <a:t>Whoever runs it with the private key can sign any identity they like.</a:t>
            </a:r>
            <a:endParaRPr lang="en-US" sz="1900" dirty="0"/>
          </a:p>
        </p:txBody>
      </p:sp>
      <p:sp>
        <p:nvSpPr>
          <p:cNvPr id="7" name="after-box"/>
          <p:cNvSpPr/>
          <p:nvPr/>
        </p:nvSpPr>
        <p:spPr>
          <a:xfrm>
            <a:off x="6217920" y="1737360"/>
            <a:ext cx="5394960" cy="2286000"/>
          </a:xfrm>
          <a:prstGeom prst="roundRect">
            <a:avLst>
              <a:gd name="adj" fmla="val 4000"/>
            </a:avLst>
          </a:prstGeom>
          <a:solidFill>
            <a:srgbClr val="DCE8F5"/>
          </a:solidFill>
          <a:ln w="12700">
            <a:solidFill>
              <a:srgbClr val="DCE8F5"/>
            </a:solidFill>
            <a:prstDash val="solid"/>
          </a:ln>
        </p:spPr>
      </p:sp>
      <p:sp>
        <p:nvSpPr>
          <p:cNvPr id="8" name="after"/>
          <p:cNvSpPr txBox="1"/>
          <p:nvPr/>
        </p:nvSpPr>
        <p:spPr>
          <a:xfrm>
            <a:off x="6446520" y="1920240"/>
            <a:ext cx="4937760" cy="1920240"/>
          </a:xfrm>
          <a:prstGeom prst="rect">
            <a:avLst/>
          </a:prstGeom>
          <a:noFill/>
          <a:ln/>
        </p:spPr>
        <p:txBody>
          <a:bodyPr wrap="square" lIns="0" tIns="0" rIns="0" bIns="0" rtlCol="0" anchor="t"/>
          <a:lstStyle/>
          <a:p>
            <a:pPr indent="0" marL="0">
              <a:spcAft>
                <a:spcPts val="1000"/>
              </a:spcAft>
              <a:buNone/>
            </a:pPr>
            <a:r>
              <a:rPr lang="en-US" sz="1900" b="1" dirty="0">
                <a:solidFill>
                  <a:schemeClr val="tx1"/>
                </a:solidFill>
              </a:rPr>
              <a:t>After: an issuer service on :8001</a:t>
            </a:r>
            <a:endParaRPr lang="en-US" sz="1900" dirty="0"/>
          </a:p>
          <a:p>
            <a:pPr indent="0" marL="0">
              <a:spcAft>
                <a:spcPts val="1000"/>
              </a:spcAft>
              <a:buNone/>
            </a:pPr>
            <a:r>
              <a:rPr lang="en-US" sz="1500" dirty="0">
                <a:solidFill>
                  <a:schemeClr val="accent2"/>
                </a:solidFill>
                <a:latin typeface="Courier New" pitchFamily="34" charset="0"/>
                <a:ea typeface="Courier New" pitchFamily="34" charset="-122"/>
                <a:cs typeface="Courier New" pitchFamily="34" charset="-120"/>
              </a:rPr>
              <a:t>POST /token · X-Client-ID · X-Client-Secret</a:t>
            </a:r>
            <a:endParaRPr lang="en-US" sz="1900" dirty="0"/>
          </a:p>
          <a:p>
            <a:pPr indent="0" marL="0">
              <a:spcAft>
                <a:spcPts val="1000"/>
              </a:spcAft>
              <a:buNone/>
            </a:pPr>
            <a:r>
              <a:rPr lang="en-US" sz="1500" dirty="0">
                <a:solidFill>
                  <a:schemeClr val="tx2"/>
                </a:solidFill>
              </a:rPr>
              <a:t>The issuer authenticates the client, then takes sub from its own registry. Only it holds the private key.</a:t>
            </a:r>
            <a:endParaRPr lang="en-US" sz="1900" dirty="0"/>
          </a:p>
        </p:txBody>
      </p:sp>
      <p:sp>
        <p:nvSpPr>
          <p:cNvPr id="9" name="proof"/>
          <p:cNvSpPr txBox="1"/>
          <p:nvPr/>
        </p:nvSpPr>
        <p:spPr>
          <a:xfrm>
            <a:off x="548640" y="4343400"/>
            <a:ext cx="11064240" cy="731520"/>
          </a:xfrm>
          <a:prstGeom prst="rect">
            <a:avLst/>
          </a:prstGeom>
          <a:noFill/>
          <a:ln/>
        </p:spPr>
        <p:txBody>
          <a:bodyPr wrap="square" lIns="0" tIns="0" rIns="0" bIns="0" rtlCol="0" anchor="t"/>
          <a:lstStyle/>
          <a:p>
            <a:pPr indent="0" marL="0">
              <a:buNone/>
            </a:pPr>
            <a:r>
              <a:rPr lang="en-US" sz="1700" b="1" dirty="0">
                <a:solidFill>
                  <a:schemeClr val="tx1"/>
                </a:solidFill>
              </a:rPr>
              <a:t>Proof: </a:t>
            </a:r>
            <a:pPr indent="0" marL="0">
              <a:buNone/>
            </a:pPr>
            <a:r>
              <a:rPr lang="en-US" sz="1700" dirty="0">
                <a:solidFill>
                  <a:schemeClr val="tx1"/>
                </a:solidFill>
              </a:rPr>
              <a:t>restricted-agent asked for sub=inventory-agent five ways: JSON body, form, query, X-Sub and X-Identity. Every token still said restricted-agent.</a:t>
            </a:r>
            <a:endParaRPr lang="en-US" sz="1700" dirty="0"/>
          </a:p>
        </p:txBody>
      </p:sp>
      <p:sp>
        <p:nvSpPr>
          <p:cNvPr id="10" name="proof-2"/>
          <p:cNvSpPr txBox="1"/>
          <p:nvPr/>
        </p:nvSpPr>
        <p:spPr>
          <a:xfrm>
            <a:off x="548640" y="5120640"/>
            <a:ext cx="11064240" cy="457200"/>
          </a:xfrm>
          <a:prstGeom prst="rect">
            <a:avLst/>
          </a:prstGeom>
          <a:noFill/>
          <a:ln/>
        </p:spPr>
        <p:txBody>
          <a:bodyPr wrap="square" lIns="0" tIns="0" rIns="0" bIns="0" rtlCol="0" anchor="t"/>
          <a:lstStyle/>
          <a:p>
            <a:pPr indent="0" marL="0">
              <a:buNone/>
            </a:pPr>
            <a:r>
              <a:rPr lang="en-US" sz="1500" dirty="0">
                <a:solidFill>
                  <a:schemeClr val="tx2"/>
                </a:solidFill>
              </a:rPr>
              <a:t>Wrong, unknown or borrowed secrets get 401. Token responses carry Cache-Control: no-store.</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F667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731520" y="1463040"/>
            <a:ext cx="10698480" cy="365760"/>
          </a:xfrm>
          <a:prstGeom prst="rect">
            <a:avLst/>
          </a:prstGeom>
          <a:noFill/>
          <a:ln/>
        </p:spPr>
        <p:txBody>
          <a:bodyPr wrap="square" lIns="0" tIns="0" rIns="0" bIns="0" rtlCol="0"/>
          <a:lstStyle/>
          <a:p>
            <a:pPr indent="0" marL="0">
              <a:buNone/>
            </a:pPr>
            <a:r>
              <a:rPr lang="en-US" sz="1600" b="1" dirty="0">
                <a:solidFill>
                  <a:srgbClr val="FFF8EE"/>
                </a:solidFill>
                <a:latin typeface="Courier New" pitchFamily="34" charset="0"/>
                <a:ea typeface="Courier New" pitchFamily="34" charset="-122"/>
                <a:cs typeface="Courier New" pitchFamily="34" charset="-120"/>
              </a:rPr>
              <a:t>THE CORE LESSON OF 05.3</a:t>
            </a:r>
            <a:endParaRPr lang="en-US" sz="1600" dirty="0"/>
          </a:p>
        </p:txBody>
      </p:sp>
      <p:sp>
        <p:nvSpPr>
          <p:cNvPr id="3" name="Text 0"/>
          <p:cNvSpPr/>
          <p:nvPr>
            <p:ph idx="101" type="title" hasCustomPrompt="1"/>
          </p:nvPr>
        </p:nvSpPr>
        <p:spPr>
          <a:xfrm>
            <a:off x="731520" y="2011680"/>
            <a:ext cx="10698480" cy="2011680"/>
          </a:xfrm>
          <a:prstGeom prst="rect">
            <a:avLst/>
          </a:prstGeom>
          <a:noFill/>
          <a:ln/>
        </p:spPr>
        <p:txBody>
          <a:bodyPr wrap="square" lIns="0" tIns="0" rIns="0" bIns="0" rtlCol="0" anchor="t"/>
          <a:lstStyle/>
          <a:p>
            <a:pPr indent="0" marL="0">
              <a:buNone/>
            </a:pPr>
            <a:r>
              <a:rPr lang="en-US" sz="4800" b="1" dirty="0">
                <a:solidFill>
                  <a:srgbClr val="FFF8EE"/>
                </a:solidFill>
              </a:rPr>
              <a:t>sub is the output of authentication, never the input</a:t>
            </a:r>
            <a:endParaRPr lang="en-US" sz="4800" dirty="0"/>
          </a:p>
        </p:txBody>
      </p:sp>
      <p:sp>
        <p:nvSpPr>
          <p:cNvPr id="4" name="Text 0"/>
          <p:cNvSpPr/>
          <p:nvPr>
            <p:ph idx="102" type="body" hasCustomPrompt="1"/>
          </p:nvPr>
        </p:nvSpPr>
        <p:spPr>
          <a:xfrm>
            <a:off x="731520" y="4206240"/>
            <a:ext cx="10698480" cy="822960"/>
          </a:xfrm>
          <a:prstGeom prst="rect">
            <a:avLst/>
          </a:prstGeom>
          <a:noFill/>
          <a:ln/>
        </p:spPr>
        <p:txBody>
          <a:bodyPr wrap="square" lIns="0" tIns="0" rIns="0" bIns="0" rtlCol="0" anchor="t"/>
          <a:lstStyle/>
          <a:p>
            <a:pPr indent="0" marL="0">
              <a:buNone/>
            </a:pPr>
            <a:r>
              <a:rPr lang="en-US" sz="2200" dirty="0">
                <a:solidFill>
                  <a:srgbClr val="FFF8EE"/>
                </a:solidFill>
              </a:rPr>
              <a:t>The caller proves who it is. The issuer decides what identity that proof earns.</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64240" cy="320040"/>
          </a:xfrm>
          <a:prstGeom prst="rect">
            <a:avLst/>
          </a:prstGeom>
          <a:noFill/>
          <a:ln/>
        </p:spPr>
        <p:txBody>
          <a:bodyPr wrap="square" lIns="0" tIns="0" rIns="0" bIns="0" rtlCol="0"/>
          <a:lstStyle/>
          <a:p>
            <a:pPr indent="0" marL="0">
              <a:buNone/>
            </a:pPr>
            <a:r>
              <a:rPr lang="en-US" sz="1400" b="1" dirty="0">
                <a:solidFill>
                  <a:schemeClr val="accent1"/>
                </a:solidFill>
                <a:latin typeface="Courier New" pitchFamily="34" charset="0"/>
                <a:ea typeface="Courier New" pitchFamily="34" charset="-122"/>
                <a:cs typeface="Courier New" pitchFamily="34" charset="-120"/>
              </a:rPr>
              <a:t>05.4 · THE AGENT GETS ITS OWN TOKEN</a:t>
            </a:r>
            <a:endParaRPr lang="en-US" sz="1400" dirty="0"/>
          </a:p>
        </p:txBody>
      </p:sp>
      <p:sp>
        <p:nvSpPr>
          <p:cNvPr id="3" name="Text 0"/>
          <p:cNvSpPr/>
          <p:nvPr>
            <p:ph idx="101" type="title" hasCustomPrompt="1"/>
          </p:nvPr>
        </p:nvSpPr>
        <p:spPr>
          <a:xfrm>
            <a:off x="548640" y="731520"/>
            <a:ext cx="11064240" cy="731520"/>
          </a:xfrm>
          <a:prstGeom prst="rect">
            <a:avLst/>
          </a:prstGeom>
          <a:noFill/>
          <a:ln/>
        </p:spPr>
        <p:txBody>
          <a:bodyPr wrap="square" lIns="0" tIns="0" rIns="0" bIns="0" rtlCol="0" anchor="t"/>
          <a:lstStyle/>
          <a:p>
            <a:pPr indent="0" marL="0">
              <a:buNone/>
            </a:pPr>
            <a:r>
              <a:rPr lang="en-US" sz="3400" b="1" dirty="0">
                <a:solidFill>
                  <a:schemeClr val="tx1"/>
                </a:solidFill>
              </a:rPr>
              <a:t>The agent runs the whole security flow itself</a:t>
            </a:r>
            <a:endParaRPr lang="en-US" sz="3400" dirty="0"/>
          </a:p>
        </p:txBody>
      </p:sp>
      <p:sp>
        <p:nvSpPr>
          <p:cNvPr id="5" name="log-panel"/>
          <p:cNvSpPr/>
          <p:nvPr/>
        </p:nvSpPr>
        <p:spPr>
          <a:xfrm>
            <a:off x="548640" y="1737360"/>
            <a:ext cx="6035040" cy="2834640"/>
          </a:xfrm>
          <a:prstGeom prst="roundRect">
            <a:avLst>
              <a:gd name="adj" fmla="val 3226"/>
            </a:avLst>
          </a:prstGeom>
          <a:solidFill>
            <a:schemeClr val="tx1"/>
          </a:solidFill>
          <a:ln w="12700">
            <a:solidFill>
              <a:schemeClr val="tx1"/>
            </a:solidFill>
            <a:prstDash val="solid"/>
          </a:ln>
        </p:spPr>
      </p:sp>
      <p:sp>
        <p:nvSpPr>
          <p:cNvPr id="6" name="log"/>
          <p:cNvSpPr txBox="1"/>
          <p:nvPr/>
        </p:nvSpPr>
        <p:spPr>
          <a:xfrm>
            <a:off x="822960" y="1965960"/>
            <a:ext cx="5486400" cy="1737360"/>
          </a:xfrm>
          <a:prstGeom prst="rect">
            <a:avLst/>
          </a:prstGeom>
          <a:noFill/>
          <a:ln/>
        </p:spPr>
        <p:txBody>
          <a:bodyPr wrap="square" lIns="0" tIns="0" rIns="0" bIns="0" rtlCol="0" anchor="t"/>
          <a:lstStyle/>
          <a:p>
            <a:pPr indent="0" marL="0">
              <a:spcAft>
                <a:spcPts val="800"/>
              </a:spcAft>
              <a:buNone/>
            </a:pPr>
            <a:r>
              <a:rPr lang="en-US" sz="1500" dirty="0">
                <a:solidFill>
                  <a:schemeClr val="accent3"/>
                </a:solidFill>
                <a:latin typeface="Courier New" pitchFamily="34" charset="0"/>
                <a:ea typeface="Courier New" pitchFamily="34" charset="-122"/>
                <a:cs typeface="Courier New" pitchFamily="34" charset="-120"/>
              </a:rPr>
              <a:t>1/2 agent -&gt; issuer   POST /token</a:t>
            </a:r>
            <a:endParaRPr lang="en-US" sz="1500" dirty="0"/>
          </a:p>
          <a:p>
            <a:pPr indent="0" marL="0">
              <a:spcAft>
                <a:spcPts val="800"/>
              </a:spcAft>
              <a:buNone/>
            </a:pPr>
            <a:r>
              <a:rPr lang="en-US" sz="1500" dirty="0">
                <a:solidFill>
                  <a:srgbClr val="C9D3E3"/>
                </a:solidFill>
                <a:latin typeface="Courier New" pitchFamily="34" charset="0"/>
                <a:ea typeface="Courier New" pitchFamily="34" charset="-122"/>
                <a:cs typeface="Courier New" pitchFamily="34" charset="-120"/>
              </a:rPr>
              <a:t>    issuer -&gt; agent   HTTP 200</a:t>
            </a:r>
            <a:endParaRPr lang="en-US" sz="1500" dirty="0"/>
          </a:p>
          <a:p>
            <a:pPr indent="0" marL="0">
              <a:spcAft>
                <a:spcPts val="800"/>
              </a:spcAft>
              <a:buNone/>
            </a:pPr>
            <a:r>
              <a:rPr lang="en-US" sz="1500" dirty="0">
                <a:solidFill>
                  <a:schemeClr val="accent4"/>
                </a:solidFill>
                <a:latin typeface="Courier New" pitchFamily="34" charset="0"/>
                <a:ea typeface="Courier New" pitchFamily="34" charset="-122"/>
                <a:cs typeface="Courier New" pitchFamily="34" charset="-120"/>
              </a:rPr>
              <a:t>2/2 agent -&gt; service  GET /stock/WIDGET-B</a:t>
            </a:r>
            <a:endParaRPr lang="en-US" sz="1500" dirty="0"/>
          </a:p>
          <a:p>
            <a:pPr indent="0" marL="0">
              <a:spcAft>
                <a:spcPts val="800"/>
              </a:spcAft>
              <a:buNone/>
            </a:pPr>
            <a:r>
              <a:rPr lang="en-US" sz="1500" dirty="0">
                <a:solidFill>
                  <a:srgbClr val="C9D3E3"/>
                </a:solidFill>
                <a:latin typeface="Courier New" pitchFamily="34" charset="0"/>
                <a:ea typeface="Courier New" pitchFamily="34" charset="-122"/>
                <a:cs typeface="Courier New" pitchFamily="34" charset="-120"/>
              </a:rPr>
              <a:t>    service -&gt; agent  HTTP 200</a:t>
            </a:r>
            <a:endParaRPr lang="en-US" sz="1500" dirty="0"/>
          </a:p>
        </p:txBody>
      </p:sp>
      <p:sp>
        <p:nvSpPr>
          <p:cNvPr id="7" name="log-note"/>
          <p:cNvSpPr txBox="1"/>
          <p:nvPr/>
        </p:nvSpPr>
        <p:spPr>
          <a:xfrm>
            <a:off x="822960" y="3931920"/>
            <a:ext cx="5486400" cy="457200"/>
          </a:xfrm>
          <a:prstGeom prst="rect">
            <a:avLst/>
          </a:prstGeom>
          <a:noFill/>
          <a:ln/>
        </p:spPr>
        <p:txBody>
          <a:bodyPr wrap="square" lIns="0" tIns="0" rIns="0" bIns="0" rtlCol="0" anchor="t"/>
          <a:lstStyle/>
          <a:p>
            <a:pPr indent="0" marL="0">
              <a:buNone/>
            </a:pPr>
            <a:r>
              <a:rPr lang="en-US" sz="1400" dirty="0">
                <a:solidFill>
                  <a:srgbClr val="C9D3E3"/>
                </a:solidFill>
              </a:rPr>
              <a:t>The agent’s flow log. It never prints secrets or tokens.</a:t>
            </a:r>
            <a:endParaRPr lang="en-US" sz="1400" dirty="0"/>
          </a:p>
        </p:txBody>
      </p:sp>
      <p:sp>
        <p:nvSpPr>
          <p:cNvPr id="8" name="point-0"/>
          <p:cNvSpPr txBox="1"/>
          <p:nvPr/>
        </p:nvSpPr>
        <p:spPr>
          <a:xfrm>
            <a:off x="6949440" y="1783080"/>
            <a:ext cx="4663440" cy="822960"/>
          </a:xfrm>
          <a:prstGeom prst="rect">
            <a:avLst/>
          </a:prstGeom>
          <a:noFill/>
          <a:ln/>
        </p:spPr>
        <p:txBody>
          <a:bodyPr wrap="square" lIns="0" tIns="0" rIns="0" bIns="0" rtlCol="0" anchor="t"/>
          <a:lstStyle/>
          <a:p>
            <a:pPr indent="0" marL="0">
              <a:buNone/>
            </a:pPr>
            <a:r>
              <a:rPr lang="en-US" sz="1800" b="1" dirty="0">
                <a:solidFill>
                  <a:schemeClr val="tx1"/>
                </a:solidFill>
              </a:rPr>
              <a:t>Two HTTP calls per request</a:t>
            </a:r>
            <a:endParaRPr lang="en-US" sz="1800" dirty="0"/>
          </a:p>
          <a:p>
            <a:pPr indent="0" marL="0">
              <a:buNone/>
            </a:pPr>
            <a:r>
              <a:rPr lang="en-US" sz="1500" dirty="0">
                <a:solidFill>
                  <a:schemeClr val="tx2"/>
                </a:solidFill>
              </a:rPr>
              <a:t>Issuer first, then the inventory service.</a:t>
            </a:r>
            <a:endParaRPr lang="en-US" sz="1800" dirty="0"/>
          </a:p>
        </p:txBody>
      </p:sp>
      <p:sp>
        <p:nvSpPr>
          <p:cNvPr id="9" name="point-1"/>
          <p:cNvSpPr txBox="1"/>
          <p:nvPr/>
        </p:nvSpPr>
        <p:spPr>
          <a:xfrm>
            <a:off x="6949440" y="2743200"/>
            <a:ext cx="4663440" cy="822960"/>
          </a:xfrm>
          <a:prstGeom prst="rect">
            <a:avLst/>
          </a:prstGeom>
          <a:noFill/>
          <a:ln/>
        </p:spPr>
        <p:txBody>
          <a:bodyPr wrap="square" lIns="0" tIns="0" rIns="0" bIns="0" rtlCol="0" anchor="t"/>
          <a:lstStyle/>
          <a:p>
            <a:pPr indent="0" marL="0">
              <a:buNone/>
            </a:pPr>
            <a:r>
              <a:rPr lang="en-US" sz="1800" b="1" dirty="0">
                <a:solidFill>
                  <a:schemeClr val="tx1"/>
                </a:solidFill>
              </a:rPr>
              <a:t>The secret goes only to the issuer</a:t>
            </a:r>
            <a:endParaRPr lang="en-US" sz="1800" dirty="0"/>
          </a:p>
          <a:p>
            <a:pPr indent="0" marL="0">
              <a:buNone/>
            </a:pPr>
            <a:r>
              <a:rPr lang="en-US" sz="1500" dirty="0">
                <a:solidFill>
                  <a:schemeClr val="tx2"/>
                </a:solidFill>
              </a:rPr>
              <a:t>The service only ever sees the bearer token.</a:t>
            </a:r>
            <a:endParaRPr lang="en-US" sz="1800" dirty="0"/>
          </a:p>
        </p:txBody>
      </p:sp>
      <p:sp>
        <p:nvSpPr>
          <p:cNvPr id="10" name="point-2"/>
          <p:cNvSpPr txBox="1"/>
          <p:nvPr/>
        </p:nvSpPr>
        <p:spPr>
          <a:xfrm>
            <a:off x="6949440" y="3703320"/>
            <a:ext cx="4663440" cy="822960"/>
          </a:xfrm>
          <a:prstGeom prst="rect">
            <a:avLst/>
          </a:prstGeom>
          <a:noFill/>
          <a:ln/>
        </p:spPr>
        <p:txBody>
          <a:bodyPr wrap="square" lIns="0" tIns="0" rIns="0" bIns="0" rtlCol="0" anchor="t"/>
          <a:lstStyle/>
          <a:p>
            <a:pPr indent="0" marL="0">
              <a:buNone/>
            </a:pPr>
            <a:r>
              <a:rPr lang="en-US" sz="1800" b="1" dirty="0">
                <a:solidFill>
                  <a:schemeClr val="tx1"/>
                </a:solidFill>
              </a:rPr>
              <a:t>No caching yet, on purpose</a:t>
            </a:r>
            <a:endParaRPr lang="en-US" sz="1800" dirty="0"/>
          </a:p>
          <a:p>
            <a:pPr indent="0" marL="0">
              <a:buNone/>
            </a:pPr>
            <a:r>
              <a:rPr lang="en-US" sz="1500" dirty="0">
                <a:solidFill>
                  <a:schemeClr val="tx2"/>
                </a:solidFill>
              </a:rPr>
              <a:t>Every step stays visible while we learn.</a:t>
            </a:r>
            <a:endParaRPr lang="en-US" sz="1800" dirty="0"/>
          </a:p>
        </p:txBody>
      </p:sp>
      <p:sp>
        <p:nvSpPr>
          <p:cNvPr id="11" name="demo"/>
          <p:cNvSpPr txBox="1"/>
          <p:nvPr/>
        </p:nvSpPr>
        <p:spPr>
          <a:xfrm>
            <a:off x="548640" y="4892040"/>
            <a:ext cx="11064240" cy="731520"/>
          </a:xfrm>
          <a:prstGeom prst="rect">
            <a:avLst/>
          </a:prstGeom>
          <a:noFill/>
          <a:ln/>
        </p:spPr>
        <p:txBody>
          <a:bodyPr wrap="square" lIns="0" tIns="0" rIns="0" bIns="0" rtlCol="0" anchor="t"/>
          <a:lstStyle/>
          <a:p>
            <a:pPr indent="0" marL="0">
              <a:buNone/>
            </a:pPr>
            <a:r>
              <a:rPr lang="en-US" sz="1700" b="1" dirty="0">
                <a:solidFill>
                  <a:schemeClr val="tx1"/>
                </a:solidFill>
              </a:rPr>
              <a:t>Demo: </a:t>
            </a:r>
            <a:pPr indent="0" marL="0">
              <a:buNone/>
            </a:pPr>
            <a:r>
              <a:rPr lang="en-US" sz="1700" dirty="0">
                <a:solidFill>
                  <a:schemeClr val="tx2"/>
                </a:solidFill>
              </a:rPr>
              <a:t>wrong secret → issuer 401 and the service is never called. Restricted on class A → 403. Correct credentials → 200.</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F667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64240" cy="320040"/>
          </a:xfrm>
          <a:prstGeom prst="rect">
            <a:avLst/>
          </a:prstGeom>
          <a:noFill/>
          <a:ln/>
        </p:spPr>
        <p:txBody>
          <a:bodyPr wrap="square" lIns="0" tIns="0" rIns="0" bIns="0" rtlCol="0"/>
          <a:lstStyle/>
          <a:p>
            <a:pPr indent="0" marL="0">
              <a:buNone/>
            </a:pPr>
            <a:r>
              <a:rPr lang="en-US" sz="1400" b="1" dirty="0">
                <a:solidFill>
                  <a:schemeClr val="accent1"/>
                </a:solidFill>
                <a:latin typeface="Courier New" pitchFamily="34" charset="0"/>
                <a:ea typeface="Courier New" pitchFamily="34" charset="-122"/>
                <a:cs typeface="Courier New" pitchFamily="34" charset="-120"/>
              </a:rPr>
              <a:t>05.5 · SCOPES AND LEAST PRIVILEGE</a:t>
            </a:r>
            <a:endParaRPr lang="en-US" sz="1400" dirty="0"/>
          </a:p>
        </p:txBody>
      </p:sp>
      <p:sp>
        <p:nvSpPr>
          <p:cNvPr id="3" name="Text 0"/>
          <p:cNvSpPr/>
          <p:nvPr>
            <p:ph idx="101" type="title" hasCustomPrompt="1"/>
          </p:nvPr>
        </p:nvSpPr>
        <p:spPr>
          <a:xfrm>
            <a:off x="548640" y="731520"/>
            <a:ext cx="11064240" cy="731520"/>
          </a:xfrm>
          <a:prstGeom prst="rect">
            <a:avLst/>
          </a:prstGeom>
          <a:noFill/>
          <a:ln/>
        </p:spPr>
        <p:txBody>
          <a:bodyPr wrap="square" lIns="0" tIns="0" rIns="0" bIns="0" rtlCol="0" anchor="t"/>
          <a:lstStyle/>
          <a:p>
            <a:pPr indent="0" marL="0">
              <a:buNone/>
            </a:pPr>
            <a:r>
              <a:rPr lang="en-US" sz="3400" b="1" dirty="0">
                <a:solidFill>
                  <a:schemeClr val="tx1"/>
                </a:solidFill>
              </a:rPr>
              <a:t>Request authority, never grant it to yourself</a:t>
            </a:r>
            <a:endParaRPr lang="en-US" sz="3400" dirty="0"/>
          </a:p>
        </p:txBody>
      </p:sp>
      <p:sp>
        <p:nvSpPr>
          <p:cNvPr id="5" name="entitlement-box"/>
          <p:cNvSpPr/>
          <p:nvPr/>
        </p:nvSpPr>
        <p:spPr>
          <a:xfrm>
            <a:off x="548640" y="1691640"/>
            <a:ext cx="5394960" cy="1097280"/>
          </a:xfrm>
          <a:prstGeom prst="roundRect">
            <a:avLst>
              <a:gd name="adj" fmla="val 8333"/>
            </a:avLst>
          </a:prstGeom>
          <a:solidFill>
            <a:schemeClr val="bg2"/>
          </a:solidFill>
          <a:ln w="12700">
            <a:solidFill>
              <a:schemeClr val="accent5"/>
            </a:solidFill>
            <a:prstDash val="solid"/>
          </a:ln>
        </p:spPr>
      </p:sp>
      <p:sp>
        <p:nvSpPr>
          <p:cNvPr id="6" name="entitlement"/>
          <p:cNvSpPr txBox="1"/>
          <p:nvPr/>
        </p:nvSpPr>
        <p:spPr>
          <a:xfrm>
            <a:off x="777240" y="1874520"/>
            <a:ext cx="4937760" cy="731520"/>
          </a:xfrm>
          <a:prstGeom prst="rect">
            <a:avLst/>
          </a:prstGeom>
          <a:noFill/>
          <a:ln/>
        </p:spPr>
        <p:txBody>
          <a:bodyPr wrap="square" lIns="0" tIns="0" rIns="0" bIns="0" rtlCol="0" anchor="t"/>
          <a:lstStyle/>
          <a:p>
            <a:pPr indent="0" marL="0">
              <a:spcAft>
                <a:spcPts val="600"/>
              </a:spcAft>
              <a:buNone/>
            </a:pPr>
            <a:r>
              <a:rPr lang="en-US" sz="1800" b="1" dirty="0">
                <a:solidFill>
                  <a:schemeClr val="accent2"/>
                </a:solidFill>
              </a:rPr>
              <a:t>Entitlement</a:t>
            </a:r>
            <a:endParaRPr lang="en-US" sz="1800" dirty="0"/>
          </a:p>
          <a:p>
            <a:pPr indent="0" marL="0">
              <a:spcAft>
                <a:spcPts val="600"/>
              </a:spcAft>
              <a:buNone/>
            </a:pPr>
            <a:r>
              <a:rPr lang="en-US" sz="1500" dirty="0">
                <a:solidFill>
                  <a:schemeClr val="tx2"/>
                </a:solidFill>
              </a:rPr>
              <a:t>The most the issuer will ever grant this client.</a:t>
            </a:r>
            <a:endParaRPr lang="en-US" sz="1800" dirty="0"/>
          </a:p>
        </p:txBody>
      </p:sp>
      <p:sp>
        <p:nvSpPr>
          <p:cNvPr id="7" name="requested-box"/>
          <p:cNvSpPr/>
          <p:nvPr/>
        </p:nvSpPr>
        <p:spPr>
          <a:xfrm>
            <a:off x="6217920" y="1691640"/>
            <a:ext cx="5394960" cy="1097280"/>
          </a:xfrm>
          <a:prstGeom prst="roundRect">
            <a:avLst>
              <a:gd name="adj" fmla="val 8333"/>
            </a:avLst>
          </a:prstGeom>
          <a:solidFill>
            <a:schemeClr val="bg2"/>
          </a:solidFill>
          <a:ln w="12700">
            <a:solidFill>
              <a:schemeClr val="accent5"/>
            </a:solidFill>
            <a:prstDash val="solid"/>
          </a:ln>
        </p:spPr>
      </p:sp>
      <p:sp>
        <p:nvSpPr>
          <p:cNvPr id="8" name="requested"/>
          <p:cNvSpPr txBox="1"/>
          <p:nvPr/>
        </p:nvSpPr>
        <p:spPr>
          <a:xfrm>
            <a:off x="6446520" y="1874520"/>
            <a:ext cx="4937760" cy="731520"/>
          </a:xfrm>
          <a:prstGeom prst="rect">
            <a:avLst/>
          </a:prstGeom>
          <a:noFill/>
          <a:ln/>
        </p:spPr>
        <p:txBody>
          <a:bodyPr wrap="square" lIns="0" tIns="0" rIns="0" bIns="0" rtlCol="0" anchor="t"/>
          <a:lstStyle/>
          <a:p>
            <a:pPr indent="0" marL="0">
              <a:spcAft>
                <a:spcPts val="600"/>
              </a:spcAft>
              <a:buNone/>
            </a:pPr>
            <a:r>
              <a:rPr lang="en-US" sz="1800" b="1" dirty="0">
                <a:solidFill>
                  <a:schemeClr val="accent1"/>
                </a:solidFill>
              </a:rPr>
              <a:t>Requested scope</a:t>
            </a:r>
            <a:endParaRPr lang="en-US" sz="1800" dirty="0"/>
          </a:p>
          <a:p>
            <a:pPr indent="0" marL="0">
              <a:spcAft>
                <a:spcPts val="600"/>
              </a:spcAft>
              <a:buNone/>
            </a:pPr>
            <a:r>
              <a:rPr lang="en-US" sz="1500" dirty="0">
                <a:solidFill>
                  <a:schemeClr val="tx2"/>
                </a:solidFill>
              </a:rPr>
              <a:t>What the agent asks for in this one token.</a:t>
            </a:r>
            <a:endParaRPr lang="en-US" sz="1800" dirty="0"/>
          </a:p>
        </p:txBody>
      </p:sp>
      <p:graphicFrame>
        <p:nvGraphicFramePr>
          <p:cNvPr id="10" name="scope-table"/>
          <p:cNvGraphicFramePr>
            <a:graphicFrameLocks noGrp="1"/>
          </p:cNvGraphicFramePr>
          <p:nvPr>
            <p:extLst>
              <p:ext uri="{D42A27DB-BD31-4B8C-83A1-F6EECF244321}">
                <p14:modId xmlns:p14="http://schemas.microsoft.com/office/powerpoint/2010/main" val="1579011935"/>
              </p:ext>
            </p:extLst>
          </p:nvPr>
        </p:nvGraphicFramePr>
        <p:xfrm>
          <a:off x="548640" y="3017520"/>
          <a:ext cx="11064240" cy="914400"/>
        </p:xfrm>
        <a:graphic>
          <a:graphicData uri="http://schemas.openxmlformats.org/drawingml/2006/table">
            <a:tbl>
              <a:tblPr/>
              <a:tblGrid>
                <a:gridCol w="4480560"/>
                <a:gridCol w="2377440"/>
                <a:gridCol w="2103120"/>
                <a:gridCol w="2103120"/>
              </a:tblGrid>
              <a:tr h="0">
                <a:tc>
                  <a:txBody>
                    <a:bodyPr/>
                    <a:lstStyle/>
                    <a:p>
                      <a:pPr indent="0" marL="0">
                        <a:buNone/>
                      </a:pPr>
                      <a:r>
                        <a:rPr lang="en-US" sz="1500" b="1" dirty="0">
                          <a:solidFill>
                            <a:schemeClr val="tx1"/>
                          </a:solidFill>
                        </a:rPr>
                        <a:t>Client asks for</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EEF1F5"/>
                    </a:solidFill>
                  </a:tcPr>
                </a:tc>
                <a:tc>
                  <a:txBody>
                    <a:bodyPr/>
                    <a:lstStyle/>
                    <a:p>
                      <a:pPr indent="0" marL="0">
                        <a:buNone/>
                      </a:pPr>
                      <a:r>
                        <a:rPr lang="en-US" sz="1500" b="1" dirty="0">
                          <a:solidFill>
                            <a:schemeClr val="tx1"/>
                          </a:solidFill>
                        </a:rPr>
                        <a:t>Issuer</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EEF1F5"/>
                    </a:solidFill>
                  </a:tcPr>
                </a:tc>
                <a:tc>
                  <a:txBody>
                    <a:bodyPr/>
                    <a:lstStyle/>
                    <a:p>
                      <a:pPr indent="0" marL="0">
                        <a:buNone/>
                      </a:pPr>
                      <a:r>
                        <a:rPr lang="en-US" sz="1500" b="1" dirty="0">
                          <a:solidFill>
                            <a:schemeClr val="tx1"/>
                          </a:solidFill>
                        </a:rPr>
                        <a:t>WIDGET-A</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EEF1F5"/>
                    </a:solidFill>
                  </a:tcPr>
                </a:tc>
                <a:tc>
                  <a:txBody>
                    <a:bodyPr/>
                    <a:lstStyle/>
                    <a:p>
                      <a:pPr indent="0" marL="0">
                        <a:buNone/>
                      </a:pPr>
                      <a:r>
                        <a:rPr lang="en-US" sz="1500" b="1" dirty="0">
                          <a:solidFill>
                            <a:schemeClr val="tx1"/>
                          </a:solidFill>
                        </a:rPr>
                        <a:t>WIDGET-B</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EEF1F5"/>
                    </a:solidFill>
                  </a:tcPr>
                </a:tc>
              </a:tr>
              <a:tr h="0">
                <a:tc>
                  <a:txBody>
                    <a:bodyPr/>
                    <a:lstStyle/>
                    <a:p>
                      <a:pPr indent="0" marL="0">
                        <a:buNone/>
                      </a:pPr>
                      <a:r>
                        <a:rPr lang="en-US" sz="1500" dirty="0">
                          <a:solidFill>
                            <a:schemeClr val="tx1"/>
                          </a:solidFill>
                        </a:rPr>
                        <a:t>inventory-agent · class_b</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rPr>
                        <a:t>token</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rPr>
                        <a:t>403</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rPr>
                        <a:t>200</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r>
              <a:tr h="0">
                <a:tc>
                  <a:txBody>
                    <a:bodyPr/>
                    <a:lstStyle/>
                    <a:p>
                      <a:pPr indent="0" marL="0">
                        <a:buNone/>
                      </a:pPr>
                      <a:r>
                        <a:rPr lang="en-US" sz="1500" dirty="0">
                          <a:solidFill>
                            <a:schemeClr val="tx1"/>
                          </a:solidFill>
                        </a:rPr>
                        <a:t>inventory-agent · class_a</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rPr>
                        <a:t>token</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rPr>
                        <a:t>200</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rPr>
                        <a:t>403</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r>
              <a:tr h="0">
                <a:tc>
                  <a:txBody>
                    <a:bodyPr/>
                    <a:lstStyle/>
                    <a:p>
                      <a:pPr indent="0" marL="0">
                        <a:buNone/>
                      </a:pPr>
                      <a:r>
                        <a:rPr lang="en-US" sz="1500" dirty="0">
                          <a:solidFill>
                            <a:schemeClr val="tx1"/>
                          </a:solidFill>
                        </a:rPr>
                        <a:t>restricted-agent · class_a</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6E3D3"/>
                    </a:solidFill>
                  </a:tcPr>
                </a:tc>
                <a:tc>
                  <a:txBody>
                    <a:bodyPr/>
                    <a:lstStyle/>
                    <a:p>
                      <a:pPr indent="0" marL="0">
                        <a:buNone/>
                      </a:pPr>
                      <a:r>
                        <a:rPr lang="en-US" sz="1500" dirty="0">
                          <a:solidFill>
                            <a:schemeClr val="tx1"/>
                          </a:solidFill>
                        </a:rPr>
                        <a:t>refused, 403</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6E3D3"/>
                    </a:solidFill>
                  </a:tcPr>
                </a:tc>
                <a:tc>
                  <a:txBody>
                    <a:bodyPr/>
                    <a:lstStyle/>
                    <a:p>
                      <a:pPr indent="0" marL="0">
                        <a:buNone/>
                      </a:pPr>
                      <a:r>
                        <a:rPr lang="en-US" sz="1500" dirty="0">
                          <a:solidFill>
                            <a:schemeClr val="tx1"/>
                          </a:solidFill>
                        </a:rPr>
                        <a:t>no token</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6E3D3"/>
                    </a:solidFill>
                  </a:tcPr>
                </a:tc>
                <a:tc>
                  <a:txBody>
                    <a:bodyPr/>
                    <a:lstStyle/>
                    <a:p>
                      <a:pPr indent="0" marL="0">
                        <a:buNone/>
                      </a:pPr>
                      <a:r>
                        <a:rPr lang="en-US" sz="1500" dirty="0">
                          <a:solidFill>
                            <a:schemeClr val="tx1"/>
                          </a:solidFill>
                        </a:rPr>
                        <a:t>no token</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6E3D3"/>
                    </a:solidFill>
                  </a:tcPr>
                </a:tc>
              </a:tr>
              <a:tr h="0">
                <a:tc>
                  <a:txBody>
                    <a:bodyPr/>
                    <a:lstStyle/>
                    <a:p>
                      <a:pPr indent="0" marL="0">
                        <a:buNone/>
                      </a:pPr>
                      <a:r>
                        <a:rPr lang="en-US" sz="1500" dirty="0">
                          <a:solidFill>
                            <a:schemeClr val="tx1"/>
                          </a:solidFill>
                        </a:rPr>
                        <a:t>restricted-agent · class_b</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rPr>
                        <a:t>token</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rPr>
                        <a:t>403</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rPr>
                        <a:t>200</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r>
            </a:tbl>
          </a:graphicData>
        </a:graphic>
      </p:graphicFrame>
      <p:sp>
        <p:nvSpPr>
          <p:cNvPr id="10" name="scope-note"/>
          <p:cNvSpPr txBox="1"/>
          <p:nvPr/>
        </p:nvSpPr>
        <p:spPr>
          <a:xfrm>
            <a:off x="548640" y="5257800"/>
            <a:ext cx="11064240" cy="731520"/>
          </a:xfrm>
          <a:prstGeom prst="rect">
            <a:avLst/>
          </a:prstGeom>
          <a:noFill/>
          <a:ln/>
        </p:spPr>
        <p:txBody>
          <a:bodyPr wrap="square" lIns="0" tIns="0" rIns="0" bIns="0" rtlCol="0" anchor="t"/>
          <a:lstStyle/>
          <a:p>
            <a:pPr indent="0" marL="0">
              <a:buNone/>
            </a:pPr>
            <a:r>
              <a:rPr lang="en-US" sz="1700" dirty="0">
                <a:solidFill>
                  <a:schemeClr val="tx2"/>
                </a:solidFill>
              </a:rPr>
              <a:t>The service requires </a:t>
            </a:r>
            <a:pPr indent="0" marL="0">
              <a:buNone/>
            </a:pPr>
            <a:r>
              <a:rPr lang="en-US" sz="1700" b="1" dirty="0">
                <a:solidFill>
                  <a:schemeClr val="tx1"/>
                </a:solidFill>
              </a:rPr>
              <a:t>token scope AND role</a:t>
            </a:r>
            <a:pPr indent="0" marL="0">
              <a:buNone/>
            </a:pPr>
            <a:r>
              <a:rPr lang="en-US" sz="1700" dirty="0">
                <a:solidFill>
                  <a:schemeClr val="tx2"/>
                </a:solidFill>
              </a:rPr>
              <a:t>. Scope only narrows: a class_b token can’t read class A, even for a role that could.</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F667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64240" cy="320040"/>
          </a:xfrm>
          <a:prstGeom prst="rect">
            <a:avLst/>
          </a:prstGeom>
          <a:noFill/>
          <a:ln/>
        </p:spPr>
        <p:txBody>
          <a:bodyPr wrap="square" lIns="0" tIns="0" rIns="0" bIns="0" rtlCol="0"/>
          <a:lstStyle/>
          <a:p>
            <a:pPr indent="0" marL="0">
              <a:buNone/>
            </a:pPr>
            <a:r>
              <a:rPr lang="en-US" sz="1400" b="1" dirty="0">
                <a:solidFill>
                  <a:schemeClr val="accent1"/>
                </a:solidFill>
                <a:latin typeface="Courier New" pitchFamily="34" charset="0"/>
                <a:ea typeface="Courier New" pitchFamily="34" charset="-122"/>
                <a:cs typeface="Courier New" pitchFamily="34" charset="-120"/>
              </a:rPr>
              <a:t>05.6 · TOKEN LIFECYCLE</a:t>
            </a:r>
            <a:endParaRPr lang="en-US" sz="1400" dirty="0"/>
          </a:p>
        </p:txBody>
      </p:sp>
      <p:sp>
        <p:nvSpPr>
          <p:cNvPr id="3" name="Text 0"/>
          <p:cNvSpPr/>
          <p:nvPr>
            <p:ph idx="101" type="title" hasCustomPrompt="1"/>
          </p:nvPr>
        </p:nvSpPr>
        <p:spPr>
          <a:xfrm>
            <a:off x="548640" y="731520"/>
            <a:ext cx="11064240" cy="731520"/>
          </a:xfrm>
          <a:prstGeom prst="rect">
            <a:avLst/>
          </a:prstGeom>
          <a:noFill/>
          <a:ln/>
        </p:spPr>
        <p:txBody>
          <a:bodyPr wrap="square" lIns="0" tIns="0" rIns="0" bIns="0" rtlCol="0" anchor="t"/>
          <a:lstStyle/>
          <a:p>
            <a:pPr indent="0" marL="0">
              <a:buNone/>
            </a:pPr>
            <a:r>
              <a:rPr lang="en-US" sz="3400" b="1" dirty="0">
                <a:solidFill>
                  <a:schemeClr val="tx1"/>
                </a:solidFill>
              </a:rPr>
              <a:t>Credentials have a lifecycle</a:t>
            </a:r>
            <a:endParaRPr lang="en-US" sz="3400" dirty="0"/>
          </a:p>
        </p:txBody>
      </p:sp>
      <p:sp>
        <p:nvSpPr>
          <p:cNvPr id="5" name="life-0-box"/>
          <p:cNvSpPr/>
          <p:nvPr/>
        </p:nvSpPr>
        <p:spPr>
          <a:xfrm>
            <a:off x="548640" y="1737360"/>
            <a:ext cx="3520440" cy="1325880"/>
          </a:xfrm>
          <a:prstGeom prst="roundRect">
            <a:avLst>
              <a:gd name="adj" fmla="val 6897"/>
            </a:avLst>
          </a:prstGeom>
          <a:solidFill>
            <a:schemeClr val="bg1"/>
          </a:solidFill>
          <a:ln w="12700">
            <a:solidFill>
              <a:schemeClr val="accent5"/>
            </a:solidFill>
            <a:prstDash val="solid"/>
          </a:ln>
        </p:spPr>
      </p:sp>
      <p:sp>
        <p:nvSpPr>
          <p:cNvPr id="6" name="life-0"/>
          <p:cNvSpPr txBox="1"/>
          <p:nvPr/>
        </p:nvSpPr>
        <p:spPr>
          <a:xfrm>
            <a:off x="777240" y="1920240"/>
            <a:ext cx="3063240" cy="960120"/>
          </a:xfrm>
          <a:prstGeom prst="rect">
            <a:avLst/>
          </a:prstGeom>
          <a:noFill/>
          <a:ln/>
        </p:spPr>
        <p:txBody>
          <a:bodyPr wrap="square" lIns="0" tIns="0" rIns="0" bIns="0" rtlCol="0" anchor="t"/>
          <a:lstStyle/>
          <a:p>
            <a:pPr indent="0" marL="0">
              <a:spcAft>
                <a:spcPts val="600"/>
              </a:spcAft>
              <a:buNone/>
            </a:pPr>
            <a:r>
              <a:rPr lang="en-US" sz="1800" b="1" dirty="0">
                <a:solidFill>
                  <a:schemeClr val="accent2"/>
                </a:solidFill>
              </a:rPr>
              <a:t>Reuse while fresh</a:t>
            </a:r>
            <a:endParaRPr lang="en-US" sz="1800" dirty="0"/>
          </a:p>
          <a:p>
            <a:pPr indent="0" marL="0">
              <a:spcAft>
                <a:spcPts val="600"/>
              </a:spcAft>
              <a:buNone/>
            </a:pPr>
            <a:r>
              <a:rPr lang="en-US" sz="1500" dirty="0">
                <a:solidFill>
                  <a:schemeClr val="tx2"/>
                </a:solidFill>
              </a:rPr>
              <a:t>10 inventory calls cost 1 issuer call.</a:t>
            </a:r>
            <a:endParaRPr lang="en-US" sz="1800" dirty="0"/>
          </a:p>
        </p:txBody>
      </p:sp>
      <p:sp>
        <p:nvSpPr>
          <p:cNvPr id="7" name="life-1-box"/>
          <p:cNvSpPr/>
          <p:nvPr/>
        </p:nvSpPr>
        <p:spPr>
          <a:xfrm>
            <a:off x="4320540" y="1737360"/>
            <a:ext cx="3520440" cy="1325880"/>
          </a:xfrm>
          <a:prstGeom prst="roundRect">
            <a:avLst>
              <a:gd name="adj" fmla="val 6897"/>
            </a:avLst>
          </a:prstGeom>
          <a:solidFill>
            <a:schemeClr val="bg1"/>
          </a:solidFill>
          <a:ln w="12700">
            <a:solidFill>
              <a:schemeClr val="accent5"/>
            </a:solidFill>
            <a:prstDash val="solid"/>
          </a:ln>
        </p:spPr>
      </p:sp>
      <p:sp>
        <p:nvSpPr>
          <p:cNvPr id="8" name="life-1"/>
          <p:cNvSpPr txBox="1"/>
          <p:nvPr/>
        </p:nvSpPr>
        <p:spPr>
          <a:xfrm>
            <a:off x="4549140" y="1920240"/>
            <a:ext cx="3063240" cy="960120"/>
          </a:xfrm>
          <a:prstGeom prst="rect">
            <a:avLst/>
          </a:prstGeom>
          <a:noFill/>
          <a:ln/>
        </p:spPr>
        <p:txBody>
          <a:bodyPr wrap="square" lIns="0" tIns="0" rIns="0" bIns="0" rtlCol="0" anchor="t"/>
          <a:lstStyle/>
          <a:p>
            <a:pPr indent="0" marL="0">
              <a:spcAft>
                <a:spcPts val="600"/>
              </a:spcAft>
              <a:buNone/>
            </a:pPr>
            <a:r>
              <a:rPr lang="en-US" sz="1800" b="1" dirty="0">
                <a:solidFill>
                  <a:schemeClr val="accent2"/>
                </a:solidFill>
              </a:rPr>
              <a:t>Renew early</a:t>
            </a:r>
            <a:endParaRPr lang="en-US" sz="1800" dirty="0"/>
          </a:p>
          <a:p>
            <a:pPr indent="0" marL="0">
              <a:spcAft>
                <a:spcPts val="600"/>
              </a:spcAft>
              <a:buNone/>
            </a:pPr>
            <a:r>
              <a:rPr lang="en-US" sz="1500" dirty="0">
                <a:solidFill>
                  <a:schemeClr val="tx2"/>
                </a:solidFill>
              </a:rPr>
              <a:t>At 30 s or less left, fetch a new token.</a:t>
            </a:r>
            <a:endParaRPr lang="en-US" sz="1800" dirty="0"/>
          </a:p>
        </p:txBody>
      </p:sp>
      <p:sp>
        <p:nvSpPr>
          <p:cNvPr id="9" name="life-2-box"/>
          <p:cNvSpPr/>
          <p:nvPr/>
        </p:nvSpPr>
        <p:spPr>
          <a:xfrm>
            <a:off x="8092440" y="1737360"/>
            <a:ext cx="3520440" cy="1325880"/>
          </a:xfrm>
          <a:prstGeom prst="roundRect">
            <a:avLst>
              <a:gd name="adj" fmla="val 6897"/>
            </a:avLst>
          </a:prstGeom>
          <a:solidFill>
            <a:schemeClr val="bg1"/>
          </a:solidFill>
          <a:ln w="12700">
            <a:solidFill>
              <a:schemeClr val="accent5"/>
            </a:solidFill>
            <a:prstDash val="solid"/>
          </a:ln>
        </p:spPr>
      </p:sp>
      <p:sp>
        <p:nvSpPr>
          <p:cNvPr id="10" name="life-2"/>
          <p:cNvSpPr txBox="1"/>
          <p:nvPr/>
        </p:nvSpPr>
        <p:spPr>
          <a:xfrm>
            <a:off x="8321040" y="1920240"/>
            <a:ext cx="3063240" cy="960120"/>
          </a:xfrm>
          <a:prstGeom prst="rect">
            <a:avLst/>
          </a:prstGeom>
          <a:noFill/>
          <a:ln/>
        </p:spPr>
        <p:txBody>
          <a:bodyPr wrap="square" lIns="0" tIns="0" rIns="0" bIns="0" rtlCol="0" anchor="t"/>
          <a:lstStyle/>
          <a:p>
            <a:pPr indent="0" marL="0">
              <a:spcAft>
                <a:spcPts val="600"/>
              </a:spcAft>
              <a:buNone/>
            </a:pPr>
            <a:r>
              <a:rPr lang="en-US" sz="1800" b="1" dirty="0">
                <a:solidFill>
                  <a:schemeClr val="accent2"/>
                </a:solidFill>
              </a:rPr>
              <a:t>One entry per scope</a:t>
            </a:r>
            <a:endParaRPr lang="en-US" sz="1800" dirty="0"/>
          </a:p>
          <a:p>
            <a:pPr indent="0" marL="0">
              <a:spcAft>
                <a:spcPts val="600"/>
              </a:spcAft>
              <a:buNone/>
            </a:pPr>
            <a:r>
              <a:rPr lang="en-US" sz="1500" dirty="0">
                <a:solidFill>
                  <a:schemeClr val="tx2"/>
                </a:solidFill>
              </a:rPr>
              <a:t>Keyed by issuer, client, secret fingerprint and scope.</a:t>
            </a:r>
            <a:endParaRPr lang="en-US" sz="1800" dirty="0"/>
          </a:p>
        </p:txBody>
      </p:sp>
      <p:sp>
        <p:nvSpPr>
          <p:cNvPr id="11" name="life-3-box"/>
          <p:cNvSpPr/>
          <p:nvPr/>
        </p:nvSpPr>
        <p:spPr>
          <a:xfrm>
            <a:off x="548640" y="3246120"/>
            <a:ext cx="3520440" cy="1325880"/>
          </a:xfrm>
          <a:prstGeom prst="roundRect">
            <a:avLst>
              <a:gd name="adj" fmla="val 6897"/>
            </a:avLst>
          </a:prstGeom>
          <a:solidFill>
            <a:schemeClr val="bg1"/>
          </a:solidFill>
          <a:ln w="12700">
            <a:solidFill>
              <a:schemeClr val="accent5"/>
            </a:solidFill>
            <a:prstDash val="solid"/>
          </a:ln>
        </p:spPr>
      </p:sp>
      <p:sp>
        <p:nvSpPr>
          <p:cNvPr id="12" name="life-3"/>
          <p:cNvSpPr txBox="1"/>
          <p:nvPr/>
        </p:nvSpPr>
        <p:spPr>
          <a:xfrm>
            <a:off x="777240" y="3429000"/>
            <a:ext cx="3063240" cy="960120"/>
          </a:xfrm>
          <a:prstGeom prst="rect">
            <a:avLst/>
          </a:prstGeom>
          <a:noFill/>
          <a:ln/>
        </p:spPr>
        <p:txBody>
          <a:bodyPr wrap="square" lIns="0" tIns="0" rIns="0" bIns="0" rtlCol="0" anchor="t"/>
          <a:lstStyle/>
          <a:p>
            <a:pPr indent="0" marL="0">
              <a:spcAft>
                <a:spcPts val="600"/>
              </a:spcAft>
              <a:buNone/>
            </a:pPr>
            <a:r>
              <a:rPr lang="en-US" sz="1800" b="1" dirty="0">
                <a:solidFill>
                  <a:schemeClr val="accent1"/>
                </a:solidFill>
              </a:rPr>
              <a:t>401 on a cached token</a:t>
            </a:r>
            <a:endParaRPr lang="en-US" sz="1800" dirty="0"/>
          </a:p>
          <a:p>
            <a:pPr indent="0" marL="0">
              <a:spcAft>
                <a:spcPts val="600"/>
              </a:spcAft>
              <a:buNone/>
            </a:pPr>
            <a:r>
              <a:rPr lang="en-US" sz="1500" dirty="0">
                <a:solidFill>
                  <a:schemeClr val="tx2"/>
                </a:solidFill>
              </a:rPr>
              <a:t>Discard, renew once, retry once. Then stop.</a:t>
            </a:r>
            <a:endParaRPr lang="en-US" sz="1800" dirty="0"/>
          </a:p>
        </p:txBody>
      </p:sp>
      <p:sp>
        <p:nvSpPr>
          <p:cNvPr id="13" name="life-4-box"/>
          <p:cNvSpPr/>
          <p:nvPr/>
        </p:nvSpPr>
        <p:spPr>
          <a:xfrm>
            <a:off x="4320540" y="3246120"/>
            <a:ext cx="3520440" cy="1325880"/>
          </a:xfrm>
          <a:prstGeom prst="roundRect">
            <a:avLst>
              <a:gd name="adj" fmla="val 6897"/>
            </a:avLst>
          </a:prstGeom>
          <a:solidFill>
            <a:schemeClr val="bg1"/>
          </a:solidFill>
          <a:ln w="12700">
            <a:solidFill>
              <a:schemeClr val="accent5"/>
            </a:solidFill>
            <a:prstDash val="solid"/>
          </a:ln>
        </p:spPr>
      </p:sp>
      <p:sp>
        <p:nvSpPr>
          <p:cNvPr id="14" name="life-4"/>
          <p:cNvSpPr txBox="1"/>
          <p:nvPr/>
        </p:nvSpPr>
        <p:spPr>
          <a:xfrm>
            <a:off x="4549140" y="3429000"/>
            <a:ext cx="3063240" cy="960120"/>
          </a:xfrm>
          <a:prstGeom prst="rect">
            <a:avLst/>
          </a:prstGeom>
          <a:noFill/>
          <a:ln/>
        </p:spPr>
        <p:txBody>
          <a:bodyPr wrap="square" lIns="0" tIns="0" rIns="0" bIns="0" rtlCol="0" anchor="t"/>
          <a:lstStyle/>
          <a:p>
            <a:pPr indent="0" marL="0">
              <a:spcAft>
                <a:spcPts val="600"/>
              </a:spcAft>
              <a:buNone/>
            </a:pPr>
            <a:r>
              <a:rPr lang="en-US" sz="1800" b="1" dirty="0">
                <a:solidFill>
                  <a:schemeClr val="accent1"/>
                </a:solidFill>
              </a:rPr>
              <a:t>403 is never retried</a:t>
            </a:r>
            <a:endParaRPr lang="en-US" sz="1800" dirty="0"/>
          </a:p>
          <a:p>
            <a:pPr indent="0" marL="0">
              <a:spcAft>
                <a:spcPts val="600"/>
              </a:spcAft>
              <a:buNone/>
            </a:pPr>
            <a:r>
              <a:rPr lang="en-US" sz="1500" dirty="0">
                <a:solidFill>
                  <a:schemeClr val="tx2"/>
                </a:solidFill>
              </a:rPr>
              <a:t>A fresh token with the same scope can’t fix it.</a:t>
            </a:r>
            <a:endParaRPr lang="en-US" sz="1800" dirty="0"/>
          </a:p>
        </p:txBody>
      </p:sp>
      <p:sp>
        <p:nvSpPr>
          <p:cNvPr id="15" name="life-5-box"/>
          <p:cNvSpPr/>
          <p:nvPr/>
        </p:nvSpPr>
        <p:spPr>
          <a:xfrm>
            <a:off x="8092440" y="3246120"/>
            <a:ext cx="3520440" cy="1325880"/>
          </a:xfrm>
          <a:prstGeom prst="roundRect">
            <a:avLst>
              <a:gd name="adj" fmla="val 6897"/>
            </a:avLst>
          </a:prstGeom>
          <a:solidFill>
            <a:schemeClr val="bg1"/>
          </a:solidFill>
          <a:ln w="12700">
            <a:solidFill>
              <a:schemeClr val="accent5"/>
            </a:solidFill>
            <a:prstDash val="solid"/>
          </a:ln>
        </p:spPr>
      </p:sp>
      <p:sp>
        <p:nvSpPr>
          <p:cNvPr id="16" name="life-5"/>
          <p:cNvSpPr txBox="1"/>
          <p:nvPr/>
        </p:nvSpPr>
        <p:spPr>
          <a:xfrm>
            <a:off x="8321040" y="3429000"/>
            <a:ext cx="3063240" cy="960120"/>
          </a:xfrm>
          <a:prstGeom prst="rect">
            <a:avLst/>
          </a:prstGeom>
          <a:noFill/>
          <a:ln/>
        </p:spPr>
        <p:txBody>
          <a:bodyPr wrap="square" lIns="0" tIns="0" rIns="0" bIns="0" rtlCol="0" anchor="t"/>
          <a:lstStyle/>
          <a:p>
            <a:pPr indent="0" marL="0">
              <a:spcAft>
                <a:spcPts val="600"/>
              </a:spcAft>
              <a:buNone/>
            </a:pPr>
            <a:r>
              <a:rPr lang="en-US" sz="1800" b="1" dirty="0">
                <a:solidFill>
                  <a:schemeClr val="accent1"/>
                </a:solidFill>
              </a:rPr>
              <a:t>Issuer down</a:t>
            </a:r>
            <a:endParaRPr lang="en-US" sz="1800" dirty="0"/>
          </a:p>
          <a:p>
            <a:pPr indent="0" marL="0">
              <a:spcAft>
                <a:spcPts val="600"/>
              </a:spcAft>
              <a:buNone/>
            </a:pPr>
            <a:r>
              <a:rPr lang="en-US" sz="1500" dirty="0">
                <a:solidFill>
                  <a:schemeClr val="tx2"/>
                </a:solidFill>
              </a:rPr>
              <a:t>A valid cached token still works. An expired one fails closed.</a:t>
            </a:r>
            <a:endParaRPr lang="en-US" sz="1800" dirty="0"/>
          </a:p>
        </p:txBody>
      </p:sp>
      <p:sp>
        <p:nvSpPr>
          <p:cNvPr id="17" name="life-note"/>
          <p:cNvSpPr txBox="1"/>
          <p:nvPr/>
        </p:nvSpPr>
        <p:spPr>
          <a:xfrm>
            <a:off x="548640" y="4892040"/>
            <a:ext cx="11064240" cy="731520"/>
          </a:xfrm>
          <a:prstGeom prst="rect">
            <a:avLst/>
          </a:prstGeom>
          <a:noFill/>
          <a:ln/>
        </p:spPr>
        <p:txBody>
          <a:bodyPr wrap="square" lIns="0" tIns="0" rIns="0" bIns="0" rtlCol="0" anchor="t"/>
          <a:lstStyle/>
          <a:p>
            <a:pPr indent="0" marL="0">
              <a:buNone/>
            </a:pPr>
            <a:r>
              <a:rPr lang="en-US" sz="1600" dirty="0">
                <a:solidFill>
                  <a:schemeClr val="tx2"/>
                </a:solidFill>
              </a:rPr>
              <a:t>Expiry comes from expires_in on a monotonic clock. The agent never decodes the JWT. No refresh tokens: renewal re-authenticates with client credentials.</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F667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64240" cy="320040"/>
          </a:xfrm>
          <a:prstGeom prst="rect">
            <a:avLst/>
          </a:prstGeom>
          <a:noFill/>
          <a:ln/>
        </p:spPr>
        <p:txBody>
          <a:bodyPr wrap="square" lIns="0" tIns="0" rIns="0" bIns="0" rtlCol="0"/>
          <a:lstStyle/>
          <a:p>
            <a:pPr indent="0" marL="0">
              <a:buNone/>
            </a:pPr>
            <a:r>
              <a:rPr lang="en-US" sz="1400" b="1" dirty="0">
                <a:solidFill>
                  <a:schemeClr val="accent1"/>
                </a:solidFill>
                <a:latin typeface="Courier New" pitchFamily="34" charset="0"/>
                <a:ea typeface="Courier New" pitchFamily="34" charset="-122"/>
                <a:cs typeface="Courier New" pitchFamily="34" charset="-120"/>
              </a:rPr>
              <a:t>05.7 · REVOCATION · DISCUSSED, SKIPPED</a:t>
            </a:r>
            <a:endParaRPr lang="en-US" sz="1400" dirty="0"/>
          </a:p>
        </p:txBody>
      </p:sp>
      <p:sp>
        <p:nvSpPr>
          <p:cNvPr id="3" name="Text 0"/>
          <p:cNvSpPr/>
          <p:nvPr>
            <p:ph idx="101" type="title" hasCustomPrompt="1"/>
          </p:nvPr>
        </p:nvSpPr>
        <p:spPr>
          <a:xfrm>
            <a:off x="548640" y="731520"/>
            <a:ext cx="11064240" cy="731520"/>
          </a:xfrm>
          <a:prstGeom prst="rect">
            <a:avLst/>
          </a:prstGeom>
          <a:noFill/>
          <a:ln/>
        </p:spPr>
        <p:txBody>
          <a:bodyPr wrap="square" lIns="0" tIns="0" rIns="0" bIns="0" rtlCol="0" anchor="t"/>
          <a:lstStyle/>
          <a:p>
            <a:pPr indent="0" marL="0">
              <a:buNone/>
            </a:pPr>
            <a:r>
              <a:rPr lang="en-US" sz="3400" b="1" dirty="0">
                <a:solidFill>
                  <a:schemeClr val="tx1"/>
                </a:solidFill>
              </a:rPr>
              <a:t>Revocation: a deliberate gap</a:t>
            </a:r>
            <a:endParaRPr lang="en-US" sz="3400" dirty="0"/>
          </a:p>
        </p:txBody>
      </p:sp>
      <p:sp>
        <p:nvSpPr>
          <p:cNvPr id="5" name="why-skip-box"/>
          <p:cNvSpPr/>
          <p:nvPr/>
        </p:nvSpPr>
        <p:spPr>
          <a:xfrm>
            <a:off x="548640" y="1737360"/>
            <a:ext cx="5394960" cy="2651760"/>
          </a:xfrm>
          <a:prstGeom prst="roundRect">
            <a:avLst>
              <a:gd name="adj" fmla="val 3448"/>
            </a:avLst>
          </a:prstGeom>
          <a:solidFill>
            <a:srgbClr val="F6E3D3"/>
          </a:solidFill>
          <a:ln w="12700">
            <a:solidFill>
              <a:srgbClr val="F6E3D3"/>
            </a:solidFill>
            <a:prstDash val="solid"/>
          </a:ln>
        </p:spPr>
      </p:sp>
      <p:sp>
        <p:nvSpPr>
          <p:cNvPr id="6" name="why-skip"/>
          <p:cNvSpPr txBox="1"/>
          <p:nvPr/>
        </p:nvSpPr>
        <p:spPr>
          <a:xfrm>
            <a:off x="777240" y="1920240"/>
            <a:ext cx="4937760" cy="2286000"/>
          </a:xfrm>
          <a:prstGeom prst="rect">
            <a:avLst/>
          </a:prstGeom>
          <a:noFill/>
          <a:ln/>
        </p:spPr>
        <p:txBody>
          <a:bodyPr wrap="square" lIns="0" tIns="0" rIns="0" bIns="0" rtlCol="0" anchor="t"/>
          <a:lstStyle/>
          <a:p>
            <a:pPr indent="0" marL="0">
              <a:spcAft>
                <a:spcPts val="600"/>
              </a:spcAft>
              <a:buNone/>
            </a:pPr>
            <a:r>
              <a:rPr lang="en-US" sz="1800" b="1" dirty="0">
                <a:solidFill>
                  <a:schemeClr val="tx1"/>
                </a:solidFill>
              </a:rPr>
              <a:t>Why we skipped it</a:t>
            </a:r>
            <a:endParaRPr lang="en-US" sz="1800" dirty="0"/>
          </a:p>
          <a:p>
            <a:pPr indent="0" marL="0">
              <a:spcAft>
                <a:spcPts val="600"/>
              </a:spcAft>
              <a:buNone/>
            </a:pPr>
            <a:r>
              <a:rPr lang="en-US" sz="1500" dirty="0">
                <a:solidFill>
                  <a:schemeClr val="tx2"/>
                </a:solidFill>
              </a:rPr>
              <a:t>A JWT is verified offline: no database, no call home.</a:t>
            </a:r>
            <a:endParaRPr lang="en-US" sz="1800" dirty="0"/>
          </a:p>
          <a:p>
            <a:pPr indent="0" marL="0">
              <a:spcAft>
                <a:spcPts val="600"/>
              </a:spcAft>
              <a:buNone/>
            </a:pPr>
            <a:r>
              <a:rPr lang="en-US" sz="1500" dirty="0">
                <a:solidFill>
                  <a:schemeClr val="tx2"/>
                </a:solidFill>
              </a:rPr>
              <a:t>Killing one token before exp needs shared state, like a jti denylist or token introspection, and that gives the property up.</a:t>
            </a:r>
            <a:endParaRPr lang="en-US" sz="1800" dirty="0"/>
          </a:p>
        </p:txBody>
      </p:sp>
      <p:sp>
        <p:nvSpPr>
          <p:cNvPr id="7" name="mitigation-box"/>
          <p:cNvSpPr/>
          <p:nvPr/>
        </p:nvSpPr>
        <p:spPr>
          <a:xfrm>
            <a:off x="6217920" y="1737360"/>
            <a:ext cx="5394960" cy="2651760"/>
          </a:xfrm>
          <a:prstGeom prst="roundRect">
            <a:avLst>
              <a:gd name="adj" fmla="val 3448"/>
            </a:avLst>
          </a:prstGeom>
          <a:solidFill>
            <a:srgbClr val="DCE8F5"/>
          </a:solidFill>
          <a:ln w="12700">
            <a:solidFill>
              <a:srgbClr val="DCE8F5"/>
            </a:solidFill>
            <a:prstDash val="solid"/>
          </a:ln>
        </p:spPr>
      </p:sp>
      <p:sp>
        <p:nvSpPr>
          <p:cNvPr id="8" name="mitigation"/>
          <p:cNvSpPr txBox="1"/>
          <p:nvPr/>
        </p:nvSpPr>
        <p:spPr>
          <a:xfrm>
            <a:off x="6446520" y="1920240"/>
            <a:ext cx="4937760" cy="2286000"/>
          </a:xfrm>
          <a:prstGeom prst="rect">
            <a:avLst/>
          </a:prstGeom>
          <a:noFill/>
          <a:ln/>
        </p:spPr>
        <p:txBody>
          <a:bodyPr wrap="square" lIns="0" tIns="0" rIns="0" bIns="0" rtlCol="0" anchor="t"/>
          <a:lstStyle/>
          <a:p>
            <a:pPr indent="0" marL="0">
              <a:spcAft>
                <a:spcPts val="600"/>
              </a:spcAft>
              <a:buNone/>
            </a:pPr>
            <a:r>
              <a:rPr lang="en-US" sz="1800" b="1" dirty="0">
                <a:solidFill>
                  <a:schemeClr val="tx1"/>
                </a:solidFill>
              </a:rPr>
              <a:t>What limits the damage today</a:t>
            </a:r>
            <a:endParaRPr lang="en-US" sz="1800" dirty="0"/>
          </a:p>
          <a:p>
            <a:pPr indent="0" marL="0">
              <a:spcAft>
                <a:spcPts val="600"/>
              </a:spcAft>
              <a:buNone/>
            </a:pPr>
            <a:r>
              <a:rPr lang="en-US" sz="1500" dirty="0">
                <a:solidFill>
                  <a:schemeClr val="tx2"/>
                </a:solidFill>
              </a:rPr>
              <a:t>5-minute lifetimes bound a stolen token.</a:t>
            </a:r>
            <a:endParaRPr lang="en-US" sz="1800" dirty="0"/>
          </a:p>
          <a:p>
            <a:pPr indent="0" marL="0">
              <a:spcAft>
                <a:spcPts val="600"/>
              </a:spcAft>
              <a:buNone/>
            </a:pPr>
            <a:r>
              <a:rPr lang="en-US" sz="1500" dirty="0">
                <a:solidFill>
                  <a:schemeClr val="tx2"/>
                </a:solidFill>
              </a:rPr>
              <a:t>Retiring a signing key (05.8) kills every token it signed.</a:t>
            </a:r>
            <a:endParaRPr lang="en-US" sz="1800" dirty="0"/>
          </a:p>
          <a:p>
            <a:pPr indent="0" marL="0">
              <a:spcAft>
                <a:spcPts val="600"/>
              </a:spcAft>
              <a:buNone/>
            </a:pPr>
            <a:r>
              <a:rPr lang="en-US" sz="1500" dirty="0">
                <a:solidFill>
                  <a:schemeClr val="tx2"/>
                </a:solidFill>
              </a:rPr>
              <a:t>Removing a client from the issuer’s registry stops new tokens.</a:t>
            </a:r>
            <a:endParaRPr lang="en-US" sz="1800" dirty="0"/>
          </a:p>
        </p:txBody>
      </p:sp>
      <p:sp>
        <p:nvSpPr>
          <p:cNvPr id="9" name="revisit"/>
          <p:cNvSpPr txBox="1"/>
          <p:nvPr/>
        </p:nvSpPr>
        <p:spPr>
          <a:xfrm>
            <a:off x="548640" y="4754880"/>
            <a:ext cx="11064240" cy="731520"/>
          </a:xfrm>
          <a:prstGeom prst="rect">
            <a:avLst/>
          </a:prstGeom>
          <a:noFill/>
          <a:ln/>
        </p:spPr>
        <p:txBody>
          <a:bodyPr wrap="square" lIns="0" tIns="0" rIns="0" bIns="0" rtlCol="0" anchor="t"/>
          <a:lstStyle/>
          <a:p>
            <a:pPr indent="0" marL="0">
              <a:buNone/>
            </a:pPr>
            <a:r>
              <a:rPr lang="en-US" sz="1800" b="1" dirty="0">
                <a:solidFill>
                  <a:schemeClr val="tx1"/>
                </a:solidFill>
              </a:rPr>
              <a:t>Revisit when </a:t>
            </a:r>
            <a:pPr indent="0" marL="0">
              <a:buNone/>
            </a:pPr>
            <a:r>
              <a:rPr lang="en-US" sz="1800" dirty="0">
                <a:solidFill>
                  <a:schemeClr val="tx1"/>
                </a:solidFill>
              </a:rPr>
              <a:t>a stolen token must die in seconds: add jti plus a denylist, or short tokens plus introspection.</a:t>
            </a:r>
            <a:endParaRPr lang="en-US" sz="18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F667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64240" cy="320040"/>
          </a:xfrm>
          <a:prstGeom prst="rect">
            <a:avLst/>
          </a:prstGeom>
          <a:noFill/>
          <a:ln/>
        </p:spPr>
        <p:txBody>
          <a:bodyPr wrap="square" lIns="0" tIns="0" rIns="0" bIns="0" rtlCol="0"/>
          <a:lstStyle/>
          <a:p>
            <a:pPr indent="0" marL="0">
              <a:buNone/>
            </a:pPr>
            <a:r>
              <a:rPr lang="en-US" sz="1400" b="1" dirty="0">
                <a:solidFill>
                  <a:schemeClr val="accent1"/>
                </a:solidFill>
                <a:latin typeface="Courier New" pitchFamily="34" charset="0"/>
                <a:ea typeface="Courier New" pitchFamily="34" charset="-122"/>
                <a:cs typeface="Courier New" pitchFamily="34" charset="-120"/>
              </a:rPr>
              <a:t>05.8 · SIGNING-KEY ROTATION</a:t>
            </a:r>
            <a:endParaRPr lang="en-US" sz="1400" dirty="0"/>
          </a:p>
        </p:txBody>
      </p:sp>
      <p:sp>
        <p:nvSpPr>
          <p:cNvPr id="3" name="Text 0"/>
          <p:cNvSpPr/>
          <p:nvPr>
            <p:ph idx="101" type="title" hasCustomPrompt="1"/>
          </p:nvPr>
        </p:nvSpPr>
        <p:spPr>
          <a:xfrm>
            <a:off x="548640" y="731520"/>
            <a:ext cx="11064240" cy="731520"/>
          </a:xfrm>
          <a:prstGeom prst="rect">
            <a:avLst/>
          </a:prstGeom>
          <a:noFill/>
          <a:ln/>
        </p:spPr>
        <p:txBody>
          <a:bodyPr wrap="square" lIns="0" tIns="0" rIns="0" bIns="0" rtlCol="0" anchor="t"/>
          <a:lstStyle/>
          <a:p>
            <a:pPr indent="0" marL="0">
              <a:buNone/>
            </a:pPr>
            <a:r>
              <a:rPr lang="en-US" sz="3400" b="1" dirty="0">
                <a:solidFill>
                  <a:schemeClr val="tx1"/>
                </a:solidFill>
              </a:rPr>
              <a:t>Rotate keys by config, in the right order</a:t>
            </a:r>
            <a:endParaRPr lang="en-US" sz="3400" dirty="0"/>
          </a:p>
        </p:txBody>
      </p:sp>
      <p:sp>
        <p:nvSpPr>
          <p:cNvPr id="5" name="step-0-box"/>
          <p:cNvSpPr/>
          <p:nvPr/>
        </p:nvSpPr>
        <p:spPr>
          <a:xfrm>
            <a:off x="548640" y="1691640"/>
            <a:ext cx="3200400" cy="1097280"/>
          </a:xfrm>
          <a:prstGeom prst="roundRect">
            <a:avLst>
              <a:gd name="adj" fmla="val 8333"/>
            </a:avLst>
          </a:prstGeom>
          <a:solidFill>
            <a:schemeClr val="bg1"/>
          </a:solidFill>
          <a:ln w="19050">
            <a:solidFill>
              <a:schemeClr val="tx1"/>
            </a:solidFill>
            <a:prstDash val="solid"/>
          </a:ln>
        </p:spPr>
      </p:sp>
      <p:sp>
        <p:nvSpPr>
          <p:cNvPr id="6" name="step-0"/>
          <p:cNvSpPr txBox="1"/>
          <p:nvPr/>
        </p:nvSpPr>
        <p:spPr>
          <a:xfrm>
            <a:off x="731520" y="1783080"/>
            <a:ext cx="2834640" cy="914400"/>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STEP 1</a:t>
            </a:r>
            <a:endParaRPr lang="en-US" sz="1300" dirty="0"/>
          </a:p>
          <a:p>
            <a:pPr indent="0" marL="0">
              <a:buNone/>
            </a:pPr>
            <a:r>
              <a:rPr lang="en-US" sz="1700" b="1" dirty="0">
                <a:solidFill>
                  <a:schemeClr val="tx1"/>
                </a:solidFill>
              </a:rPr>
              <a:t>Service trusts key-1 + key-2</a:t>
            </a:r>
            <a:endParaRPr lang="en-US" sz="1300" dirty="0"/>
          </a:p>
        </p:txBody>
      </p:sp>
      <p:sp>
        <p:nvSpPr>
          <p:cNvPr id="7" name="step-arrow-0"/>
          <p:cNvSpPr/>
          <p:nvPr/>
        </p:nvSpPr>
        <p:spPr>
          <a:xfrm>
            <a:off x="3840480" y="2103120"/>
            <a:ext cx="457200" cy="274320"/>
          </a:xfrm>
          <a:prstGeom prst="rightArrow">
            <a:avLst/>
          </a:prstGeom>
          <a:solidFill>
            <a:schemeClr val="tx1"/>
          </a:solidFill>
          <a:ln w="12700">
            <a:solidFill>
              <a:schemeClr val="tx1"/>
            </a:solidFill>
            <a:prstDash val="solid"/>
          </a:ln>
        </p:spPr>
      </p:sp>
      <p:sp>
        <p:nvSpPr>
          <p:cNvPr id="8" name="step-1-box"/>
          <p:cNvSpPr/>
          <p:nvPr/>
        </p:nvSpPr>
        <p:spPr>
          <a:xfrm>
            <a:off x="4389120" y="1691640"/>
            <a:ext cx="3200400" cy="1097280"/>
          </a:xfrm>
          <a:prstGeom prst="roundRect">
            <a:avLst>
              <a:gd name="adj" fmla="val 8333"/>
            </a:avLst>
          </a:prstGeom>
          <a:solidFill>
            <a:schemeClr val="bg1"/>
          </a:solidFill>
          <a:ln w="19050">
            <a:solidFill>
              <a:schemeClr val="tx1"/>
            </a:solidFill>
            <a:prstDash val="solid"/>
          </a:ln>
        </p:spPr>
      </p:sp>
      <p:sp>
        <p:nvSpPr>
          <p:cNvPr id="9" name="step-1"/>
          <p:cNvSpPr txBox="1"/>
          <p:nvPr/>
        </p:nvSpPr>
        <p:spPr>
          <a:xfrm>
            <a:off x="4572000" y="1783080"/>
            <a:ext cx="2834640" cy="914400"/>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STEP 2</a:t>
            </a:r>
            <a:endParaRPr lang="en-US" sz="1300" dirty="0"/>
          </a:p>
          <a:p>
            <a:pPr indent="0" marL="0">
              <a:buNone/>
            </a:pPr>
            <a:r>
              <a:rPr lang="en-US" sz="1700" b="1" dirty="0">
                <a:solidFill>
                  <a:schemeClr val="tx1"/>
                </a:solidFill>
              </a:rPr>
              <a:t>Issuer signs with key-2</a:t>
            </a:r>
            <a:endParaRPr lang="en-US" sz="1300" dirty="0"/>
          </a:p>
        </p:txBody>
      </p:sp>
      <p:sp>
        <p:nvSpPr>
          <p:cNvPr id="10" name="step-arrow-1"/>
          <p:cNvSpPr/>
          <p:nvPr/>
        </p:nvSpPr>
        <p:spPr>
          <a:xfrm>
            <a:off x="7680960" y="2103120"/>
            <a:ext cx="457200" cy="274320"/>
          </a:xfrm>
          <a:prstGeom prst="rightArrow">
            <a:avLst/>
          </a:prstGeom>
          <a:solidFill>
            <a:schemeClr val="tx1"/>
          </a:solidFill>
          <a:ln w="12700">
            <a:solidFill>
              <a:schemeClr val="tx1"/>
            </a:solidFill>
            <a:prstDash val="solid"/>
          </a:ln>
        </p:spPr>
      </p:sp>
      <p:sp>
        <p:nvSpPr>
          <p:cNvPr id="11" name="step-2-box"/>
          <p:cNvSpPr/>
          <p:nvPr/>
        </p:nvSpPr>
        <p:spPr>
          <a:xfrm>
            <a:off x="8229600" y="1691640"/>
            <a:ext cx="3200400" cy="1097280"/>
          </a:xfrm>
          <a:prstGeom prst="roundRect">
            <a:avLst>
              <a:gd name="adj" fmla="val 8333"/>
            </a:avLst>
          </a:prstGeom>
          <a:solidFill>
            <a:schemeClr val="bg1"/>
          </a:solidFill>
          <a:ln w="19050">
            <a:solidFill>
              <a:schemeClr val="tx1"/>
            </a:solidFill>
            <a:prstDash val="solid"/>
          </a:ln>
        </p:spPr>
      </p:sp>
      <p:sp>
        <p:nvSpPr>
          <p:cNvPr id="12" name="step-2"/>
          <p:cNvSpPr txBox="1"/>
          <p:nvPr/>
        </p:nvSpPr>
        <p:spPr>
          <a:xfrm>
            <a:off x="8412480" y="1783080"/>
            <a:ext cx="2834640" cy="914400"/>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STEP 3</a:t>
            </a:r>
            <a:endParaRPr lang="en-US" sz="1300" dirty="0"/>
          </a:p>
          <a:p>
            <a:pPr indent="0" marL="0">
              <a:buNone/>
            </a:pPr>
            <a:r>
              <a:rPr lang="en-US" sz="1700" b="1" dirty="0">
                <a:solidFill>
                  <a:schemeClr val="tx1"/>
                </a:solidFill>
              </a:rPr>
              <a:t>Service retires key-1</a:t>
            </a:r>
            <a:endParaRPr lang="en-US" sz="1300" dirty="0"/>
          </a:p>
        </p:txBody>
      </p:sp>
      <p:graphicFrame>
        <p:nvGraphicFramePr>
          <p:cNvPr id="13" name="rotation-table"/>
          <p:cNvGraphicFramePr>
            <a:graphicFrameLocks noGrp="1"/>
          </p:cNvGraphicFramePr>
          <p:nvPr>
            <p:extLst>
              <p:ext uri="{D42A27DB-BD31-4B8C-83A1-F6EECF244321}">
                <p14:modId xmlns:p14="http://schemas.microsoft.com/office/powerpoint/2010/main" val="1579011935"/>
              </p:ext>
            </p:extLst>
          </p:nvPr>
        </p:nvGraphicFramePr>
        <p:xfrm>
          <a:off x="548640" y="3063240"/>
          <a:ext cx="11064240" cy="914400"/>
        </p:xfrm>
        <a:graphic>
          <a:graphicData uri="http://schemas.openxmlformats.org/drawingml/2006/table">
            <a:tbl>
              <a:tblPr/>
              <a:tblGrid>
                <a:gridCol w="3657600"/>
                <a:gridCol w="3703320"/>
                <a:gridCol w="3703320"/>
              </a:tblGrid>
              <a:tr h="0">
                <a:tc>
                  <a:txBody>
                    <a:bodyPr/>
                    <a:lstStyle/>
                    <a:p>
                      <a:pPr indent="0" marL="0">
                        <a:buNone/>
                      </a:pPr>
                      <a:r>
                        <a:rPr lang="en-US" sz="1500" b="1" dirty="0">
                          <a:solidFill>
                            <a:schemeClr val="tx1"/>
                          </a:solidFill>
                        </a:rPr>
                        <a:t>Phase</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EEF1F5"/>
                    </a:solidFill>
                  </a:tcPr>
                </a:tc>
                <a:tc>
                  <a:txBody>
                    <a:bodyPr/>
                    <a:lstStyle/>
                    <a:p>
                      <a:pPr indent="0" marL="0">
                        <a:buNone/>
                      </a:pPr>
                      <a:r>
                        <a:rPr lang="en-US" sz="1500" b="1" dirty="0">
                          <a:solidFill>
                            <a:schemeClr val="tx1"/>
                          </a:solidFill>
                        </a:rPr>
                        <a:t>Saved key-1 token</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EEF1F5"/>
                    </a:solidFill>
                  </a:tcPr>
                </a:tc>
                <a:tc>
                  <a:txBody>
                    <a:bodyPr/>
                    <a:lstStyle/>
                    <a:p>
                      <a:pPr indent="0" marL="0">
                        <a:buNone/>
                      </a:pPr>
                      <a:r>
                        <a:rPr lang="en-US" sz="1500" b="1" dirty="0">
                          <a:solidFill>
                            <a:schemeClr val="tx1"/>
                          </a:solidFill>
                        </a:rPr>
                        <a:t>Fresh token</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EEF1F5"/>
                    </a:solidFill>
                  </a:tcPr>
                </a:tc>
              </a:tr>
              <a:tr h="0">
                <a:tc>
                  <a:txBody>
                    <a:bodyPr/>
                    <a:lstStyle/>
                    <a:p>
                      <a:pPr indent="0" marL="0">
                        <a:buNone/>
                      </a:pPr>
                      <a:r>
                        <a:rPr lang="en-US" sz="1500" dirty="0">
                          <a:solidFill>
                            <a:schemeClr val="tx1"/>
                          </a:solidFill>
                        </a:rPr>
                        <a:t>key-1 only</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rPr>
                        <a:t>not saved yet</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rPr>
                        <a:t>key-1 → 200</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r>
              <a:tr h="0">
                <a:tc>
                  <a:txBody>
                    <a:bodyPr/>
                    <a:lstStyle/>
                    <a:p>
                      <a:pPr indent="0" marL="0">
                        <a:buNone/>
                      </a:pPr>
                      <a:r>
                        <a:rPr lang="en-US" sz="1500" dirty="0">
                          <a:solidFill>
                            <a:schemeClr val="tx1"/>
                          </a:solidFill>
                        </a:rPr>
                        <a:t>Overlap</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rPr>
                        <a:t>200</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rPr>
                        <a:t>key-2 → 200</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r>
              <a:tr h="0">
                <a:tc>
                  <a:txBody>
                    <a:bodyPr/>
                    <a:lstStyle/>
                    <a:p>
                      <a:pPr indent="0" marL="0">
                        <a:buNone/>
                      </a:pPr>
                      <a:r>
                        <a:rPr lang="en-US" sz="1500" dirty="0">
                          <a:solidFill>
                            <a:schemeClr val="tx1"/>
                          </a:solidFill>
                        </a:rPr>
                        <a:t>key-1 retired</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6E3D3"/>
                    </a:solidFill>
                  </a:tcPr>
                </a:tc>
                <a:tc>
                  <a:txBody>
                    <a:bodyPr/>
                    <a:lstStyle/>
                    <a:p>
                      <a:pPr indent="0" marL="0">
                        <a:buNone/>
                      </a:pPr>
                      <a:r>
                        <a:rPr lang="en-US" sz="1500" dirty="0">
                          <a:solidFill>
                            <a:schemeClr val="tx1"/>
                          </a:solidFill>
                        </a:rPr>
                        <a:t>401, unknown kid</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6E3D3"/>
                    </a:solidFill>
                  </a:tcPr>
                </a:tc>
                <a:tc>
                  <a:txBody>
                    <a:bodyPr/>
                    <a:lstStyle/>
                    <a:p>
                      <a:pPr indent="0" marL="0">
                        <a:buNone/>
                      </a:pPr>
                      <a:r>
                        <a:rPr lang="en-US" sz="1500" dirty="0">
                          <a:solidFill>
                            <a:schemeClr val="tx1"/>
                          </a:solidFill>
                        </a:rPr>
                        <a:t>key-2 → 200</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6E3D3"/>
                    </a:solidFill>
                  </a:tcPr>
                </a:tc>
              </a:tr>
            </a:tbl>
          </a:graphicData>
        </a:graphic>
      </p:graphicFrame>
      <p:sp>
        <p:nvSpPr>
          <p:cNvPr id="14" name="kid"/>
          <p:cNvSpPr txBox="1"/>
          <p:nvPr/>
        </p:nvSpPr>
        <p:spPr>
          <a:xfrm>
            <a:off x="548640" y="4983480"/>
            <a:ext cx="5394960" cy="822960"/>
          </a:xfrm>
          <a:prstGeom prst="rect">
            <a:avLst/>
          </a:prstGeom>
          <a:noFill/>
          <a:ln/>
        </p:spPr>
        <p:txBody>
          <a:bodyPr wrap="square" lIns="0" tIns="0" rIns="0" bIns="0" rtlCol="0" anchor="t"/>
          <a:lstStyle/>
          <a:p>
            <a:pPr indent="0" marL="0">
              <a:buNone/>
            </a:pPr>
            <a:r>
              <a:rPr lang="en-US" sz="1600" b="1" dirty="0">
                <a:solidFill>
                  <a:schemeClr val="tx1"/>
                </a:solidFill>
              </a:rPr>
              <a:t>kid selects a key; it never authenticates. </a:t>
            </a:r>
            <a:pPr indent="0" marL="0">
              <a:buNone/>
            </a:pPr>
            <a:r>
              <a:rPr lang="en-US" sz="1600" dirty="0">
                <a:solidFill>
                  <a:schemeClr val="tx2"/>
                </a:solidFill>
              </a:rPr>
              <a:t>Missing, unknown or mismatched kid → 401.</a:t>
            </a:r>
            <a:endParaRPr lang="en-US" sz="1600" dirty="0"/>
          </a:p>
        </p:txBody>
      </p:sp>
      <p:sp>
        <p:nvSpPr>
          <p:cNvPr id="15" name="order-lesson"/>
          <p:cNvSpPr txBox="1"/>
          <p:nvPr/>
        </p:nvSpPr>
        <p:spPr>
          <a:xfrm>
            <a:off x="6217920" y="4983480"/>
            <a:ext cx="5394960" cy="822960"/>
          </a:xfrm>
          <a:prstGeom prst="rect">
            <a:avLst/>
          </a:prstGeom>
          <a:noFill/>
          <a:ln/>
        </p:spPr>
        <p:txBody>
          <a:bodyPr wrap="square" lIns="0" tIns="0" rIns="0" bIns="0" rtlCol="0" anchor="t"/>
          <a:lstStyle/>
          <a:p>
            <a:pPr indent="0" marL="0">
              <a:buNone/>
            </a:pPr>
            <a:r>
              <a:rPr lang="en-US" sz="1600" dirty="0">
                <a:solidFill>
                  <a:schemeClr val="tx2"/>
                </a:solidFill>
              </a:rPr>
              <a:t>We switched the issuer before the service learned key-2. Every new token got 401.</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F667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64240" cy="320040"/>
          </a:xfrm>
          <a:prstGeom prst="rect">
            <a:avLst/>
          </a:prstGeom>
          <a:noFill/>
          <a:ln/>
        </p:spPr>
        <p:txBody>
          <a:bodyPr wrap="square" lIns="0" tIns="0" rIns="0" bIns="0" rtlCol="0"/>
          <a:lstStyle/>
          <a:p>
            <a:pPr indent="0" marL="0">
              <a:buNone/>
            </a:pPr>
            <a:r>
              <a:rPr lang="en-US" sz="1400" b="1" dirty="0">
                <a:solidFill>
                  <a:schemeClr val="accent1"/>
                </a:solidFill>
                <a:latin typeface="Courier New" pitchFamily="34" charset="0"/>
                <a:ea typeface="Courier New" pitchFamily="34" charset="-122"/>
                <a:cs typeface="Courier New" pitchFamily="34" charset="-120"/>
              </a:rPr>
              <a:t>05.9 · ATTACK DRILL</a:t>
            </a:r>
            <a:endParaRPr lang="en-US" sz="1400" dirty="0"/>
          </a:p>
        </p:txBody>
      </p:sp>
      <p:sp>
        <p:nvSpPr>
          <p:cNvPr id="3" name="Text 0"/>
          <p:cNvSpPr/>
          <p:nvPr>
            <p:ph idx="101" type="title" hasCustomPrompt="1"/>
          </p:nvPr>
        </p:nvSpPr>
        <p:spPr>
          <a:xfrm>
            <a:off x="548640" y="731520"/>
            <a:ext cx="11064240" cy="731520"/>
          </a:xfrm>
          <a:prstGeom prst="rect">
            <a:avLst/>
          </a:prstGeom>
          <a:noFill/>
          <a:ln/>
        </p:spPr>
        <p:txBody>
          <a:bodyPr wrap="square" lIns="0" tIns="0" rIns="0" bIns="0" rtlCol="0" anchor="t"/>
          <a:lstStyle/>
          <a:p>
            <a:pPr indent="0" marL="0">
              <a:buNone/>
            </a:pPr>
            <a:r>
              <a:rPr lang="en-US" sz="3400" b="1" dirty="0">
                <a:solidFill>
                  <a:schemeClr val="tx1"/>
                </a:solidFill>
              </a:rPr>
              <a:t>76 attacks, 76 safe failures</a:t>
            </a:r>
            <a:endParaRPr lang="en-US" sz="3400" dirty="0"/>
          </a:p>
        </p:txBody>
      </p:sp>
      <p:graphicFrame>
        <p:nvGraphicFramePr>
          <p:cNvPr id="14" name="drill-table"/>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2926080"/>
                <a:gridCol w="1005840"/>
                <a:gridCol w="7132320"/>
              </a:tblGrid>
              <a:tr h="0">
                <a:tc>
                  <a:txBody>
                    <a:bodyPr/>
                    <a:lstStyle/>
                    <a:p>
                      <a:pPr indent="0" marL="0">
                        <a:buNone/>
                      </a:pPr>
                      <a:r>
                        <a:rPr lang="en-US" sz="1400" b="1" dirty="0">
                          <a:solidFill>
                            <a:schemeClr val="tx1"/>
                          </a:solidFill>
                        </a:rPr>
                        <a:t>Layer attacked</a:t>
                      </a:r>
                      <a:endParaRPr lang="en-US" sz="14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EEF1F5"/>
                    </a:solidFill>
                  </a:tcPr>
                </a:tc>
                <a:tc>
                  <a:txBody>
                    <a:bodyPr/>
                    <a:lstStyle/>
                    <a:p>
                      <a:pPr indent="0" marL="0">
                        <a:buNone/>
                      </a:pPr>
                      <a:r>
                        <a:rPr lang="en-US" sz="1400" b="1" dirty="0">
                          <a:solidFill>
                            <a:schemeClr val="tx1"/>
                          </a:solidFill>
                        </a:rPr>
                        <a:t>Checks</a:t>
                      </a:r>
                      <a:endParaRPr lang="en-US" sz="14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EEF1F5"/>
                    </a:solidFill>
                  </a:tcPr>
                </a:tc>
                <a:tc>
                  <a:txBody>
                    <a:bodyPr/>
                    <a:lstStyle/>
                    <a:p>
                      <a:pPr indent="0" marL="0">
                        <a:buNone/>
                      </a:pPr>
                      <a:r>
                        <a:rPr lang="en-US" sz="1400" b="1" dirty="0">
                          <a:solidFill>
                            <a:schemeClr val="tx1"/>
                          </a:solidFill>
                        </a:rPr>
                        <a:t>How it failed safely</a:t>
                      </a:r>
                      <a:endParaRPr lang="en-US" sz="14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EEF1F5"/>
                    </a:solidFill>
                  </a:tcPr>
                </a:tc>
              </a:tr>
              <a:tr h="0">
                <a:tc>
                  <a:txBody>
                    <a:bodyPr/>
                    <a:lstStyle/>
                    <a:p>
                      <a:pPr indent="0" marL="0">
                        <a:buNone/>
                      </a:pPr>
                      <a:r>
                        <a:rPr lang="en-US" sz="1400" dirty="0">
                          <a:solidFill>
                            <a:schemeClr val="tx1"/>
                          </a:solidFill>
                        </a:rPr>
                        <a:t>Client authentication</a:t>
                      </a:r>
                      <a:endParaRPr lang="en-US" sz="14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6</a:t>
                      </a:r>
                      <a:endParaRPr lang="en-US" sz="14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Issuer 401; a caller-chosen sub was ignored</a:t>
                      </a:r>
                      <a:endParaRPr lang="en-US" sz="14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r>
              <a:tr h="0">
                <a:tc>
                  <a:txBody>
                    <a:bodyPr/>
                    <a:lstStyle/>
                    <a:p>
                      <a:pPr indent="0" marL="0">
                        <a:buNone/>
                      </a:pPr>
                      <a:r>
                        <a:rPr lang="en-US" sz="1400" dirty="0">
                          <a:solidFill>
                            <a:schemeClr val="tx1"/>
                          </a:solidFill>
                        </a:rPr>
                        <a:t>Token integrity</a:t>
                      </a:r>
                      <a:endParaRPr lang="en-US" sz="14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6</a:t>
                      </a:r>
                      <a:endParaRPr lang="en-US" sz="14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Edited sub, scope, aud, exp or attacker key → bad signature</a:t>
                      </a:r>
                      <a:endParaRPr lang="en-US" sz="14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r>
              <a:tr h="0">
                <a:tc>
                  <a:txBody>
                    <a:bodyPr/>
                    <a:lstStyle/>
                    <a:p>
                      <a:pPr indent="0" marL="0">
                        <a:buNone/>
                      </a:pPr>
                      <a:r>
                        <a:rPr lang="en-US" sz="1400" dirty="0">
                          <a:solidFill>
                            <a:schemeClr val="tx1"/>
                          </a:solidFill>
                        </a:rPr>
                        <a:t>Algorithms</a:t>
                      </a:r>
                      <a:endParaRPr lang="en-US" sz="14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3</a:t>
                      </a:r>
                      <a:endParaRPr lang="en-US" sz="14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none, HS256, RS512 → algorithm refused</a:t>
                      </a:r>
                      <a:endParaRPr lang="en-US" sz="14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r>
              <a:tr h="0">
                <a:tc>
                  <a:txBody>
                    <a:bodyPr/>
                    <a:lstStyle/>
                    <a:p>
                      <a:pPr indent="0" marL="0">
                        <a:buNone/>
                      </a:pPr>
                      <a:r>
                        <a:rPr lang="en-US" sz="1400" dirty="0">
                          <a:solidFill>
                            <a:schemeClr val="tx1"/>
                          </a:solidFill>
                        </a:rPr>
                        <a:t>Claims</a:t>
                      </a:r>
                      <a:endParaRPr lang="en-US" sz="14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9</a:t>
                      </a:r>
                      <a:endParaRPr lang="en-US" sz="14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Missing claim, wrong iss or aud, expired → 401</a:t>
                      </a:r>
                      <a:endParaRPr lang="en-US" sz="14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r>
              <a:tr h="0">
                <a:tc>
                  <a:txBody>
                    <a:bodyPr/>
                    <a:lstStyle/>
                    <a:p>
                      <a:pPr indent="0" marL="0">
                        <a:buNone/>
                      </a:pPr>
                      <a:r>
                        <a:rPr lang="en-US" sz="1400" dirty="0">
                          <a:solidFill>
                            <a:schemeClr val="tx1"/>
                          </a:solidFill>
                        </a:rPr>
                        <a:t>Scope escalation</a:t>
                      </a:r>
                      <a:endParaRPr lang="en-US" sz="14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14</a:t>
                      </a:r>
                      <a:endParaRPr lang="en-US" sz="14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Issuer 403 or 400; service 403 for wildcard, prefix, substring</a:t>
                      </a:r>
                      <a:endParaRPr lang="en-US" sz="14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r>
              <a:tr h="0">
                <a:tc>
                  <a:txBody>
                    <a:bodyPr/>
                    <a:lstStyle/>
                    <a:p>
                      <a:pPr indent="0" marL="0">
                        <a:buNone/>
                      </a:pPr>
                      <a:r>
                        <a:rPr lang="en-US" sz="1400" dirty="0">
                          <a:solidFill>
                            <a:schemeClr val="tx1"/>
                          </a:solidFill>
                        </a:rPr>
                        <a:t>Authorization spoofing</a:t>
                      </a:r>
                      <a:endParaRPr lang="en-US" sz="14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6</a:t>
                      </a:r>
                      <a:endParaRPr lang="en-US" sz="14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Fake role, identity, class and query changed nothing</a:t>
                      </a:r>
                      <a:endParaRPr lang="en-US" sz="14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r>
              <a:tr h="0">
                <a:tc>
                  <a:txBody>
                    <a:bodyPr/>
                    <a:lstStyle/>
                    <a:p>
                      <a:pPr indent="0" marL="0">
                        <a:buNone/>
                      </a:pPr>
                      <a:r>
                        <a:rPr lang="en-US" sz="1400" dirty="0">
                          <a:solidFill>
                            <a:schemeClr val="tx1"/>
                          </a:solidFill>
                        </a:rPr>
                        <a:t>Key rotation</a:t>
                      </a:r>
                      <a:endParaRPr lang="en-US" sz="14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11</a:t>
                      </a:r>
                      <a:endParaRPr lang="en-US" sz="14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Unknown, missing or mismatched kid → 401; retired key → 401</a:t>
                      </a:r>
                      <a:endParaRPr lang="en-US" sz="14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r>
              <a:tr h="0">
                <a:tc>
                  <a:txBody>
                    <a:bodyPr/>
                    <a:lstStyle/>
                    <a:p>
                      <a:pPr indent="0" marL="0">
                        <a:buNone/>
                      </a:pPr>
                      <a:r>
                        <a:rPr lang="en-US" sz="1400" dirty="0">
                          <a:solidFill>
                            <a:schemeClr val="tx1"/>
                          </a:solidFill>
                        </a:rPr>
                        <a:t>Token lifecycle</a:t>
                      </a:r>
                      <a:endParaRPr lang="en-US" sz="14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7</a:t>
                      </a:r>
                      <a:endParaRPr lang="en-US" sz="14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Reuse, renewal, one retry on 401, none on 403, outage handled</a:t>
                      </a:r>
                      <a:endParaRPr lang="en-US" sz="14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r>
              <a:tr h="0">
                <a:tc>
                  <a:txBody>
                    <a:bodyPr/>
                    <a:lstStyle/>
                    <a:p>
                      <a:pPr indent="0" marL="0">
                        <a:buNone/>
                      </a:pPr>
                      <a:r>
                        <a:rPr lang="en-US" sz="1400" dirty="0">
                          <a:solidFill>
                            <a:schemeClr val="tx1"/>
                          </a:solidFill>
                        </a:rPr>
                        <a:t>Data leakage</a:t>
                      </a:r>
                      <a:endParaRPr lang="en-US" sz="14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4</a:t>
                      </a:r>
                      <a:endParaRPr lang="en-US" sz="14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Bodies only status + message; no detail lookup</a:t>
                      </a:r>
                      <a:endParaRPr lang="en-US" sz="14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r>
              <a:tr h="0">
                <a:tc>
                  <a:txBody>
                    <a:bodyPr/>
                    <a:lstStyle/>
                    <a:p>
                      <a:pPr indent="0" marL="0">
                        <a:buNone/>
                      </a:pPr>
                      <a:r>
                        <a:rPr lang="en-US" sz="1400" dirty="0">
                          <a:solidFill>
                            <a:schemeClr val="tx1"/>
                          </a:solidFill>
                        </a:rPr>
                        <a:t>Isolation</a:t>
                      </a:r>
                      <a:endParaRPr lang="en-US" sz="14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10</a:t>
                      </a:r>
                      <a:endParaRPr lang="en-US" sz="14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Agent loads no sqlite3 or jwt; private key only in issuer</a:t>
                      </a:r>
                      <a:endParaRPr lang="en-US" sz="14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F667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64240" cy="320040"/>
          </a:xfrm>
          <a:prstGeom prst="rect">
            <a:avLst/>
          </a:prstGeom>
          <a:noFill/>
          <a:ln/>
        </p:spPr>
        <p:txBody>
          <a:bodyPr wrap="square" lIns="0" tIns="0" rIns="0" bIns="0" rtlCol="0"/>
          <a:lstStyle/>
          <a:p>
            <a:pPr indent="0" marL="0">
              <a:buNone/>
            </a:pPr>
            <a:r>
              <a:rPr lang="en-US" sz="1400" b="1" dirty="0">
                <a:solidFill>
                  <a:schemeClr val="accent1"/>
                </a:solidFill>
                <a:latin typeface="Courier New" pitchFamily="34" charset="0"/>
                <a:ea typeface="Courier New" pitchFamily="34" charset="-122"/>
                <a:cs typeface="Courier New" pitchFamily="34" charset="-120"/>
              </a:rPr>
              <a:t>WHAT WENT WRONG ALONG THE WAY</a:t>
            </a:r>
            <a:endParaRPr lang="en-US" sz="1400" dirty="0"/>
          </a:p>
        </p:txBody>
      </p:sp>
      <p:sp>
        <p:nvSpPr>
          <p:cNvPr id="3" name="Text 0"/>
          <p:cNvSpPr/>
          <p:nvPr>
            <p:ph idx="101" type="title" hasCustomPrompt="1"/>
          </p:nvPr>
        </p:nvSpPr>
        <p:spPr>
          <a:xfrm>
            <a:off x="548640" y="731520"/>
            <a:ext cx="11064240" cy="731520"/>
          </a:xfrm>
          <a:prstGeom prst="rect">
            <a:avLst/>
          </a:prstGeom>
          <a:noFill/>
          <a:ln/>
        </p:spPr>
        <p:txBody>
          <a:bodyPr wrap="square" lIns="0" tIns="0" rIns="0" bIns="0" rtlCol="0" anchor="t"/>
          <a:lstStyle/>
          <a:p>
            <a:pPr indent="0" marL="0">
              <a:buNone/>
            </a:pPr>
            <a:r>
              <a:rPr lang="en-US" sz="3400" b="1" dirty="0">
                <a:solidFill>
                  <a:schemeClr val="tx1"/>
                </a:solidFill>
              </a:rPr>
              <a:t>Six gotchas, six lessons</a:t>
            </a:r>
            <a:endParaRPr lang="en-US" sz="3400" dirty="0"/>
          </a:p>
        </p:txBody>
      </p:sp>
      <p:graphicFrame>
        <p:nvGraphicFramePr>
          <p:cNvPr id="15" name="gotcha-table"/>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3657600"/>
                <a:gridCol w="3703320"/>
                <a:gridCol w="3703320"/>
              </a:tblGrid>
              <a:tr h="0">
                <a:tc>
                  <a:txBody>
                    <a:bodyPr/>
                    <a:lstStyle/>
                    <a:p>
                      <a:pPr indent="0" marL="0">
                        <a:buNone/>
                      </a:pPr>
                      <a:r>
                        <a:rPr lang="en-US" sz="1500" b="1" dirty="0">
                          <a:solidFill>
                            <a:schemeClr val="tx1"/>
                          </a:solidFill>
                        </a:rPr>
                        <a:t>Symptom</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EEF1F5"/>
                    </a:solidFill>
                  </a:tcPr>
                </a:tc>
                <a:tc>
                  <a:txBody>
                    <a:bodyPr/>
                    <a:lstStyle/>
                    <a:p>
                      <a:pPr indent="0" marL="0">
                        <a:buNone/>
                      </a:pPr>
                      <a:r>
                        <a:rPr lang="en-US" sz="1500" b="1" dirty="0">
                          <a:solidFill>
                            <a:schemeClr val="tx1"/>
                          </a:solidFill>
                        </a:rPr>
                        <a:t>Cause</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EEF1F5"/>
                    </a:solidFill>
                  </a:tcPr>
                </a:tc>
                <a:tc>
                  <a:txBody>
                    <a:bodyPr/>
                    <a:lstStyle/>
                    <a:p>
                      <a:pPr indent="0" marL="0">
                        <a:buNone/>
                      </a:pPr>
                      <a:r>
                        <a:rPr lang="en-US" sz="1500" b="1" dirty="0">
                          <a:solidFill>
                            <a:schemeClr val="tx1"/>
                          </a:solidFill>
                        </a:rPr>
                        <a:t>Lesson</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EEF1F5"/>
                    </a:solidFill>
                  </a:tcPr>
                </a:tc>
              </a:tr>
              <a:tr h="0">
                <a:tc>
                  <a:txBody>
                    <a:bodyPr/>
                    <a:lstStyle/>
                    <a:p>
                      <a:pPr indent="0" marL="0">
                        <a:buNone/>
                      </a:pPr>
                      <a:r>
                        <a:rPr lang="en-US" sz="1500" dirty="0">
                          <a:solidFill>
                            <a:schemeClr val="tx1"/>
                          </a:solidFill>
                        </a:rPr>
                        <a:t>curl got 400 Invalid HTTP request</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rPr>
                        <a:t>Debug prints captured in the header</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rPr>
                        <a:t>Data on stdout, logs on stderr</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r>
              <a:tr h="0">
                <a:tc>
                  <a:txBody>
                    <a:bodyPr/>
                    <a:lstStyle/>
                    <a:p>
                      <a:pPr indent="0" marL="0">
                        <a:buNone/>
                      </a:pPr>
                      <a:r>
                        <a:rPr lang="en-US" sz="1500" dirty="0">
                          <a:solidFill>
                            <a:schemeClr val="tx1"/>
                          </a:solidFill>
                        </a:rPr>
                        <a:t>Valid test tokens all failed</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rPr>
                        <a:t>conftest ran twice: two key pairs</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rPr>
                        <a:t>Shared state in tests/support.py</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r>
              <a:tr h="0">
                <a:tc>
                  <a:txBody>
                    <a:bodyPr/>
                    <a:lstStyle/>
                    <a:p>
                      <a:pPr indent="0" marL="0">
                        <a:buNone/>
                      </a:pPr>
                      <a:r>
                        <a:rPr lang="en-US" sz="1500" dirty="0">
                          <a:solidFill>
                            <a:schemeClr val="tx1"/>
                          </a:solidFill>
                        </a:rPr>
                        <a:t>One test sent no token</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rPr>
                        <a:t>A stray key= became a header</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rPr>
                        <a:t>Make extra arguments explicit</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r>
              <a:tr h="0">
                <a:tc>
                  <a:txBody>
                    <a:bodyPr/>
                    <a:lstStyle/>
                    <a:p>
                      <a:pPr indent="0" marL="0">
                        <a:buNone/>
                      </a:pPr>
                      <a:r>
                        <a:rPr lang="en-US" sz="1500" dirty="0">
                          <a:solidFill>
                            <a:schemeClr val="tx1"/>
                          </a:solidFill>
                        </a:rPr>
                        <a:t>Fresh token had the old kid</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rPr>
                        <a:t>Issuer not restarted after edit</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rPr>
                        <a:t>Config loads at startup only</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r>
              <a:tr h="0">
                <a:tc>
                  <a:txBody>
                    <a:bodyPr/>
                    <a:lstStyle/>
                    <a:p>
                      <a:pPr indent="0" marL="0">
                        <a:buNone/>
                      </a:pPr>
                      <a:r>
                        <a:rPr lang="en-US" sz="1500" dirty="0">
                          <a:solidFill>
                            <a:schemeClr val="tx1"/>
                          </a:solidFill>
                        </a:rPr>
                        <a:t>New key-2 tokens got 401</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rPr>
                        <a:t>Service didn’t trust key-2 yet</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rPr>
                        <a:t>Trust first, then sign</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r>
              <a:tr h="0">
                <a:tc>
                  <a:txBody>
                    <a:bodyPr/>
                    <a:lstStyle/>
                    <a:p>
                      <a:pPr indent="0" marL="0">
                        <a:buNone/>
                      </a:pPr>
                      <a:r>
                        <a:rPr lang="en-US" sz="1500" dirty="0">
                          <a:solidFill>
                            <a:schemeClr val="tx1"/>
                          </a:solidFill>
                        </a:rPr>
                        <a:t>Saved token expired mid-rotation</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rPr>
                        <a:t>5-minute token lifetime</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rPr>
                        <a:t>Short tokens cap rotation time</a:t>
                      </a:r>
                      <a:endParaRPr lang="en-US" sz="1500" dirty="0"/>
                    </a:p>
                  </a:txBody>
                  <a:tcPr marL="101600" marR="101600" marT="50800" marB="5080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r>
            </a:tbl>
          </a:graphicData>
        </a:graphic>
      </p:graphicFrame>
      <p:sp>
        <p:nvSpPr>
          <p:cNvPr id="6" name="gotcha-note"/>
          <p:cNvSpPr txBox="1"/>
          <p:nvPr/>
        </p:nvSpPr>
        <p:spPr>
          <a:xfrm>
            <a:off x="548640" y="5029200"/>
            <a:ext cx="11064240" cy="548640"/>
          </a:xfrm>
          <a:prstGeom prst="rect">
            <a:avLst/>
          </a:prstGeom>
          <a:noFill/>
          <a:ln/>
        </p:spPr>
        <p:txBody>
          <a:bodyPr wrap="square" lIns="0" tIns="0" rIns="0" bIns="0" rtlCol="0" anchor="t"/>
          <a:lstStyle/>
          <a:p>
            <a:pPr indent="0" marL="0">
              <a:buNone/>
            </a:pPr>
            <a:r>
              <a:rPr lang="en-US" sz="1700" dirty="0">
                <a:solidFill>
                  <a:schemeClr val="tx2"/>
                </a:solidFill>
              </a:rPr>
              <a:t>Each one was a real failure in this project, and each one is now a test or a line in the runbook.</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F667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64240" cy="320040"/>
          </a:xfrm>
          <a:prstGeom prst="rect">
            <a:avLst/>
          </a:prstGeom>
          <a:noFill/>
          <a:ln/>
        </p:spPr>
        <p:txBody>
          <a:bodyPr wrap="square" lIns="0" tIns="0" rIns="0" bIns="0" rtlCol="0"/>
          <a:lstStyle/>
          <a:p>
            <a:pPr indent="0" marL="0">
              <a:buNone/>
            </a:pPr>
            <a:r>
              <a:rPr lang="en-US" sz="1400" b="1" dirty="0">
                <a:solidFill>
                  <a:schemeClr val="accent1"/>
                </a:solidFill>
                <a:latin typeface="Courier New" pitchFamily="34" charset="0"/>
                <a:ea typeface="Courier New" pitchFamily="34" charset="-122"/>
                <a:cs typeface="Courier New" pitchFamily="34" charset="-120"/>
              </a:rPr>
              <a:t>EVIDENCE</a:t>
            </a:r>
            <a:endParaRPr lang="en-US" sz="1400" dirty="0"/>
          </a:p>
        </p:txBody>
      </p:sp>
      <p:sp>
        <p:nvSpPr>
          <p:cNvPr id="3" name="Text 0"/>
          <p:cNvSpPr/>
          <p:nvPr>
            <p:ph idx="101" type="title" hasCustomPrompt="1"/>
          </p:nvPr>
        </p:nvSpPr>
        <p:spPr>
          <a:xfrm>
            <a:off x="548640" y="731520"/>
            <a:ext cx="11064240" cy="731520"/>
          </a:xfrm>
          <a:prstGeom prst="rect">
            <a:avLst/>
          </a:prstGeom>
          <a:noFill/>
          <a:ln/>
        </p:spPr>
        <p:txBody>
          <a:bodyPr wrap="square" lIns="0" tIns="0" rIns="0" bIns="0" rtlCol="0" anchor="t"/>
          <a:lstStyle/>
          <a:p>
            <a:pPr indent="0" marL="0">
              <a:buNone/>
            </a:pPr>
            <a:r>
              <a:rPr lang="en-US" sz="3400" b="1" dirty="0">
                <a:solidFill>
                  <a:schemeClr val="tx1"/>
                </a:solidFill>
              </a:rPr>
              <a:t>Every claim is reproducible</a:t>
            </a:r>
            <a:endParaRPr lang="en-US" sz="3400" dirty="0"/>
          </a:p>
        </p:txBody>
      </p:sp>
      <p:sp>
        <p:nvSpPr>
          <p:cNvPr id="5" name="stat-0-box"/>
          <p:cNvSpPr/>
          <p:nvPr/>
        </p:nvSpPr>
        <p:spPr>
          <a:xfrm>
            <a:off x="548640" y="1737360"/>
            <a:ext cx="2606040" cy="1920240"/>
          </a:xfrm>
          <a:prstGeom prst="roundRect">
            <a:avLst>
              <a:gd name="adj" fmla="val 4762"/>
            </a:avLst>
          </a:prstGeom>
          <a:solidFill>
            <a:schemeClr val="bg1"/>
          </a:solidFill>
          <a:ln w="12700">
            <a:solidFill>
              <a:schemeClr val="accent5"/>
            </a:solidFill>
            <a:prstDash val="solid"/>
          </a:ln>
        </p:spPr>
      </p:sp>
      <p:sp>
        <p:nvSpPr>
          <p:cNvPr id="6" name="stat-0"/>
          <p:cNvSpPr txBox="1"/>
          <p:nvPr/>
        </p:nvSpPr>
        <p:spPr>
          <a:xfrm>
            <a:off x="777240" y="1920240"/>
            <a:ext cx="2148840" cy="1554480"/>
          </a:xfrm>
          <a:prstGeom prst="rect">
            <a:avLst/>
          </a:prstGeom>
          <a:noFill/>
          <a:ln/>
        </p:spPr>
        <p:txBody>
          <a:bodyPr wrap="square" lIns="0" tIns="0" rIns="0" bIns="0" rtlCol="0" anchor="t"/>
          <a:lstStyle/>
          <a:p>
            <a:pPr indent="0" marL="0">
              <a:buNone/>
            </a:pPr>
            <a:r>
              <a:rPr lang="en-US" sz="4800" b="1" dirty="0">
                <a:solidFill>
                  <a:schemeClr val="accent2"/>
                </a:solidFill>
              </a:rPr>
              <a:t>209</a:t>
            </a:r>
            <a:endParaRPr lang="en-US" sz="4800" dirty="0"/>
          </a:p>
          <a:p>
            <a:pPr indent="0" marL="0">
              <a:buNone/>
            </a:pPr>
            <a:r>
              <a:rPr lang="en-US" sz="1600" dirty="0">
                <a:solidFill>
                  <a:schemeClr val="tx2"/>
                </a:solidFill>
              </a:rPr>
              <a:t>pytest tests passed</a:t>
            </a:r>
            <a:endParaRPr lang="en-US" sz="4800" dirty="0"/>
          </a:p>
        </p:txBody>
      </p:sp>
      <p:sp>
        <p:nvSpPr>
          <p:cNvPr id="7" name="stat-1-box"/>
          <p:cNvSpPr/>
          <p:nvPr/>
        </p:nvSpPr>
        <p:spPr>
          <a:xfrm>
            <a:off x="3360420" y="1737360"/>
            <a:ext cx="2606040" cy="1920240"/>
          </a:xfrm>
          <a:prstGeom prst="roundRect">
            <a:avLst>
              <a:gd name="adj" fmla="val 4762"/>
            </a:avLst>
          </a:prstGeom>
          <a:solidFill>
            <a:schemeClr val="bg1"/>
          </a:solidFill>
          <a:ln w="12700">
            <a:solidFill>
              <a:schemeClr val="accent5"/>
            </a:solidFill>
            <a:prstDash val="solid"/>
          </a:ln>
        </p:spPr>
      </p:sp>
      <p:sp>
        <p:nvSpPr>
          <p:cNvPr id="8" name="stat-1"/>
          <p:cNvSpPr txBox="1"/>
          <p:nvPr/>
        </p:nvSpPr>
        <p:spPr>
          <a:xfrm>
            <a:off x="3589020" y="1920240"/>
            <a:ext cx="2148840" cy="1554480"/>
          </a:xfrm>
          <a:prstGeom prst="rect">
            <a:avLst/>
          </a:prstGeom>
          <a:noFill/>
          <a:ln/>
        </p:spPr>
        <p:txBody>
          <a:bodyPr wrap="square" lIns="0" tIns="0" rIns="0" bIns="0" rtlCol="0" anchor="t"/>
          <a:lstStyle/>
          <a:p>
            <a:pPr indent="0" marL="0">
              <a:buNone/>
            </a:pPr>
            <a:r>
              <a:rPr lang="en-US" sz="4800" b="1" dirty="0">
                <a:solidFill>
                  <a:schemeClr val="accent2"/>
                </a:solidFill>
              </a:rPr>
              <a:t>55/55</a:t>
            </a:r>
            <a:endParaRPr lang="en-US" sz="4800" dirty="0"/>
          </a:p>
          <a:p>
            <a:pPr indent="0" marL="0">
              <a:buNone/>
            </a:pPr>
            <a:r>
              <a:rPr lang="en-US" sz="1600" dirty="0">
                <a:solidFill>
                  <a:schemeClr val="tx2"/>
                </a:solidFill>
              </a:rPr>
              <a:t>live HTTP checks</a:t>
            </a:r>
            <a:endParaRPr lang="en-US" sz="4800" dirty="0"/>
          </a:p>
        </p:txBody>
      </p:sp>
      <p:sp>
        <p:nvSpPr>
          <p:cNvPr id="9" name="stat-2-box"/>
          <p:cNvSpPr/>
          <p:nvPr/>
        </p:nvSpPr>
        <p:spPr>
          <a:xfrm>
            <a:off x="6172200" y="1737360"/>
            <a:ext cx="2606040" cy="1920240"/>
          </a:xfrm>
          <a:prstGeom prst="roundRect">
            <a:avLst>
              <a:gd name="adj" fmla="val 4762"/>
            </a:avLst>
          </a:prstGeom>
          <a:solidFill>
            <a:schemeClr val="bg1"/>
          </a:solidFill>
          <a:ln w="12700">
            <a:solidFill>
              <a:schemeClr val="accent5"/>
            </a:solidFill>
            <a:prstDash val="solid"/>
          </a:ln>
        </p:spPr>
      </p:sp>
      <p:sp>
        <p:nvSpPr>
          <p:cNvPr id="10" name="stat-2"/>
          <p:cNvSpPr txBox="1"/>
          <p:nvPr/>
        </p:nvSpPr>
        <p:spPr>
          <a:xfrm>
            <a:off x="6400800" y="1920240"/>
            <a:ext cx="2148840" cy="1554480"/>
          </a:xfrm>
          <a:prstGeom prst="rect">
            <a:avLst/>
          </a:prstGeom>
          <a:noFill/>
          <a:ln/>
        </p:spPr>
        <p:txBody>
          <a:bodyPr wrap="square" lIns="0" tIns="0" rIns="0" bIns="0" rtlCol="0" anchor="t"/>
          <a:lstStyle/>
          <a:p>
            <a:pPr indent="0" marL="0">
              <a:buNone/>
            </a:pPr>
            <a:r>
              <a:rPr lang="en-US" sz="4800" b="1" dirty="0">
                <a:solidFill>
                  <a:schemeClr val="accent1"/>
                </a:solidFill>
              </a:rPr>
              <a:t>76/76</a:t>
            </a:r>
            <a:endParaRPr lang="en-US" sz="4800" dirty="0"/>
          </a:p>
          <a:p>
            <a:pPr indent="0" marL="0">
              <a:buNone/>
            </a:pPr>
            <a:r>
              <a:rPr lang="en-US" sz="1600" dirty="0">
                <a:solidFill>
                  <a:schemeClr val="tx2"/>
                </a:solidFill>
              </a:rPr>
              <a:t>attack drill checks</a:t>
            </a:r>
            <a:endParaRPr lang="en-US" sz="4800" dirty="0"/>
          </a:p>
        </p:txBody>
      </p:sp>
      <p:sp>
        <p:nvSpPr>
          <p:cNvPr id="11" name="stat-3-box"/>
          <p:cNvSpPr/>
          <p:nvPr/>
        </p:nvSpPr>
        <p:spPr>
          <a:xfrm>
            <a:off x="8983980" y="1737360"/>
            <a:ext cx="2606040" cy="1920240"/>
          </a:xfrm>
          <a:prstGeom prst="roundRect">
            <a:avLst>
              <a:gd name="adj" fmla="val 4762"/>
            </a:avLst>
          </a:prstGeom>
          <a:solidFill>
            <a:schemeClr val="bg1"/>
          </a:solidFill>
          <a:ln w="12700">
            <a:solidFill>
              <a:schemeClr val="accent5"/>
            </a:solidFill>
            <a:prstDash val="solid"/>
          </a:ln>
        </p:spPr>
      </p:sp>
      <p:sp>
        <p:nvSpPr>
          <p:cNvPr id="12" name="stat-3"/>
          <p:cNvSpPr txBox="1"/>
          <p:nvPr/>
        </p:nvSpPr>
        <p:spPr>
          <a:xfrm>
            <a:off x="9212580" y="1920240"/>
            <a:ext cx="2148840" cy="1554480"/>
          </a:xfrm>
          <a:prstGeom prst="rect">
            <a:avLst/>
          </a:prstGeom>
          <a:noFill/>
          <a:ln/>
        </p:spPr>
        <p:txBody>
          <a:bodyPr wrap="square" lIns="0" tIns="0" rIns="0" bIns="0" rtlCol="0" anchor="t"/>
          <a:lstStyle/>
          <a:p>
            <a:pPr indent="0" marL="0">
              <a:buNone/>
            </a:pPr>
            <a:r>
              <a:rPr lang="en-US" sz="4800" b="1" dirty="0">
                <a:solidFill>
                  <a:schemeClr val="accent2"/>
                </a:solidFill>
              </a:rPr>
              <a:t>6/6</a:t>
            </a:r>
            <a:endParaRPr lang="en-US" sz="4800" dirty="0"/>
          </a:p>
          <a:p>
            <a:pPr indent="0" marL="0">
              <a:buNone/>
            </a:pPr>
            <a:r>
              <a:rPr lang="en-US" sz="1600" dirty="0">
                <a:solidFill>
                  <a:schemeClr val="tx2"/>
                </a:solidFill>
              </a:rPr>
              <a:t>agent flow scenarios</a:t>
            </a:r>
            <a:endParaRPr lang="en-US" sz="4800" dirty="0"/>
          </a:p>
        </p:txBody>
      </p:sp>
      <p:sp>
        <p:nvSpPr>
          <p:cNvPr id="13" name="rotation-live"/>
          <p:cNvSpPr txBox="1"/>
          <p:nvPr/>
        </p:nvSpPr>
        <p:spPr>
          <a:xfrm>
            <a:off x="548640" y="3977640"/>
            <a:ext cx="11064240" cy="640080"/>
          </a:xfrm>
          <a:prstGeom prst="rect">
            <a:avLst/>
          </a:prstGeom>
          <a:noFill/>
          <a:ln/>
        </p:spPr>
        <p:txBody>
          <a:bodyPr wrap="square" lIns="0" tIns="0" rIns="0" bIns="0" rtlCol="0" anchor="t"/>
          <a:lstStyle/>
          <a:p>
            <a:pPr indent="0" marL="0">
              <a:buNone/>
            </a:pPr>
            <a:r>
              <a:rPr lang="en-US" sz="1800" b="1" dirty="0">
                <a:solidFill>
                  <a:schemeClr val="tx1"/>
                </a:solidFill>
              </a:rPr>
              <a:t>Key rotation ran live: </a:t>
            </a:r>
            <a:pPr indent="0" marL="0">
              <a:buNone/>
            </a:pPr>
            <a:r>
              <a:rPr lang="en-US" sz="1800" dirty="0">
                <a:solidFill>
                  <a:schemeClr val="tx1"/>
                </a:solidFill>
              </a:rPr>
              <a:t>overlap accepted old and new tokens; after retirement the old token got 401.</a:t>
            </a:r>
            <a:endParaRPr lang="en-US" sz="1800" dirty="0"/>
          </a:p>
        </p:txBody>
      </p:sp>
      <p:sp>
        <p:nvSpPr>
          <p:cNvPr id="14" name="commands"/>
          <p:cNvSpPr txBox="1"/>
          <p:nvPr/>
        </p:nvSpPr>
        <p:spPr>
          <a:xfrm>
            <a:off x="548640" y="4754880"/>
            <a:ext cx="11064240" cy="457200"/>
          </a:xfrm>
          <a:prstGeom prst="rect">
            <a:avLst/>
          </a:prstGeom>
          <a:noFill/>
          <a:ln/>
        </p:spPr>
        <p:txBody>
          <a:bodyPr wrap="square" lIns="0" tIns="0" rIns="0" bIns="0" rtlCol="0" anchor="t"/>
          <a:lstStyle/>
          <a:p>
            <a:pPr indent="0" marL="0">
              <a:buNone/>
            </a:pPr>
            <a:r>
              <a:rPr lang="en-US" sz="1400" dirty="0">
                <a:solidFill>
                  <a:schemeClr val="tx2"/>
                </a:solidFill>
                <a:latin typeface="Courier New" pitchFamily="34" charset="0"/>
                <a:ea typeface="Courier New" pitchFamily="34" charset="-122"/>
                <a:cs typeface="Courier New" pitchFamily="34" charset="-120"/>
              </a:rPr>
              <a:t>uv run pytest · scripts/check_remote_auth.py · scripts/attack_drill.py · scripts/check_rotation.py</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F667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64240" cy="320040"/>
          </a:xfrm>
          <a:prstGeom prst="rect">
            <a:avLst/>
          </a:prstGeom>
          <a:noFill/>
          <a:ln/>
        </p:spPr>
        <p:txBody>
          <a:bodyPr wrap="square" lIns="0" tIns="0" rIns="0" bIns="0" rtlCol="0"/>
          <a:lstStyle/>
          <a:p>
            <a:pPr indent="0" marL="0">
              <a:buNone/>
            </a:pPr>
            <a:r>
              <a:rPr lang="en-US" sz="1400" b="1" dirty="0">
                <a:solidFill>
                  <a:schemeClr val="accent3"/>
                </a:solidFill>
                <a:latin typeface="Courier New" pitchFamily="34" charset="0"/>
                <a:ea typeface="Courier New" pitchFamily="34" charset="-122"/>
                <a:cs typeface="Courier New" pitchFamily="34" charset="-120"/>
              </a:rPr>
              <a:t>LIMITS AND WHAT’S NEXT</a:t>
            </a:r>
            <a:endParaRPr lang="en-US" sz="1400" dirty="0"/>
          </a:p>
        </p:txBody>
      </p:sp>
      <p:sp>
        <p:nvSpPr>
          <p:cNvPr id="3" name="Text 0"/>
          <p:cNvSpPr/>
          <p:nvPr>
            <p:ph idx="101" type="title" hasCustomPrompt="1"/>
          </p:nvPr>
        </p:nvSpPr>
        <p:spPr>
          <a:xfrm>
            <a:off x="548640" y="731520"/>
            <a:ext cx="11064240" cy="731520"/>
          </a:xfrm>
          <a:prstGeom prst="rect">
            <a:avLst/>
          </a:prstGeom>
          <a:noFill/>
          <a:ln/>
        </p:spPr>
        <p:txBody>
          <a:bodyPr wrap="square" lIns="0" tIns="0" rIns="0" bIns="0" rtlCol="0" anchor="t"/>
          <a:lstStyle/>
          <a:p>
            <a:pPr indent="0" marL="0">
              <a:buNone/>
            </a:pPr>
            <a:r>
              <a:rPr lang="en-US" sz="3400" b="1" dirty="0">
                <a:solidFill>
                  <a:schemeClr val="bg1"/>
                </a:solidFill>
              </a:rPr>
              <a:t>What Day 05 does not solve</a:t>
            </a:r>
            <a:endParaRPr lang="en-US" sz="3400" dirty="0"/>
          </a:p>
        </p:txBody>
      </p:sp>
      <p:sp>
        <p:nvSpPr>
          <p:cNvPr id="5" name="limit-0"/>
          <p:cNvSpPr txBox="1"/>
          <p:nvPr/>
        </p:nvSpPr>
        <p:spPr>
          <a:xfrm>
            <a:off x="548640" y="1737360"/>
            <a:ext cx="5394960" cy="822960"/>
          </a:xfrm>
          <a:prstGeom prst="rect">
            <a:avLst/>
          </a:prstGeom>
          <a:noFill/>
          <a:ln/>
        </p:spPr>
        <p:txBody>
          <a:bodyPr wrap="square" lIns="0" tIns="0" rIns="0" bIns="0" rtlCol="0" anchor="t"/>
          <a:lstStyle/>
          <a:p>
            <a:pPr indent="0" marL="0">
              <a:buNone/>
            </a:pPr>
            <a:r>
              <a:rPr lang="en-US" sz="1700" b="1" dirty="0">
                <a:solidFill>
                  <a:schemeClr val="bg1"/>
                </a:solidFill>
              </a:rPr>
              <a:t>Bearer means bearer. </a:t>
            </a:r>
            <a:pPr indent="0" marL="0">
              <a:buNone/>
            </a:pPr>
            <a:r>
              <a:rPr lang="en-US" sz="1700" dirty="0">
                <a:solidFill>
                  <a:srgbClr val="C9D3E3"/>
                </a:solidFill>
              </a:rPr>
              <a:t>Whoever holds a token can use it until it expires.</a:t>
            </a:r>
            <a:endParaRPr lang="en-US" sz="1700" dirty="0"/>
          </a:p>
        </p:txBody>
      </p:sp>
      <p:sp>
        <p:nvSpPr>
          <p:cNvPr id="6" name="limit-1"/>
          <p:cNvSpPr txBox="1"/>
          <p:nvPr/>
        </p:nvSpPr>
        <p:spPr>
          <a:xfrm>
            <a:off x="6217920" y="1737360"/>
            <a:ext cx="5394960" cy="822960"/>
          </a:xfrm>
          <a:prstGeom prst="rect">
            <a:avLst/>
          </a:prstGeom>
          <a:noFill/>
          <a:ln/>
        </p:spPr>
        <p:txBody>
          <a:bodyPr wrap="square" lIns="0" tIns="0" rIns="0" bIns="0" rtlCol="0" anchor="t"/>
          <a:lstStyle/>
          <a:p>
            <a:pPr indent="0" marL="0">
              <a:buNone/>
            </a:pPr>
            <a:r>
              <a:rPr lang="en-US" sz="1700" b="1" dirty="0">
                <a:solidFill>
                  <a:schemeClr val="bg1"/>
                </a:solidFill>
              </a:rPr>
              <a:t>Static client secrets. </a:t>
            </a:r>
            <a:pPr indent="0" marL="0">
              <a:buNone/>
            </a:pPr>
            <a:r>
              <a:rPr lang="en-US" sz="1700" dirty="0">
                <a:solidFill>
                  <a:srgbClr val="C9D3E3"/>
                </a:solidFill>
              </a:rPr>
              <a:t>They live in .env files, not a secret manager.</a:t>
            </a:r>
            <a:endParaRPr lang="en-US" sz="1700" dirty="0"/>
          </a:p>
        </p:txBody>
      </p:sp>
      <p:sp>
        <p:nvSpPr>
          <p:cNvPr id="7" name="limit-2"/>
          <p:cNvSpPr txBox="1"/>
          <p:nvPr/>
        </p:nvSpPr>
        <p:spPr>
          <a:xfrm>
            <a:off x="548640" y="2697480"/>
            <a:ext cx="5394960" cy="822960"/>
          </a:xfrm>
          <a:prstGeom prst="rect">
            <a:avLst/>
          </a:prstGeom>
          <a:noFill/>
          <a:ln/>
        </p:spPr>
        <p:txBody>
          <a:bodyPr wrap="square" lIns="0" tIns="0" rIns="0" bIns="0" rtlCol="0" anchor="t"/>
          <a:lstStyle/>
          <a:p>
            <a:pPr indent="0" marL="0">
              <a:buNone/>
            </a:pPr>
            <a:r>
              <a:rPr lang="en-US" sz="1700" b="1" dirty="0">
                <a:solidFill>
                  <a:schemeClr val="bg1"/>
                </a:solidFill>
              </a:rPr>
              <a:t>One OS user. </a:t>
            </a:r>
            <a:pPr indent="0" marL="0">
              <a:buNone/>
            </a:pPr>
            <a:r>
              <a:rPr lang="en-US" sz="1700" dirty="0">
                <a:solidFill>
                  <a:srgbClr val="C9D3E3"/>
                </a:solidFill>
              </a:rPr>
              <a:t>Tests prove separation; the operating system doesn’t enforce it.</a:t>
            </a:r>
            <a:endParaRPr lang="en-US" sz="1700" dirty="0"/>
          </a:p>
        </p:txBody>
      </p:sp>
      <p:sp>
        <p:nvSpPr>
          <p:cNvPr id="8" name="limit-3"/>
          <p:cNvSpPr txBox="1"/>
          <p:nvPr/>
        </p:nvSpPr>
        <p:spPr>
          <a:xfrm>
            <a:off x="6217920" y="2697480"/>
            <a:ext cx="5394960" cy="822960"/>
          </a:xfrm>
          <a:prstGeom prst="rect">
            <a:avLst/>
          </a:prstGeom>
          <a:noFill/>
          <a:ln/>
        </p:spPr>
        <p:txBody>
          <a:bodyPr wrap="square" lIns="0" tIns="0" rIns="0" bIns="0" rtlCol="0" anchor="t"/>
          <a:lstStyle/>
          <a:p>
            <a:pPr indent="0" marL="0">
              <a:buNone/>
            </a:pPr>
            <a:r>
              <a:rPr lang="en-US" sz="1700" b="1" dirty="0">
                <a:solidFill>
                  <a:schemeClr val="bg1"/>
                </a:solidFill>
              </a:rPr>
              <a:t>Keys are files. </a:t>
            </a:r>
            <a:pPr indent="0" marL="0">
              <a:buNone/>
            </a:pPr>
            <a:r>
              <a:rPr lang="en-US" sz="1700" dirty="0">
                <a:solidFill>
                  <a:srgbClr val="C9D3E3"/>
                </a:solidFill>
              </a:rPr>
              <a:t>Production moves signing into a KMS and publishes keys via JWKS.</a:t>
            </a:r>
            <a:endParaRPr lang="en-US" sz="1700" dirty="0"/>
          </a:p>
        </p:txBody>
      </p:sp>
      <p:sp>
        <p:nvSpPr>
          <p:cNvPr id="9" name="limit-4"/>
          <p:cNvSpPr txBox="1"/>
          <p:nvPr/>
        </p:nvSpPr>
        <p:spPr>
          <a:xfrm>
            <a:off x="548640" y="3657600"/>
            <a:ext cx="5394960" cy="822960"/>
          </a:xfrm>
          <a:prstGeom prst="rect">
            <a:avLst/>
          </a:prstGeom>
          <a:noFill/>
          <a:ln/>
        </p:spPr>
        <p:txBody>
          <a:bodyPr wrap="square" lIns="0" tIns="0" rIns="0" bIns="0" rtlCol="0" anchor="t"/>
          <a:lstStyle/>
          <a:p>
            <a:pPr indent="0" marL="0">
              <a:buNone/>
            </a:pPr>
            <a:r>
              <a:rPr lang="en-US" sz="1700" b="1" dirty="0">
                <a:solidFill>
                  <a:schemeClr val="bg1"/>
                </a:solidFill>
              </a:rPr>
              <a:t>Localhost HTTP. </a:t>
            </a:r>
            <a:pPr indent="0" marL="0">
              <a:buNone/>
            </a:pPr>
            <a:r>
              <a:rPr lang="en-US" sz="1700" dirty="0">
                <a:solidFill>
                  <a:srgbClr val="C9D3E3"/>
                </a:solidFill>
              </a:rPr>
              <a:t>Any real network needs TLS for tokens and secrets.</a:t>
            </a:r>
            <a:endParaRPr lang="en-US" sz="1700" dirty="0"/>
          </a:p>
        </p:txBody>
      </p:sp>
      <p:sp>
        <p:nvSpPr>
          <p:cNvPr id="10" name="limit-5"/>
          <p:cNvSpPr txBox="1"/>
          <p:nvPr/>
        </p:nvSpPr>
        <p:spPr>
          <a:xfrm>
            <a:off x="6217920" y="3657600"/>
            <a:ext cx="5394960" cy="822960"/>
          </a:xfrm>
          <a:prstGeom prst="rect">
            <a:avLst/>
          </a:prstGeom>
          <a:noFill/>
          <a:ln/>
        </p:spPr>
        <p:txBody>
          <a:bodyPr wrap="square" lIns="0" tIns="0" rIns="0" bIns="0" rtlCol="0" anchor="t"/>
          <a:lstStyle/>
          <a:p>
            <a:pPr indent="0" marL="0">
              <a:buNone/>
            </a:pPr>
            <a:r>
              <a:rPr lang="en-US" sz="1700" b="1" dirty="0">
                <a:solidFill>
                  <a:schemeClr val="bg1"/>
                </a:solidFill>
              </a:rPr>
              <a:t>No revocation. </a:t>
            </a:r>
            <a:pPr indent="0" marL="0">
              <a:buNone/>
            </a:pPr>
            <a:r>
              <a:rPr lang="en-US" sz="1700" dirty="0">
                <a:solidFill>
                  <a:srgbClr val="C9D3E3"/>
                </a:solidFill>
              </a:rPr>
              <a:t>Skipped in 05.7; short lifetimes are the stopgap.</a:t>
            </a:r>
            <a:endParaRPr lang="en-US" sz="1700" dirty="0"/>
          </a:p>
        </p:txBody>
      </p:sp>
      <p:sp>
        <p:nvSpPr>
          <p:cNvPr id="11" name="next"/>
          <p:cNvSpPr txBox="1"/>
          <p:nvPr/>
        </p:nvSpPr>
        <p:spPr>
          <a:xfrm>
            <a:off x="548640" y="4846320"/>
            <a:ext cx="11064240" cy="640080"/>
          </a:xfrm>
          <a:prstGeom prst="rect">
            <a:avLst/>
          </a:prstGeom>
          <a:noFill/>
          <a:ln/>
        </p:spPr>
        <p:txBody>
          <a:bodyPr wrap="square" lIns="0" tIns="0" rIns="0" bIns="0" rtlCol="0" anchor="t"/>
          <a:lstStyle/>
          <a:p>
            <a:pPr indent="0" marL="0">
              <a:buNone/>
            </a:pPr>
            <a:r>
              <a:rPr lang="en-US" sz="2200" dirty="0">
                <a:solidFill>
                  <a:schemeClr val="accent3"/>
                </a:solidFill>
              </a:rPr>
              <a:t>Next: leave JWT internals behind and move to the next security layer.</a:t>
            </a:r>
            <a:endParaRPr lang="en-US" sz="22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C9D3E3"/>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Day 05 Signed Tokens">
  <a:themeElements>
    <a:clrScheme name="Day 05 Signed Tokens">
      <a:dk1>
        <a:srgbClr val="14213D"/>
      </a:dk1>
      <a:lt1>
        <a:srgbClr val="FFFFFF"/>
      </a:lt1>
      <a:dk2>
        <a:srgbClr val="4A5568"/>
      </a:dk2>
      <a:lt2>
        <a:srgbClr val="EEF1F5"/>
      </a:lt2>
      <a:accent1>
        <a:srgbClr val="B4531A"/>
      </a:accent1>
      <a:accent2>
        <a:srgbClr val="2F6FB0"/>
      </a:accent2>
      <a:accent3>
        <a:srgbClr val="F2A65A"/>
      </a:accent3>
      <a:accent4>
        <a:srgbClr val="8FC1F0"/>
      </a:accent4>
      <a:accent5>
        <a:srgbClr val="DDE2EA"/>
      </a:accent5>
      <a:accent6>
        <a:srgbClr val="5F6672"/>
      </a:accent6>
      <a:hlink>
        <a:srgbClr val="2F6FB0"/>
      </a:hlink>
      <a:folHlink>
        <a:srgbClr val="6B4FA0"/>
      </a:folHlink>
    </a:clrScheme>
    <a:fontScheme name="Day 05 Signed Token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05: Signed Tokens for Agents</dc:title>
  <dc:subject>PptxGenJS Presentation</dc:subject>
  <dc:creator>PptxGenJS</dc:creator>
  <cp:lastModifiedBy>PptxGenJS</cp:lastModifiedBy>
  <cp:revision>1</cp:revision>
  <dcterms:created xsi:type="dcterms:W3CDTF">2026-10-25T01:12:52Z</dcterms:created>
  <dcterms:modified xsi:type="dcterms:W3CDTF">2026-10-25T01:12:52Z</dcterms:modified>
</cp:coreProperties>
</file>