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0b0db59-2a93-075a-8a65-7faf3c4a7403}">
          <p14:sldIdLst>
            <p14:sldId id="256"/>
            <p14:sldId id="257"/>
          </p14:sldIdLst>
        </p14:section>
        <p14:section name="Final architecture" id="{2a8ea335-991e-2288-53e3-bd53a5f7b685}">
          <p14:sldIdLst>
            <p14:sldId id="258"/>
            <p14:sldId id="259"/>
          </p14:sldIdLst>
        </p14:section>
        <p14:section name="Human identity" id="{2bd88d44-707d-13b8-8c7f-712a30860c93}">
          <p14:sldIdLst>
            <p14:sldId id="260"/>
            <p14:sldId id="261"/>
            <p14:sldId id="262"/>
            <p14:sldId id="263"/>
          </p14:sldIdLst>
        </p14:section>
        <p14:section name="The agent boundary" id="{e61c9a4e-2e03-92b1-7f0f-4aaa7c0ae3b8}">
          <p14:sldIdLst>
            <p14:sldId id="264"/>
            <p14:sldId id="265"/>
          </p14:sldIdLst>
        </p14:section>
        <p14:section name="Delegation" id="{2a3d663e-05a3-6689-e0dd-5a57d193fd57}">
          <p14:sldIdLst>
            <p14:sldId id="266"/>
            <p14:sldId id="267"/>
            <p14:sldId id="268"/>
          </p14:sldIdLst>
        </p14:section>
        <p14:section name="The allow rule" id="{cb5fb910-c12a-cdb3-b234-e54ab7dbad2d}">
          <p14:sldIdLst>
            <p14:sldId id="269"/>
            <p14:sldId id="270"/>
            <p14:sldId id="271"/>
          </p14:sldIdLst>
        </p14:section>
        <p14:section name="Close" id="{c12a9080-2a04-8555-22f9-83763a60b5be}">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05 gave the agent its own signed identity. Day 06 brings the human into the picture: a real login, a signed human token, the agent's boundary, and finally a delegation authority that lets the Inventory Service verify that this agent is acting for this human, for this operation,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05 solved machine identity. But every request still looked like inventory-agent with no human behind it. If Alice can only read class B, nothing stopped the agent from reading class A while serving her. Day 06 adds the human, step by step, and ends with a verifiable delegation.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numbered hops. 1: Alice logs in to the Identity Service and receives a human JWT whose audience is the Inventory Agent. 2: she calls the agent with it. 3: the agent gets two machine JWTs from the Day 05 token issuer, one for the Inventory Service and one with scope delegation.request for the Delegation Authority. 4: the agent sends Alice's token plus its own actor token to the Delegation Authority and receives a delegation JWT. 5: the agent calls the Inventory Service with its machine JWT and the delegation JWT in X-Delegation-Token. 6: only after every check passes does the service read SQLite. Each private key lives in exactly one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spine of the day. Four questions, four answers, four different issuers of truth. The human is established by the Identity Service. The agent by the machine issuer. Whether the agent may act for the human by the Delegation Authority. Whether the operation may touch the resource by the Inventory Service's own policy. 401 means an identity question failed, 403 means a permission question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with the wrong answer on purpose. /whoami takes a user query parameter and repeats it. It is honest about it: authenticated false. The point: anything the caller sends as plain data is a claim. The rest of the day replaces claims with proofs.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06.02 built the user store: salted Argon2id, only hashes in the database, enforced by a database rule. 06.03 added /login. An attacker cannot tell an unknown user from a wrong password: same status, same message, same hashing cost, because unknown users are checked against a dummy hash. Weak hashes are upgraded transparently on successful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login response carries an RS256 JWT signed with the Identity Service's own private key. The audience is the Inventory Agent, so the token is useless anywhere else: the Inventory Service rejects it because its aud does not match. Lifetime is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06.05 played an attacker who has Alice's token and the public key. Every forgery was rejected by the same verifier the agent uses. 06.06 demonstrated, without code, that replay is different: a stolen valid token works until it expires. That limit shapes the design: tokens are short-lived and audience-bound, and Alice's token stops at the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06.07 made the agent verify Alice's token itself with the Identity Service's public key. Any failure is one generic 401, and the agent makes no downstream call at all. 06.08 wired the agent end to end: human token in, machine token out. The service still authorizes the machine only. These five scenarios are the 06.08 acceptance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tempting shortcut: have the agent add X-Human-User: alice. The experiment shows why it fails. The service cannot tell whether the agent or an attacker set it, so it logs it as an unverified claim and ignores it. scripts/check_identity_forwarding.py proves the decision matrix is identical across no claim, user-001 and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trap in delegation design. If the authority accepted {human: user-001} from the agent and signed it, we would have 06.09A with a signature on top: a laundered claim. Instead the agent must hand over Alice's own token, and the authority verifies it, including that its audience is this very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Shaped after OAuth 2.0 Token Exchange, RFC 8693. The actor proves itself with a machine token minted for the authority with scope delegation.request. The subject is proven by Alice's own token, and that token's audience must be the actor, so a token Alice gave some other agent can't be used. Then the relationship policy, then scope: never more than both parties may do. Only then is anything 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 brief onto the token. The human becomes sub, the authorized actor becomes act.sub, the RFC 8693 actor claim. Audience is the Inventory Service. The operation is a scope, class-specific because Day 04's policy is per class. Expiry is five minutes and never later than Alice's own token, so a grant can't outlive the login it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rule the Inventory Service applies to a delegated request. M: the calling machine is authenticated. D: the delegation token is authentic and meant for this service. A: the delegation names this very machine as the actor. H: the human's grant covers the permission this item needs. S: the service's own policy agrees, meaning the machine token's scope and the machine's role both cover it. The identity facts fail with 401, the permission facts with 403.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places make the formula true. At signing time the Delegation Authority makes H meaningful: the scope it signs is already capped by the intersection of Alice's permissions and the agent's, for a human it verified itself. At request time the Inventory Service checks, in this order: M in auth.authenticate, D in tokens.verify_delegation, A in auth.authenticate_delegation, then it classifies the SKU, then S's token-scope half, then H, then S's role half via authz.is_allowed. Only then lookup_sku. Code: inventory_service/app.py get_stock.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authority never signs more than both parties may do: Alice's permissions intersected with the agent's. And the service checks both the grant and the machine's own scope and role, so a delegation narrows the agent but can never widen it. These three rows are tests: test_e2e_alice_reads_widget_b, test_delegated_scope_narrows_the_machine, test_delegation_cannot_widen_the_machine. Julie's refusal is test_e2e_julie_cannot_get_a_class_a_grant.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331 is from the 06.01 to 06.09A commit. 06.09B added test_delegation.py with 19 test functions, some parametrized: the eight forged grants are signed by an attacker, unknown kid, wrong issuer, wrong audience, expired, edited sub, edited scope, and garbage. Every denial asserts that the stock details were never read; identity failures assert SQLite was not touched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gaps. Delegation is not yet mandatory for the agent's calls. Grants are bearer tokens for up to five minutes, mitigated by actor binding. Policy is static. And every permission is a read. Next: Alice can read inventory but cannot create purchase orders. That forces operation-level permissions into the delegation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10698480" cy="365760"/>
          </a:xfrm>
          <a:prstGeom prst="rect">
            <a:avLst/>
          </a:prstGeom>
          <a:noFill/>
          <a:ln/>
        </p:spPr>
        <p:txBody>
          <a:bodyPr wrap="square" rtlCol="0"/>
          <a:lstStyle>
            <a:lvl1pPr indent="0" marL="0">
              <a:buNone/>
              <a:defRPr lang="en-US" sz="1400" b="1" dirty="0">
                <a:solidFill>
                  <a:schemeClr val="accent4"/>
                </a:solidFill>
                <a:latin typeface="Courier New" pitchFamily="34" charset="0"/>
                <a:ea typeface="Courier New" pitchFamily="34" charset="-122"/>
                <a:cs typeface="Courier New" pitchFamily="34" charset="-120"/>
              </a:defRPr>
            </a:lvl1pPr>
          </a:lstStyle>
          <a:p>
            <a:pPr indent="0" marL="0">
              <a:buNone/>
            </a:pPr>
            <a:endParaRPr lang="en-US" sz="1400" dirty="0"/>
          </a:p>
        </p:txBody>
      </p:sp>
      <p:sp>
        <p:nvSpPr>
          <p:cNvPr id="3" name="Text 0"/>
          <p:cNvSpPr/>
          <p:nvPr>
            <p:ph idx="101" type="title" hasCustomPrompt="1"/>
          </p:nvPr>
        </p:nvSpPr>
        <p:spPr>
          <a:xfrm>
            <a:off x="731520" y="2194560"/>
            <a:ext cx="10698480" cy="1188720"/>
          </a:xfrm>
          <a:prstGeom prst="rect">
            <a:avLst/>
          </a:prstGeom>
          <a:noFill/>
          <a:ln/>
        </p:spPr>
        <p:txBody>
          <a:bodyPr wrap="square" rtlCol="0"/>
          <a:lstStyle>
            <a:lvl1pPr indent="0" marL="0">
              <a:buNone/>
              <a:defRPr lang="en-US" sz="4800" b="1" dirty="0">
                <a:solidFill>
                  <a:schemeClr val="bg1"/>
                </a:solidFill>
              </a:defRPr>
            </a:lvl1pPr>
          </a:lstStyle>
          <a:p>
            <a:pPr indent="0" marL="0">
              <a:buNone/>
            </a:pPr>
            <a:endParaRPr lang="en-US" sz="4800" dirty="0"/>
          </a:p>
        </p:txBody>
      </p:sp>
      <p:sp>
        <p:nvSpPr>
          <p:cNvPr id="4" name="Text 0"/>
          <p:cNvSpPr/>
          <p:nvPr>
            <p:ph idx="102" type="body" hasCustomPrompt="1"/>
          </p:nvPr>
        </p:nvSpPr>
        <p:spPr>
          <a:xfrm>
            <a:off x="731520" y="3429000"/>
            <a:ext cx="10698480" cy="822960"/>
          </a:xfrm>
          <a:prstGeom prst="rect">
            <a:avLst/>
          </a:prstGeom>
          <a:noFill/>
          <a:ln/>
        </p:spPr>
        <p:txBody>
          <a:bodyPr wrap="square" rtlCol="0"/>
          <a:lstStyle>
            <a:lvl1pPr indent="0" marL="0">
              <a:buNone/>
              <a:defRPr lang="en-US" sz="2200" dirty="0">
                <a:solidFill>
                  <a:schemeClr val="accent5"/>
                </a:solidFill>
              </a:defRPr>
            </a:lvl1pPr>
          </a:lstStyle>
          <a:p>
            <a:pPr indent="0" marL="0">
              <a:buNone/>
            </a:pPr>
            <a:endParaRPr lang="en-US" sz="2200" dirty="0"/>
          </a:p>
        </p:txBody>
      </p:sp>
      <p:sp>
        <p:nvSpPr>
          <p:cNvPr id="5" name="Text 0"/>
          <p:cNvSpPr/>
          <p:nvPr>
            <p:ph idx="103" type="body" hasCustomPrompt="1"/>
          </p:nvPr>
        </p:nvSpPr>
        <p:spPr>
          <a:xfrm>
            <a:off x="731520" y="5669280"/>
            <a:ext cx="10698480" cy="41148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274320"/>
          </a:xfrm>
          <a:prstGeom prst="rect">
            <a:avLst/>
          </a:prstGeom>
          <a:noFill/>
          <a:ln/>
        </p:spPr>
        <p:txBody>
          <a:bodyPr wrap="square" rtlCol="0"/>
          <a:lstStyle>
            <a:lvl1pPr indent="0" marL="0">
              <a:buNone/>
              <a:defRPr lang="en-US" sz="1200" b="1" dirty="0">
                <a:solidFill>
                  <a:schemeClr val="accent1"/>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rtlCol="0"/>
          <a:lstStyle>
            <a:lvl1pPr algn="ctr" indent="0" marL="0">
              <a:buNone/>
              <a:defRPr lang="en-US" sz="3200" b="1" dirty="0">
                <a:solidFill>
                  <a:schemeClr val="tx1"/>
                </a:solidFill>
              </a:defRPr>
            </a:lvl1pPr>
          </a:lstStyle>
          <a:p>
            <a:pPr algn="ctr" indent="0" marL="0">
              <a:buNone/>
            </a:pPr>
            <a:endParaRPr lang="en-US" sz="3200" dirty="0"/>
          </a:p>
        </p:txBody>
      </p:sp>
      <p:sp>
        <p:nvSpPr>
          <p:cNvPr id="4" name="Text 0"/>
          <p:cNvSpPr/>
          <p:nvPr/>
        </p:nvSpPr>
        <p:spPr>
          <a:xfrm>
            <a:off x="548640" y="6382512"/>
            <a:ext cx="6400800" cy="274320"/>
          </a:xfrm>
          <a:prstGeom prst="rect">
            <a:avLst/>
          </a:prstGeom>
          <a:noFill/>
          <a:ln/>
        </p:spPr>
        <p:txBody>
          <a:bodyPr wrap="square" lIns="0" tIns="0" rIns="0" bIns="0" rtlCol="0" anchor="ctr"/>
          <a:lstStyle/>
          <a:p>
            <a:pPr indent="0" marL="0">
              <a:buNone/>
            </a:pPr>
            <a:r>
              <a:rPr lang="en-US" sz="1000" dirty="0">
                <a:solidFill>
                  <a:schemeClr val="tx2"/>
                </a:solidFill>
              </a:rPr>
              <a:t>A2A Governance · Day 06 · Acting on behalf of a human</a:t>
            </a:r>
            <a:endParaRPr lang="en-US" sz="10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554480"/>
            <a:ext cx="10515600" cy="365760"/>
          </a:xfrm>
          <a:prstGeom prst="rect">
            <a:avLst/>
          </a:prstGeom>
          <a:noFill/>
          <a:ln/>
        </p:spPr>
        <p:txBody>
          <a:bodyPr wrap="square" rtlCol="0"/>
          <a:lstStyle>
            <a:lvl1pPr indent="0" marL="0">
              <a:buNone/>
              <a:defRPr lang="en-US" sz="1400" b="1" dirty="0">
                <a:solidFill>
                  <a:schemeClr val="bg1"/>
                </a:solidFill>
                <a:latin typeface="Courier New" pitchFamily="34" charset="0"/>
                <a:ea typeface="Courier New" pitchFamily="34" charset="-122"/>
                <a:cs typeface="Courier New" pitchFamily="34" charset="-120"/>
              </a:defRPr>
            </a:lvl1pPr>
          </a:lstStyle>
          <a:p>
            <a:pPr indent="0" marL="0">
              <a:buNone/>
            </a:pPr>
            <a:endParaRPr lang="en-US" sz="1400" dirty="0"/>
          </a:p>
        </p:txBody>
      </p:sp>
      <p:sp>
        <p:nvSpPr>
          <p:cNvPr id="3" name="Text 0"/>
          <p:cNvSpPr/>
          <p:nvPr>
            <p:ph idx="101" type="title" hasCustomPrompt="1"/>
          </p:nvPr>
        </p:nvSpPr>
        <p:spPr>
          <a:xfrm>
            <a:off x="822960" y="2103120"/>
            <a:ext cx="10515600" cy="1737360"/>
          </a:xfrm>
          <a:prstGeom prst="rect">
            <a:avLst/>
          </a:prstGeom>
          <a:noFill/>
          <a:ln/>
        </p:spPr>
        <p:txBody>
          <a:bodyPr wrap="square" rtlCol="0"/>
          <a:lstStyle>
            <a:lvl1pPr algn="ctr" indent="0" marL="0">
              <a:buNone/>
              <a:defRPr lang="en-US" sz="4000" b="1" dirty="0">
                <a:solidFill>
                  <a:schemeClr val="bg1"/>
                </a:solidFill>
              </a:defRPr>
            </a:lvl1pPr>
          </a:lstStyle>
          <a:p>
            <a:pPr algn="ctr" indent="0" marL="0">
              <a:buNone/>
            </a:pPr>
            <a:endParaRPr lang="en-US" sz="4000" dirty="0"/>
          </a:p>
        </p:txBody>
      </p:sp>
      <p:sp>
        <p:nvSpPr>
          <p:cNvPr id="4" name="Text 0"/>
          <p:cNvSpPr/>
          <p:nvPr>
            <p:ph idx="102" type="body" hasCustomPrompt="1"/>
          </p:nvPr>
        </p:nvSpPr>
        <p:spPr>
          <a:xfrm>
            <a:off x="822960" y="4114800"/>
            <a:ext cx="10515600" cy="1097280"/>
          </a:xfrm>
          <a:prstGeom prst="rect">
            <a:avLst/>
          </a:prstGeom>
          <a:noFill/>
          <a:ln/>
        </p:spPr>
        <p:txBody>
          <a:bodyPr wrap="square" rtlCol="0"/>
          <a:lstStyle>
            <a:lvl1pPr algn="ctr" indent="0" marL="0">
              <a:buNone/>
              <a:defRPr lang="en-US" sz="2000" dirty="0">
                <a:solidFill>
                  <a:schemeClr val="bg1"/>
                </a:solidFill>
              </a:defRPr>
            </a:lvl1pPr>
          </a:lstStyle>
          <a:p>
            <a:pPr algn="ctr" indent="0" marL="0">
              <a:buNone/>
            </a:pPr>
            <a:endParaRPr lang="en-US" sz="20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10698480" cy="365760"/>
          </a:xfrm>
          <a:prstGeom prst="rect">
            <a:avLst/>
          </a:prstGeom>
          <a:noFill/>
          <a:ln/>
        </p:spPr>
        <p:txBody>
          <a:bodyPr wrap="square" lIns="0" tIns="0" rIns="0" bIns="0" rtlCol="0"/>
          <a:lstStyle/>
          <a:p>
            <a:pPr indent="0" marL="0">
              <a:buNone/>
            </a:pPr>
            <a:r>
              <a:rPr lang="en-US" sz="1400" b="1" dirty="0">
                <a:solidFill>
                  <a:schemeClr val="accent4"/>
                </a:solidFill>
                <a:latin typeface="Courier New" pitchFamily="34" charset="0"/>
                <a:ea typeface="Courier New" pitchFamily="34" charset="-122"/>
                <a:cs typeface="Courier New" pitchFamily="34" charset="-120"/>
              </a:rPr>
              <a:t>A2A GOVERNANCE · DAY 06</a:t>
            </a:r>
            <a:endParaRPr lang="en-US" sz="1400" dirty="0"/>
          </a:p>
        </p:txBody>
      </p:sp>
      <p:sp>
        <p:nvSpPr>
          <p:cNvPr id="3" name="Text 0"/>
          <p:cNvSpPr/>
          <p:nvPr>
            <p:ph idx="101" type="title" hasCustomPrompt="1"/>
          </p:nvPr>
        </p:nvSpPr>
        <p:spPr>
          <a:xfrm>
            <a:off x="731520" y="2194560"/>
            <a:ext cx="10698480" cy="1188720"/>
          </a:xfrm>
          <a:prstGeom prst="rect">
            <a:avLst/>
          </a:prstGeom>
          <a:noFill/>
          <a:ln/>
        </p:spPr>
        <p:txBody>
          <a:bodyPr wrap="square" lIns="0" tIns="0" rIns="0" bIns="0" rtlCol="0" anchor="t"/>
          <a:lstStyle/>
          <a:p>
            <a:pPr indent="0" marL="0">
              <a:buNone/>
            </a:pPr>
            <a:r>
              <a:rPr lang="en-US" sz="4800" b="1" dirty="0">
                <a:solidFill>
                  <a:schemeClr val="bg1"/>
                </a:solidFill>
              </a:rPr>
              <a:t>Acting on behalf of a human</a:t>
            </a:r>
            <a:endParaRPr lang="en-US" sz="4800" dirty="0"/>
          </a:p>
        </p:txBody>
      </p:sp>
      <p:sp>
        <p:nvSpPr>
          <p:cNvPr id="4" name="Text 0"/>
          <p:cNvSpPr/>
          <p:nvPr>
            <p:ph idx="102" type="body" hasCustomPrompt="1"/>
          </p:nvPr>
        </p:nvSpPr>
        <p:spPr>
          <a:xfrm>
            <a:off x="731520" y="3429000"/>
            <a:ext cx="10698480" cy="822960"/>
          </a:xfrm>
          <a:prstGeom prst="rect">
            <a:avLst/>
          </a:prstGeom>
          <a:noFill/>
          <a:ln/>
        </p:spPr>
        <p:txBody>
          <a:bodyPr wrap="square" lIns="0" tIns="0" rIns="0" bIns="0" rtlCol="0" anchor="t"/>
          <a:lstStyle/>
          <a:p>
            <a:pPr indent="0" marL="0">
              <a:buNone/>
            </a:pPr>
            <a:r>
              <a:rPr lang="en-US" sz="2200" dirty="0">
                <a:solidFill>
                  <a:schemeClr val="accent5"/>
                </a:solidFill>
              </a:rPr>
              <a:t>From a claimed name to a signed, verifiable delegation</a:t>
            </a:r>
            <a:endParaRPr lang="en-US" sz="2200" dirty="0"/>
          </a:p>
        </p:txBody>
      </p:sp>
      <p:sp>
        <p:nvSpPr>
          <p:cNvPr id="5" name="Text 0"/>
          <p:cNvSpPr/>
          <p:nvPr>
            <p:ph idx="103" type="body" hasCustomPrompt="1"/>
          </p:nvPr>
        </p:nvSpPr>
        <p:spPr>
          <a:xfrm>
            <a:off x="731520" y="5669280"/>
            <a:ext cx="10698480" cy="411480"/>
          </a:xfrm>
          <a:prstGeom prst="rect">
            <a:avLst/>
          </a:prstGeom>
          <a:noFill/>
          <a:ln/>
        </p:spPr>
        <p:txBody>
          <a:bodyPr wrap="square" lIns="0" tIns="0" rIns="0" bIns="0" rtlCol="0"/>
          <a:lstStyle/>
          <a:p>
            <a:pPr indent="0" marL="0">
              <a:buNone/>
            </a:pPr>
            <a:r>
              <a:rPr lang="en-US" sz="1400" dirty="0">
                <a:solidFill>
                  <a:schemeClr val="accent4"/>
                </a:solidFill>
              </a:rPr>
              <a:t>06.01 – 06.09B · Identity Service · Inventory Agent · Delegation Authority · Inventory Service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274320"/>
          </a:xfrm>
          <a:prstGeom prst="rect">
            <a:avLst/>
          </a:prstGeom>
          <a:noFill/>
          <a:ln/>
        </p:spPr>
        <p:txBody>
          <a:bodyPr wrap="square" lIns="0" tIns="0" rIns="0" bIns="0" rtlCol="0"/>
          <a:lstStyle/>
          <a:p>
            <a:pPr indent="0" marL="0">
              <a:buNone/>
            </a:pPr>
            <a:r>
              <a:rPr lang="en-US" sz="1200" b="1" dirty="0">
                <a:solidFill>
                  <a:schemeClr val="accent1"/>
                </a:solidFill>
                <a:latin typeface="Courier New" pitchFamily="34" charset="0"/>
                <a:ea typeface="Courier New" pitchFamily="34" charset="-122"/>
                <a:cs typeface="Courier New" pitchFamily="34" charset="-120"/>
              </a:rPr>
              <a:t>CONTEXT</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ctr" indent="0" marL="0">
              <a:buNone/>
            </a:pPr>
            <a:r>
              <a:rPr lang="en-US" sz="3200" b="1" dirty="0">
                <a:solidFill>
                  <a:schemeClr val="tx1"/>
                </a:solidFill>
              </a:rPr>
              <a:t>Where Day 05 left us</a:t>
            </a:r>
            <a:endParaRPr lang="en-US" sz="3200" dirty="0"/>
          </a:p>
        </p:txBody>
      </p:sp>
      <p:sp>
        <p:nvSpPr>
          <p:cNvPr id="4" name="card-1"/>
          <p:cNvSpPr/>
          <p:nvPr/>
        </p:nvSpPr>
        <p:spPr>
          <a:xfrm>
            <a:off x="548640" y="1600200"/>
            <a:ext cx="5394960" cy="3108960"/>
          </a:xfrm>
          <a:prstGeom prst="roundRect">
            <a:avLst>
              <a:gd name="adj" fmla="val 2941"/>
            </a:avLst>
          </a:prstGeom>
          <a:solidFill>
            <a:srgbClr val="E1ECF7"/>
          </a:solidFill>
          <a:ln w="12700">
            <a:solidFill>
              <a:srgbClr val="E1ECF7"/>
            </a:solidFill>
            <a:prstDash val="solid"/>
          </a:ln>
        </p:spPr>
      </p:sp>
      <p:sp>
        <p:nvSpPr>
          <p:cNvPr id="5" name="text-2"/>
          <p:cNvSpPr txBox="1"/>
          <p:nvPr/>
        </p:nvSpPr>
        <p:spPr>
          <a:xfrm>
            <a:off x="822960" y="1783080"/>
            <a:ext cx="4846320" cy="365760"/>
          </a:xfrm>
          <a:prstGeom prst="rect">
            <a:avLst/>
          </a:prstGeom>
          <a:noFill/>
          <a:ln/>
        </p:spPr>
        <p:txBody>
          <a:bodyPr wrap="square" lIns="0" tIns="0" rIns="0" bIns="0" rtlCol="0" anchor="t"/>
          <a:lstStyle/>
          <a:p>
            <a:pPr indent="0" marL="0">
              <a:buNone/>
            </a:pPr>
            <a:r>
              <a:rPr lang="en-US" sz="1800" b="1" dirty="0">
                <a:solidFill>
                  <a:schemeClr val="accent2"/>
                </a:solidFill>
              </a:rPr>
              <a:t>What worked</a:t>
            </a:r>
            <a:endParaRPr lang="en-US" sz="1800" dirty="0"/>
          </a:p>
        </p:txBody>
      </p:sp>
      <p:sp>
        <p:nvSpPr>
          <p:cNvPr id="6" name="text-3"/>
          <p:cNvSpPr txBox="1"/>
          <p:nvPr/>
        </p:nvSpPr>
        <p:spPr>
          <a:xfrm>
            <a:off x="822960" y="2240280"/>
            <a:ext cx="4846320" cy="2286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The agent proves itself with a signed machine JWT</a:t>
            </a:r>
            <a:endParaRPr lang="en-US" sz="1500" dirty="0"/>
          </a:p>
          <a:p>
            <a:pPr marL="342900" indent="-342900">
              <a:spcAft>
                <a:spcPts val="800"/>
              </a:spcAft>
              <a:buSzPct val="100000"/>
              <a:buChar char="•"/>
            </a:pPr>
            <a:r>
              <a:rPr lang="en-US" sz="1500" dirty="0">
                <a:solidFill>
                  <a:schemeClr val="tx1"/>
                </a:solidFill>
              </a:rPr>
              <a:t>The service holds public keys only, chosen by kid</a:t>
            </a:r>
            <a:endParaRPr lang="en-US" sz="1500" dirty="0"/>
          </a:p>
          <a:p>
            <a:pPr marL="342900" indent="-342900">
              <a:spcAft>
                <a:spcPts val="800"/>
              </a:spcAft>
              <a:buSzPct val="100000"/>
              <a:buChar char="•"/>
            </a:pPr>
            <a:r>
              <a:rPr lang="en-US" sz="1500" dirty="0">
                <a:solidFill>
                  <a:schemeClr val="tx1"/>
                </a:solidFill>
              </a:rPr>
              <a:t>Scopes narrow a token; roles and classes still decide</a:t>
            </a:r>
            <a:endParaRPr lang="en-US" sz="1500" dirty="0"/>
          </a:p>
          <a:p>
            <a:pPr marL="342900" indent="-342900">
              <a:spcAft>
                <a:spcPts val="800"/>
              </a:spcAft>
              <a:buSzPct val="100000"/>
              <a:buChar char="•"/>
            </a:pPr>
            <a:r>
              <a:rPr lang="en-US" sz="1500" dirty="0">
                <a:solidFill>
                  <a:schemeClr val="tx1"/>
                </a:solidFill>
              </a:rPr>
              <a:t>Keys rotate by config; 76 attacks fail safely</a:t>
            </a:r>
            <a:endParaRPr lang="en-US" sz="1500" dirty="0"/>
          </a:p>
        </p:txBody>
      </p:sp>
      <p:sp>
        <p:nvSpPr>
          <p:cNvPr id="7" name="card-4"/>
          <p:cNvSpPr/>
          <p:nvPr/>
        </p:nvSpPr>
        <p:spPr>
          <a:xfrm>
            <a:off x="6245352" y="1600200"/>
            <a:ext cx="5394960" cy="3108960"/>
          </a:xfrm>
          <a:prstGeom prst="roundRect">
            <a:avLst>
              <a:gd name="adj" fmla="val 2941"/>
            </a:avLst>
          </a:prstGeom>
          <a:solidFill>
            <a:srgbClr val="F6E7DD"/>
          </a:solidFill>
          <a:ln w="12700">
            <a:solidFill>
              <a:srgbClr val="F6E7DD"/>
            </a:solidFill>
            <a:prstDash val="solid"/>
          </a:ln>
        </p:spPr>
      </p:sp>
      <p:sp>
        <p:nvSpPr>
          <p:cNvPr id="8" name="text-5"/>
          <p:cNvSpPr txBox="1"/>
          <p:nvPr/>
        </p:nvSpPr>
        <p:spPr>
          <a:xfrm>
            <a:off x="6519672" y="1783080"/>
            <a:ext cx="4846320" cy="365760"/>
          </a:xfrm>
          <a:prstGeom prst="rect">
            <a:avLst/>
          </a:prstGeom>
          <a:noFill/>
          <a:ln/>
        </p:spPr>
        <p:txBody>
          <a:bodyPr wrap="square" lIns="0" tIns="0" rIns="0" bIns="0" rtlCol="0" anchor="t"/>
          <a:lstStyle/>
          <a:p>
            <a:pPr indent="0" marL="0">
              <a:buNone/>
            </a:pPr>
            <a:r>
              <a:rPr lang="en-US" sz="1800" b="1" dirty="0">
                <a:solidFill>
                  <a:schemeClr val="accent1"/>
                </a:solidFill>
              </a:rPr>
              <a:t>What was still missing</a:t>
            </a:r>
            <a:endParaRPr lang="en-US" sz="1800" dirty="0"/>
          </a:p>
        </p:txBody>
      </p:sp>
      <p:sp>
        <p:nvSpPr>
          <p:cNvPr id="9" name="text-6"/>
          <p:cNvSpPr txBox="1"/>
          <p:nvPr/>
        </p:nvSpPr>
        <p:spPr>
          <a:xfrm>
            <a:off x="6519672" y="2240280"/>
            <a:ext cx="4846320" cy="2286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The service knows the agent, never the human</a:t>
            </a:r>
            <a:endParaRPr lang="en-US" sz="1500" dirty="0"/>
          </a:p>
          <a:p>
            <a:pPr marL="342900" indent="-342900">
              <a:spcAft>
                <a:spcPts val="800"/>
              </a:spcAft>
              <a:buSzPct val="100000"/>
              <a:buChar char="•"/>
            </a:pPr>
            <a:r>
              <a:rPr lang="en-US" sz="1500" dirty="0">
                <a:solidFill>
                  <a:schemeClr val="tx1"/>
                </a:solidFill>
              </a:rPr>
              <a:t>Anyone reaching the agent gets the agent's authority</a:t>
            </a:r>
            <a:endParaRPr lang="en-US" sz="1500" dirty="0"/>
          </a:p>
          <a:p>
            <a:pPr marL="342900" indent="-342900">
              <a:spcAft>
                <a:spcPts val="800"/>
              </a:spcAft>
              <a:buSzPct val="100000"/>
              <a:buChar char="•"/>
            </a:pPr>
            <a:r>
              <a:rPr lang="en-US" sz="1500" dirty="0">
                <a:solidFill>
                  <a:schemeClr val="tx1"/>
                </a:solidFill>
              </a:rPr>
              <a:t>No way to say "only what Alice may do"</a:t>
            </a:r>
            <a:endParaRPr lang="en-US" sz="1500" dirty="0"/>
          </a:p>
          <a:p>
            <a:pPr marL="342900" indent="-342900">
              <a:spcAft>
                <a:spcPts val="800"/>
              </a:spcAft>
              <a:buSzPct val="100000"/>
              <a:buChar char="•"/>
            </a:pPr>
            <a:r>
              <a:rPr lang="en-US" sz="1500" dirty="0">
                <a:solidFill>
                  <a:schemeClr val="tx1"/>
                </a:solidFill>
              </a:rPr>
              <a:t>A forwarded user name would be just a string</a:t>
            </a:r>
            <a:endParaRPr lang="en-US" sz="1500" dirty="0"/>
          </a:p>
        </p:txBody>
      </p:sp>
      <p:sp>
        <p:nvSpPr>
          <p:cNvPr id="10" name="icon-bg-7"/>
          <p:cNvSpPr/>
          <p:nvPr/>
        </p:nvSpPr>
        <p:spPr>
          <a:xfrm>
            <a:off x="548640" y="5074920"/>
            <a:ext cx="566928" cy="566928"/>
          </a:xfrm>
          <a:prstGeom prst="ellipse">
            <a:avLst/>
          </a:prstGeom>
          <a:solidFill>
            <a:schemeClr val="tx1"/>
          </a:solidFill>
          <a:ln w="12700">
            <a:solidFill>
              <a:schemeClr val="tx1"/>
            </a:solidFill>
            <a:prstDash val="solid"/>
          </a:ln>
        </p:spPr>
      </p:sp>
      <p:pic>
        <p:nvPicPr>
          <p:cNvPr id="11" name="icon-8" descr="preencoded.png">    </p:cNvPr>
          <p:cNvPicPr>
            <a:picLocks noChangeAspect="1"/>
          </p:cNvPicPr>
          <p:nvPr/>
        </p:nvPicPr>
        <p:blipFill>
          <a:blip r:embed="rId1"/>
          <a:stretch>
            <a:fillRect/>
          </a:stretch>
        </p:blipFill>
        <p:spPr>
          <a:xfrm>
            <a:off x="684703" y="5210983"/>
            <a:ext cx="294803" cy="294803"/>
          </a:xfrm>
          <a:prstGeom prst="rect">
            <a:avLst/>
          </a:prstGeom>
        </p:spPr>
      </p:pic>
      <p:sp>
        <p:nvSpPr>
          <p:cNvPr id="12" name="text-9"/>
          <p:cNvSpPr txBox="1"/>
          <p:nvPr/>
        </p:nvSpPr>
        <p:spPr>
          <a:xfrm>
            <a:off x="1280160" y="4983480"/>
            <a:ext cx="10332720" cy="777240"/>
          </a:xfrm>
          <a:prstGeom prst="rect">
            <a:avLst/>
          </a:prstGeom>
          <a:noFill/>
          <a:ln/>
        </p:spPr>
        <p:txBody>
          <a:bodyPr wrap="square" lIns="0" tIns="0" rIns="0" bIns="0" rtlCol="0" anchor="ctr"/>
          <a:lstStyle/>
          <a:p>
            <a:pPr indent="0" marL="0">
              <a:buNone/>
            </a:pPr>
            <a:r>
              <a:rPr lang="en-US" sz="1600" b="1" dirty="0">
                <a:solidFill>
                  <a:schemeClr val="tx1"/>
                </a:solidFill>
              </a:rPr>
              <a:t>Day 06 goal: </a:t>
            </a:r>
            <a:pPr indent="0" marL="0">
              <a:buNone/>
            </a:pPr>
            <a:r>
              <a:rPr lang="en-US" sz="1600" dirty="0">
                <a:solidFill>
                  <a:schemeClr val="tx1"/>
                </a:solidFill>
              </a:rPr>
              <a:t>the Inventory Service can verify who the human is, which agent acts for them, and what that agent may do for them, without trusting anything the agent merely says.</a:t>
            </a:r>
            <a:endParaRPr lang="en-US" sz="16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274320"/>
          </a:xfrm>
          <a:prstGeom prst="rect">
            <a:avLst/>
          </a:prstGeom>
          <a:noFill/>
          <a:ln/>
        </p:spPr>
        <p:txBody>
          <a:bodyPr wrap="square" lIns="0" tIns="0" rIns="0" bIns="0" rtlCol="0"/>
          <a:lstStyle/>
          <a:p>
            <a:pPr indent="0" marL="0">
              <a:buNone/>
            </a:pPr>
            <a:r>
              <a:rPr lang="en-US" sz="1200" b="1" dirty="0">
                <a:solidFill>
                  <a:schemeClr val="accent1"/>
                </a:solidFill>
                <a:latin typeface="Courier New" pitchFamily="34" charset="0"/>
                <a:ea typeface="Courier New" pitchFamily="34" charset="-122"/>
                <a:cs typeface="Courier New" pitchFamily="34" charset="-120"/>
              </a:rPr>
              <a:t>THE END STATE</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ctr" indent="0" marL="0">
              <a:buNone/>
            </a:pPr>
            <a:r>
              <a:rPr lang="en-US" sz="3200" b="1" dirty="0">
                <a:solidFill>
                  <a:schemeClr val="tx1"/>
                </a:solidFill>
              </a:rPr>
              <a:t>The architecture we ended with</a:t>
            </a:r>
            <a:endParaRPr lang="en-US" sz="3200" dirty="0"/>
          </a:p>
        </p:txBody>
      </p:sp>
      <p:sp>
        <p:nvSpPr>
          <p:cNvPr id="4" name="card-10"/>
          <p:cNvSpPr/>
          <p:nvPr/>
        </p:nvSpPr>
        <p:spPr>
          <a:xfrm>
            <a:off x="548640" y="1554480"/>
            <a:ext cx="2377440" cy="1188720"/>
          </a:xfrm>
          <a:prstGeom prst="roundRect">
            <a:avLst>
              <a:gd name="adj" fmla="val 7692"/>
            </a:avLst>
          </a:prstGeom>
          <a:solidFill>
            <a:schemeClr val="bg1"/>
          </a:solidFill>
          <a:ln w="22225">
            <a:solidFill>
              <a:schemeClr val="accent1"/>
            </a:solidFill>
            <a:prstDash val="solid"/>
          </a:ln>
          <a:effectLst>
            <a:outerShdw sx="100000" sy="100000" kx="0" ky="0" algn="bl" rotWithShape="0" blurRad="76200" dist="25400" dir="5400000">
              <a:srgbClr val="14213D">
                <a:alpha val="14000"/>
              </a:srgbClr>
            </a:outerShdw>
          </a:effectLst>
        </p:spPr>
      </p:sp>
      <p:sp>
        <p:nvSpPr>
          <p:cNvPr id="5" name="icon-bg-11"/>
          <p:cNvSpPr/>
          <p:nvPr/>
        </p:nvSpPr>
        <p:spPr>
          <a:xfrm>
            <a:off x="685800" y="1691640"/>
            <a:ext cx="475488" cy="475488"/>
          </a:xfrm>
          <a:prstGeom prst="ellipse">
            <a:avLst/>
          </a:prstGeom>
          <a:solidFill>
            <a:schemeClr val="accent1"/>
          </a:solidFill>
          <a:ln w="12700">
            <a:solidFill>
              <a:schemeClr val="accent1"/>
            </a:solidFill>
            <a:prstDash val="solid"/>
          </a:ln>
        </p:spPr>
      </p:sp>
      <p:pic>
        <p:nvPicPr>
          <p:cNvPr id="6" name="icon-12" descr="preencoded.png">    </p:cNvPr>
          <p:cNvPicPr>
            <a:picLocks noChangeAspect="1"/>
          </p:cNvPicPr>
          <p:nvPr/>
        </p:nvPicPr>
        <p:blipFill>
          <a:blip r:embed="rId1"/>
          <a:stretch>
            <a:fillRect/>
          </a:stretch>
        </p:blipFill>
        <p:spPr>
          <a:xfrm>
            <a:off x="799917" y="1805757"/>
            <a:ext cx="247254" cy="247254"/>
          </a:xfrm>
          <a:prstGeom prst="rect">
            <a:avLst/>
          </a:prstGeom>
        </p:spPr>
      </p:pic>
      <p:sp>
        <p:nvSpPr>
          <p:cNvPr id="7" name="text-13"/>
          <p:cNvSpPr txBox="1"/>
          <p:nvPr/>
        </p:nvSpPr>
        <p:spPr>
          <a:xfrm>
            <a:off x="1261872" y="1645920"/>
            <a:ext cx="1572768" cy="566928"/>
          </a:xfrm>
          <a:prstGeom prst="rect">
            <a:avLst/>
          </a:prstGeom>
          <a:noFill/>
          <a:ln/>
        </p:spPr>
        <p:txBody>
          <a:bodyPr wrap="square" lIns="0" tIns="0" rIns="0" bIns="0" rtlCol="0" anchor="ctr"/>
          <a:lstStyle/>
          <a:p>
            <a:pPr indent="0" marL="0">
              <a:buNone/>
            </a:pPr>
            <a:r>
              <a:rPr lang="en-US" sz="1500" b="1" dirty="0">
                <a:solidFill>
                  <a:schemeClr val="tx1"/>
                </a:solidFill>
              </a:rPr>
              <a:t>Identity Service</a:t>
            </a:r>
            <a:endParaRPr lang="en-US" sz="1400" dirty="0"/>
          </a:p>
          <a:p>
            <a:pPr indent="0" marL="0">
              <a:buNone/>
            </a:pPr>
            <a:r>
              <a:rPr lang="en-US" sz="1100" dirty="0">
                <a:solidFill>
                  <a:schemeClr val="tx2"/>
                </a:solidFill>
              </a:rPr>
              <a:t>:8002</a:t>
            </a:r>
            <a:endParaRPr lang="en-US" sz="1400" dirty="0"/>
          </a:p>
        </p:txBody>
      </p:sp>
      <p:sp>
        <p:nvSpPr>
          <p:cNvPr id="8" name="text-14"/>
          <p:cNvSpPr txBox="1"/>
          <p:nvPr/>
        </p:nvSpPr>
        <p:spPr>
          <a:xfrm>
            <a:off x="685800" y="2249424"/>
            <a:ext cx="2103120" cy="438912"/>
          </a:xfrm>
          <a:prstGeom prst="rect">
            <a:avLst/>
          </a:prstGeom>
          <a:noFill/>
          <a:ln/>
        </p:spPr>
        <p:txBody>
          <a:bodyPr wrap="square" lIns="0" tIns="0" rIns="0" bIns="0" rtlCol="0" anchor="t"/>
          <a:lstStyle/>
          <a:p>
            <a:pPr indent="0" marL="0">
              <a:buNone/>
            </a:pPr>
            <a:r>
              <a:rPr lang="en-US" sz="1100" dirty="0">
                <a:solidFill>
                  <a:schemeClr val="tx2"/>
                </a:solidFill>
              </a:rPr>
              <a:t>Argon2id passwords · signs human JWTs</a:t>
            </a:r>
            <a:endParaRPr lang="en-US" sz="1100" dirty="0"/>
          </a:p>
        </p:txBody>
      </p:sp>
      <p:sp>
        <p:nvSpPr>
          <p:cNvPr id="9" name="card-15"/>
          <p:cNvSpPr/>
          <p:nvPr/>
        </p:nvSpPr>
        <p:spPr>
          <a:xfrm>
            <a:off x="548640" y="3200400"/>
            <a:ext cx="2377440" cy="1188720"/>
          </a:xfrm>
          <a:prstGeom prst="roundRect">
            <a:avLst>
              <a:gd name="adj" fmla="val 7692"/>
            </a:avLst>
          </a:prstGeom>
          <a:solidFill>
            <a:schemeClr val="bg1"/>
          </a:solidFill>
          <a:ln w="22225">
            <a:solidFill>
              <a:schemeClr val="accent1"/>
            </a:solidFill>
            <a:prstDash val="solid"/>
          </a:ln>
          <a:effectLst>
            <a:outerShdw sx="100000" sy="100000" kx="0" ky="0" algn="bl" rotWithShape="0" blurRad="76200" dist="25400" dir="5400000">
              <a:srgbClr val="14213D">
                <a:alpha val="14000"/>
              </a:srgbClr>
            </a:outerShdw>
          </a:effectLst>
        </p:spPr>
      </p:sp>
      <p:sp>
        <p:nvSpPr>
          <p:cNvPr id="10" name="icon-bg-16"/>
          <p:cNvSpPr/>
          <p:nvPr/>
        </p:nvSpPr>
        <p:spPr>
          <a:xfrm>
            <a:off x="685800" y="3337560"/>
            <a:ext cx="475488" cy="475488"/>
          </a:xfrm>
          <a:prstGeom prst="ellipse">
            <a:avLst/>
          </a:prstGeom>
          <a:solidFill>
            <a:schemeClr val="accent1"/>
          </a:solidFill>
          <a:ln w="12700">
            <a:solidFill>
              <a:schemeClr val="accent1"/>
            </a:solidFill>
            <a:prstDash val="solid"/>
          </a:ln>
        </p:spPr>
      </p:sp>
      <p:pic>
        <p:nvPicPr>
          <p:cNvPr id="11" name="icon-17" descr="preencoded.png">    </p:cNvPr>
          <p:cNvPicPr>
            <a:picLocks noChangeAspect="1"/>
          </p:cNvPicPr>
          <p:nvPr/>
        </p:nvPicPr>
        <p:blipFill>
          <a:blip r:embed="rId2"/>
          <a:stretch>
            <a:fillRect/>
          </a:stretch>
        </p:blipFill>
        <p:spPr>
          <a:xfrm>
            <a:off x="799917" y="3451677"/>
            <a:ext cx="247254" cy="247254"/>
          </a:xfrm>
          <a:prstGeom prst="rect">
            <a:avLst/>
          </a:prstGeom>
        </p:spPr>
      </p:pic>
      <p:sp>
        <p:nvSpPr>
          <p:cNvPr id="12" name="text-18"/>
          <p:cNvSpPr txBox="1"/>
          <p:nvPr/>
        </p:nvSpPr>
        <p:spPr>
          <a:xfrm>
            <a:off x="1261872" y="3291840"/>
            <a:ext cx="1572768" cy="566928"/>
          </a:xfrm>
          <a:prstGeom prst="rect">
            <a:avLst/>
          </a:prstGeom>
          <a:noFill/>
          <a:ln/>
        </p:spPr>
        <p:txBody>
          <a:bodyPr wrap="square" lIns="0" tIns="0" rIns="0" bIns="0" rtlCol="0" anchor="ctr"/>
          <a:lstStyle/>
          <a:p>
            <a:pPr indent="0" marL="0">
              <a:buNone/>
            </a:pPr>
            <a:r>
              <a:rPr lang="en-US" sz="1500" b="1" dirty="0">
                <a:solidFill>
                  <a:schemeClr val="tx1"/>
                </a:solidFill>
              </a:rPr>
              <a:t>Alice</a:t>
            </a:r>
            <a:endParaRPr lang="en-US" sz="1400" dirty="0"/>
          </a:p>
          <a:p>
            <a:pPr indent="0" marL="0">
              <a:buNone/>
            </a:pPr>
            <a:r>
              <a:rPr lang="en-US" sz="1100" dirty="0">
                <a:solidFill>
                  <a:schemeClr val="tx2"/>
                </a:solidFill>
              </a:rPr>
              <a:t>user-001 · a human</a:t>
            </a:r>
            <a:endParaRPr lang="en-US" sz="1400" dirty="0"/>
          </a:p>
        </p:txBody>
      </p:sp>
      <p:sp>
        <p:nvSpPr>
          <p:cNvPr id="13" name="text-19"/>
          <p:cNvSpPr txBox="1"/>
          <p:nvPr/>
        </p:nvSpPr>
        <p:spPr>
          <a:xfrm>
            <a:off x="685800" y="3895344"/>
            <a:ext cx="2103120" cy="438912"/>
          </a:xfrm>
          <a:prstGeom prst="rect">
            <a:avLst/>
          </a:prstGeom>
          <a:noFill/>
          <a:ln/>
        </p:spPr>
        <p:txBody>
          <a:bodyPr wrap="square" lIns="0" tIns="0" rIns="0" bIns="0" rtlCol="0" anchor="t"/>
          <a:lstStyle/>
          <a:p>
            <a:pPr indent="0" marL="0">
              <a:buNone/>
            </a:pPr>
            <a:r>
              <a:rPr lang="en-US" sz="1100" dirty="0">
                <a:solidFill>
                  <a:schemeClr val="tx2"/>
                </a:solidFill>
              </a:rPr>
              <a:t>Logs in, then asks the agent</a:t>
            </a:r>
            <a:endParaRPr lang="en-US" sz="1100" dirty="0"/>
          </a:p>
        </p:txBody>
      </p:sp>
      <p:sp>
        <p:nvSpPr>
          <p:cNvPr id="14" name="card-20"/>
          <p:cNvSpPr/>
          <p:nvPr/>
        </p:nvSpPr>
        <p:spPr>
          <a:xfrm>
            <a:off x="3840480" y="1554480"/>
            <a:ext cx="2514600" cy="1188720"/>
          </a:xfrm>
          <a:prstGeom prst="roundRect">
            <a:avLst>
              <a:gd name="adj" fmla="val 7692"/>
            </a:avLst>
          </a:prstGeom>
          <a:solidFill>
            <a:schemeClr val="bg1"/>
          </a:solidFill>
          <a:ln w="22225">
            <a:solidFill>
              <a:schemeClr val="accent2"/>
            </a:solidFill>
            <a:prstDash val="solid"/>
          </a:ln>
          <a:effectLst>
            <a:outerShdw sx="100000" sy="100000" kx="0" ky="0" algn="bl" rotWithShape="0" blurRad="76200" dist="25400" dir="5400000">
              <a:srgbClr val="14213D">
                <a:alpha val="14000"/>
              </a:srgbClr>
            </a:outerShdw>
          </a:effectLst>
        </p:spPr>
      </p:sp>
      <p:sp>
        <p:nvSpPr>
          <p:cNvPr id="15" name="icon-bg-21"/>
          <p:cNvSpPr/>
          <p:nvPr/>
        </p:nvSpPr>
        <p:spPr>
          <a:xfrm>
            <a:off x="3977640" y="1691640"/>
            <a:ext cx="475488" cy="475488"/>
          </a:xfrm>
          <a:prstGeom prst="ellipse">
            <a:avLst/>
          </a:prstGeom>
          <a:solidFill>
            <a:schemeClr val="accent2"/>
          </a:solidFill>
          <a:ln w="12700">
            <a:solidFill>
              <a:schemeClr val="accent2"/>
            </a:solidFill>
            <a:prstDash val="solid"/>
          </a:ln>
        </p:spPr>
      </p:sp>
      <p:pic>
        <p:nvPicPr>
          <p:cNvPr id="16" name="icon-22" descr="preencoded.png">    </p:cNvPr>
          <p:cNvPicPr>
            <a:picLocks noChangeAspect="1"/>
          </p:cNvPicPr>
          <p:nvPr/>
        </p:nvPicPr>
        <p:blipFill>
          <a:blip r:embed="rId3"/>
          <a:stretch>
            <a:fillRect/>
          </a:stretch>
        </p:blipFill>
        <p:spPr>
          <a:xfrm>
            <a:off x="4091757" y="1805757"/>
            <a:ext cx="247254" cy="247254"/>
          </a:xfrm>
          <a:prstGeom prst="rect">
            <a:avLst/>
          </a:prstGeom>
        </p:spPr>
      </p:pic>
      <p:sp>
        <p:nvSpPr>
          <p:cNvPr id="17" name="text-23"/>
          <p:cNvSpPr txBox="1"/>
          <p:nvPr/>
        </p:nvSpPr>
        <p:spPr>
          <a:xfrm>
            <a:off x="4553712" y="1645920"/>
            <a:ext cx="1709928" cy="566928"/>
          </a:xfrm>
          <a:prstGeom prst="rect">
            <a:avLst/>
          </a:prstGeom>
          <a:noFill/>
          <a:ln/>
        </p:spPr>
        <p:txBody>
          <a:bodyPr wrap="square" lIns="0" tIns="0" rIns="0" bIns="0" rtlCol="0" anchor="ctr"/>
          <a:lstStyle/>
          <a:p>
            <a:pPr indent="0" marL="0">
              <a:buNone/>
            </a:pPr>
            <a:r>
              <a:rPr lang="en-US" sz="1500" b="1" dirty="0">
                <a:solidFill>
                  <a:schemeClr val="tx1"/>
                </a:solidFill>
              </a:rPr>
              <a:t>Token Issuer</a:t>
            </a:r>
            <a:endParaRPr lang="en-US" sz="1400" dirty="0"/>
          </a:p>
          <a:p>
            <a:pPr indent="0" marL="0">
              <a:buNone/>
            </a:pPr>
            <a:r>
              <a:rPr lang="en-US" sz="1100" dirty="0">
                <a:solidFill>
                  <a:schemeClr val="tx2"/>
                </a:solidFill>
              </a:rPr>
              <a:t>:8001</a:t>
            </a:r>
            <a:endParaRPr lang="en-US" sz="1400" dirty="0"/>
          </a:p>
        </p:txBody>
      </p:sp>
      <p:sp>
        <p:nvSpPr>
          <p:cNvPr id="18" name="text-24"/>
          <p:cNvSpPr txBox="1"/>
          <p:nvPr/>
        </p:nvSpPr>
        <p:spPr>
          <a:xfrm>
            <a:off x="3977640" y="2249424"/>
            <a:ext cx="2240280" cy="438912"/>
          </a:xfrm>
          <a:prstGeom prst="rect">
            <a:avLst/>
          </a:prstGeom>
          <a:noFill/>
          <a:ln/>
        </p:spPr>
        <p:txBody>
          <a:bodyPr wrap="square" lIns="0" tIns="0" rIns="0" bIns="0" rtlCol="0" anchor="t"/>
          <a:lstStyle/>
          <a:p>
            <a:pPr indent="0" marL="0">
              <a:buNone/>
            </a:pPr>
            <a:r>
              <a:rPr lang="en-US" sz="1100" dirty="0">
                <a:solidFill>
                  <a:schemeClr val="tx2"/>
                </a:solidFill>
              </a:rPr>
              <a:t>Signs machine JWTs · one audience each</a:t>
            </a:r>
            <a:endParaRPr lang="en-US" sz="1100" dirty="0"/>
          </a:p>
        </p:txBody>
      </p:sp>
      <p:sp>
        <p:nvSpPr>
          <p:cNvPr id="19" name="card-25"/>
          <p:cNvSpPr/>
          <p:nvPr/>
        </p:nvSpPr>
        <p:spPr>
          <a:xfrm>
            <a:off x="3840480" y="3200400"/>
            <a:ext cx="2514600" cy="1188720"/>
          </a:xfrm>
          <a:prstGeom prst="roundRect">
            <a:avLst>
              <a:gd name="adj" fmla="val 7692"/>
            </a:avLst>
          </a:prstGeom>
          <a:solidFill>
            <a:schemeClr val="bg1"/>
          </a:solidFill>
          <a:ln w="22225">
            <a:solidFill>
              <a:schemeClr val="tx1"/>
            </a:solidFill>
            <a:prstDash val="solid"/>
          </a:ln>
          <a:effectLst>
            <a:outerShdw sx="100000" sy="100000" kx="0" ky="0" algn="bl" rotWithShape="0" blurRad="76200" dist="25400" dir="5400000">
              <a:srgbClr val="14213D">
                <a:alpha val="14000"/>
              </a:srgbClr>
            </a:outerShdw>
          </a:effectLst>
        </p:spPr>
      </p:sp>
      <p:sp>
        <p:nvSpPr>
          <p:cNvPr id="20" name="icon-bg-26"/>
          <p:cNvSpPr/>
          <p:nvPr/>
        </p:nvSpPr>
        <p:spPr>
          <a:xfrm>
            <a:off x="3977640" y="3337560"/>
            <a:ext cx="475488" cy="475488"/>
          </a:xfrm>
          <a:prstGeom prst="ellipse">
            <a:avLst/>
          </a:prstGeom>
          <a:solidFill>
            <a:schemeClr val="tx1"/>
          </a:solidFill>
          <a:ln w="12700">
            <a:solidFill>
              <a:schemeClr val="tx1"/>
            </a:solidFill>
            <a:prstDash val="solid"/>
          </a:ln>
        </p:spPr>
      </p:sp>
      <p:pic>
        <p:nvPicPr>
          <p:cNvPr id="21" name="icon-27" descr="preencoded.png">    </p:cNvPr>
          <p:cNvPicPr>
            <a:picLocks noChangeAspect="1"/>
          </p:cNvPicPr>
          <p:nvPr/>
        </p:nvPicPr>
        <p:blipFill>
          <a:blip r:embed="rId4"/>
          <a:stretch>
            <a:fillRect/>
          </a:stretch>
        </p:blipFill>
        <p:spPr>
          <a:xfrm>
            <a:off x="4091757" y="3451677"/>
            <a:ext cx="247254" cy="247254"/>
          </a:xfrm>
          <a:prstGeom prst="rect">
            <a:avLst/>
          </a:prstGeom>
        </p:spPr>
      </p:pic>
      <p:sp>
        <p:nvSpPr>
          <p:cNvPr id="22" name="text-28"/>
          <p:cNvSpPr txBox="1"/>
          <p:nvPr/>
        </p:nvSpPr>
        <p:spPr>
          <a:xfrm>
            <a:off x="4553712" y="3291840"/>
            <a:ext cx="1709928" cy="566928"/>
          </a:xfrm>
          <a:prstGeom prst="rect">
            <a:avLst/>
          </a:prstGeom>
          <a:noFill/>
          <a:ln/>
        </p:spPr>
        <p:txBody>
          <a:bodyPr wrap="square" lIns="0" tIns="0" rIns="0" bIns="0" rtlCol="0" anchor="ctr"/>
          <a:lstStyle/>
          <a:p>
            <a:pPr indent="0" marL="0">
              <a:buNone/>
            </a:pPr>
            <a:r>
              <a:rPr lang="en-US" sz="1500" b="1" dirty="0">
                <a:solidFill>
                  <a:schemeClr val="tx1"/>
                </a:solidFill>
              </a:rPr>
              <a:t>Inventory Agent</a:t>
            </a:r>
            <a:endParaRPr lang="en-US" sz="1400" dirty="0"/>
          </a:p>
          <a:p>
            <a:pPr indent="0" marL="0">
              <a:buNone/>
            </a:pPr>
            <a:r>
              <a:rPr lang="en-US" sz="1100" dirty="0">
                <a:solidFill>
                  <a:schemeClr val="tx2"/>
                </a:solidFill>
              </a:rPr>
              <a:t>:8003</a:t>
            </a:r>
            <a:endParaRPr lang="en-US" sz="1400" dirty="0"/>
          </a:p>
        </p:txBody>
      </p:sp>
      <p:sp>
        <p:nvSpPr>
          <p:cNvPr id="23" name="text-29"/>
          <p:cNvSpPr txBox="1"/>
          <p:nvPr/>
        </p:nvSpPr>
        <p:spPr>
          <a:xfrm>
            <a:off x="3977640" y="3895344"/>
            <a:ext cx="2240280" cy="438912"/>
          </a:xfrm>
          <a:prstGeom prst="rect">
            <a:avLst/>
          </a:prstGeom>
          <a:noFill/>
          <a:ln/>
        </p:spPr>
        <p:txBody>
          <a:bodyPr wrap="square" lIns="0" tIns="0" rIns="0" bIns="0" rtlCol="0" anchor="t"/>
          <a:lstStyle/>
          <a:p>
            <a:pPr indent="0" marL="0">
              <a:buNone/>
            </a:pPr>
            <a:r>
              <a:rPr lang="en-US" sz="1100" dirty="0">
                <a:solidFill>
                  <a:schemeClr val="tx2"/>
                </a:solidFill>
              </a:rPr>
              <a:t>Verifies Alice · gets tokens · asks for a grant</a:t>
            </a:r>
            <a:endParaRPr lang="en-US" sz="1100" dirty="0"/>
          </a:p>
        </p:txBody>
      </p:sp>
      <p:sp>
        <p:nvSpPr>
          <p:cNvPr id="24" name="card-30"/>
          <p:cNvSpPr/>
          <p:nvPr/>
        </p:nvSpPr>
        <p:spPr>
          <a:xfrm>
            <a:off x="3840480" y="4846320"/>
            <a:ext cx="2514600" cy="1188720"/>
          </a:xfrm>
          <a:prstGeom prst="roundRect">
            <a:avLst>
              <a:gd name="adj" fmla="val 7692"/>
            </a:avLst>
          </a:prstGeom>
          <a:solidFill>
            <a:schemeClr val="bg1"/>
          </a:solidFill>
          <a:ln w="22225">
            <a:solidFill>
              <a:schemeClr val="accent3"/>
            </a:solidFill>
            <a:prstDash val="solid"/>
          </a:ln>
          <a:effectLst>
            <a:outerShdw sx="100000" sy="100000" kx="0" ky="0" algn="bl" rotWithShape="0" blurRad="76200" dist="25400" dir="5400000">
              <a:srgbClr val="14213D">
                <a:alpha val="14000"/>
              </a:srgbClr>
            </a:outerShdw>
          </a:effectLst>
        </p:spPr>
      </p:sp>
      <p:sp>
        <p:nvSpPr>
          <p:cNvPr id="25" name="icon-bg-31"/>
          <p:cNvSpPr/>
          <p:nvPr/>
        </p:nvSpPr>
        <p:spPr>
          <a:xfrm>
            <a:off x="3977640" y="4983480"/>
            <a:ext cx="475488" cy="475488"/>
          </a:xfrm>
          <a:prstGeom prst="ellipse">
            <a:avLst/>
          </a:prstGeom>
          <a:solidFill>
            <a:schemeClr val="accent3"/>
          </a:solidFill>
          <a:ln w="12700">
            <a:solidFill>
              <a:schemeClr val="accent3"/>
            </a:solidFill>
            <a:prstDash val="solid"/>
          </a:ln>
        </p:spPr>
      </p:sp>
      <p:pic>
        <p:nvPicPr>
          <p:cNvPr id="26" name="icon-32" descr="preencoded.png">    </p:cNvPr>
          <p:cNvPicPr>
            <a:picLocks noChangeAspect="1"/>
          </p:cNvPicPr>
          <p:nvPr/>
        </p:nvPicPr>
        <p:blipFill>
          <a:blip r:embed="rId5"/>
          <a:stretch>
            <a:fillRect/>
          </a:stretch>
        </p:blipFill>
        <p:spPr>
          <a:xfrm>
            <a:off x="4091757" y="5097597"/>
            <a:ext cx="247254" cy="247254"/>
          </a:xfrm>
          <a:prstGeom prst="rect">
            <a:avLst/>
          </a:prstGeom>
        </p:spPr>
      </p:pic>
      <p:sp>
        <p:nvSpPr>
          <p:cNvPr id="27" name="text-33"/>
          <p:cNvSpPr txBox="1"/>
          <p:nvPr/>
        </p:nvSpPr>
        <p:spPr>
          <a:xfrm>
            <a:off x="4553712" y="4937760"/>
            <a:ext cx="1709928" cy="566928"/>
          </a:xfrm>
          <a:prstGeom prst="rect">
            <a:avLst/>
          </a:prstGeom>
          <a:noFill/>
          <a:ln/>
        </p:spPr>
        <p:txBody>
          <a:bodyPr wrap="square" lIns="0" tIns="0" rIns="0" bIns="0" rtlCol="0" anchor="ctr"/>
          <a:lstStyle/>
          <a:p>
            <a:pPr indent="0" marL="0">
              <a:buNone/>
            </a:pPr>
            <a:r>
              <a:rPr lang="en-US" sz="1500" b="1" dirty="0">
                <a:solidFill>
                  <a:schemeClr val="tx1"/>
                </a:solidFill>
              </a:rPr>
              <a:t>Delegation Authority</a:t>
            </a:r>
            <a:endParaRPr lang="en-US" sz="1400" dirty="0"/>
          </a:p>
          <a:p>
            <a:pPr indent="0" marL="0">
              <a:buNone/>
            </a:pPr>
            <a:r>
              <a:rPr lang="en-US" sz="1100" dirty="0">
                <a:solidFill>
                  <a:schemeClr val="tx2"/>
                </a:solidFill>
              </a:rPr>
              <a:t>:8004</a:t>
            </a:r>
            <a:endParaRPr lang="en-US" sz="1400" dirty="0"/>
          </a:p>
        </p:txBody>
      </p:sp>
      <p:sp>
        <p:nvSpPr>
          <p:cNvPr id="28" name="text-34"/>
          <p:cNvSpPr txBox="1"/>
          <p:nvPr/>
        </p:nvSpPr>
        <p:spPr>
          <a:xfrm>
            <a:off x="3977640" y="5541264"/>
            <a:ext cx="2240280" cy="438912"/>
          </a:xfrm>
          <a:prstGeom prst="rect">
            <a:avLst/>
          </a:prstGeom>
          <a:noFill/>
          <a:ln/>
        </p:spPr>
        <p:txBody>
          <a:bodyPr wrap="square" lIns="0" tIns="0" rIns="0" bIns="0" rtlCol="0" anchor="t"/>
          <a:lstStyle/>
          <a:p>
            <a:pPr indent="0" marL="0">
              <a:buNone/>
            </a:pPr>
            <a:r>
              <a:rPr lang="en-US" sz="1100" dirty="0">
                <a:solidFill>
                  <a:schemeClr val="tx2"/>
                </a:solidFill>
              </a:rPr>
              <a:t>Verifies actor + human · policy · signs grant</a:t>
            </a:r>
            <a:endParaRPr lang="en-US" sz="1100" dirty="0"/>
          </a:p>
        </p:txBody>
      </p:sp>
      <p:sp>
        <p:nvSpPr>
          <p:cNvPr id="29" name="card-35"/>
          <p:cNvSpPr/>
          <p:nvPr/>
        </p:nvSpPr>
        <p:spPr>
          <a:xfrm>
            <a:off x="7360920" y="3200400"/>
            <a:ext cx="2514600" cy="1188720"/>
          </a:xfrm>
          <a:prstGeom prst="roundRect">
            <a:avLst>
              <a:gd name="adj" fmla="val 7692"/>
            </a:avLst>
          </a:prstGeom>
          <a:solidFill>
            <a:schemeClr val="bg1"/>
          </a:solidFill>
          <a:ln w="22225">
            <a:solidFill>
              <a:schemeClr val="tx1"/>
            </a:solidFill>
            <a:prstDash val="solid"/>
          </a:ln>
          <a:effectLst>
            <a:outerShdw sx="100000" sy="100000" kx="0" ky="0" algn="bl" rotWithShape="0" blurRad="76200" dist="25400" dir="5400000">
              <a:srgbClr val="14213D">
                <a:alpha val="14000"/>
              </a:srgbClr>
            </a:outerShdw>
          </a:effectLst>
        </p:spPr>
      </p:sp>
      <p:sp>
        <p:nvSpPr>
          <p:cNvPr id="30" name="icon-bg-36"/>
          <p:cNvSpPr/>
          <p:nvPr/>
        </p:nvSpPr>
        <p:spPr>
          <a:xfrm>
            <a:off x="7498080" y="3337560"/>
            <a:ext cx="475488" cy="475488"/>
          </a:xfrm>
          <a:prstGeom prst="ellipse">
            <a:avLst/>
          </a:prstGeom>
          <a:solidFill>
            <a:schemeClr val="tx1"/>
          </a:solidFill>
          <a:ln w="12700">
            <a:solidFill>
              <a:schemeClr val="tx1"/>
            </a:solidFill>
            <a:prstDash val="solid"/>
          </a:ln>
        </p:spPr>
      </p:sp>
      <p:pic>
        <p:nvPicPr>
          <p:cNvPr id="31" name="icon-37" descr="preencoded.png">    </p:cNvPr>
          <p:cNvPicPr>
            <a:picLocks noChangeAspect="1"/>
          </p:cNvPicPr>
          <p:nvPr/>
        </p:nvPicPr>
        <p:blipFill>
          <a:blip r:embed="rId6"/>
          <a:stretch>
            <a:fillRect/>
          </a:stretch>
        </p:blipFill>
        <p:spPr>
          <a:xfrm>
            <a:off x="7612197" y="3451677"/>
            <a:ext cx="247254" cy="247254"/>
          </a:xfrm>
          <a:prstGeom prst="rect">
            <a:avLst/>
          </a:prstGeom>
        </p:spPr>
      </p:pic>
      <p:sp>
        <p:nvSpPr>
          <p:cNvPr id="32" name="text-38"/>
          <p:cNvSpPr txBox="1"/>
          <p:nvPr/>
        </p:nvSpPr>
        <p:spPr>
          <a:xfrm>
            <a:off x="8074152" y="3291840"/>
            <a:ext cx="1709928" cy="566928"/>
          </a:xfrm>
          <a:prstGeom prst="rect">
            <a:avLst/>
          </a:prstGeom>
          <a:noFill/>
          <a:ln/>
        </p:spPr>
        <p:txBody>
          <a:bodyPr wrap="square" lIns="0" tIns="0" rIns="0" bIns="0" rtlCol="0" anchor="ctr"/>
          <a:lstStyle/>
          <a:p>
            <a:pPr indent="0" marL="0">
              <a:buNone/>
            </a:pPr>
            <a:r>
              <a:rPr lang="en-US" sz="1500" b="1" dirty="0">
                <a:solidFill>
                  <a:schemeClr val="tx1"/>
                </a:solidFill>
              </a:rPr>
              <a:t>Inventory Service</a:t>
            </a:r>
            <a:endParaRPr lang="en-US" sz="1400" dirty="0"/>
          </a:p>
          <a:p>
            <a:pPr indent="0" marL="0">
              <a:buNone/>
            </a:pPr>
            <a:r>
              <a:rPr lang="en-US" sz="1100" dirty="0">
                <a:solidFill>
                  <a:schemeClr val="tx2"/>
                </a:solidFill>
              </a:rPr>
              <a:t>:8000</a:t>
            </a:r>
            <a:endParaRPr lang="en-US" sz="1400" dirty="0"/>
          </a:p>
        </p:txBody>
      </p:sp>
      <p:sp>
        <p:nvSpPr>
          <p:cNvPr id="33" name="text-39"/>
          <p:cNvSpPr txBox="1"/>
          <p:nvPr/>
        </p:nvSpPr>
        <p:spPr>
          <a:xfrm>
            <a:off x="7498080" y="3895344"/>
            <a:ext cx="2240280" cy="438912"/>
          </a:xfrm>
          <a:prstGeom prst="rect">
            <a:avLst/>
          </a:prstGeom>
          <a:noFill/>
          <a:ln/>
        </p:spPr>
        <p:txBody>
          <a:bodyPr wrap="square" lIns="0" tIns="0" rIns="0" bIns="0" rtlCol="0" anchor="t"/>
          <a:lstStyle/>
          <a:p>
            <a:pPr indent="0" marL="0">
              <a:buNone/>
            </a:pPr>
            <a:r>
              <a:rPr lang="en-US" sz="1100" dirty="0">
                <a:solidFill>
                  <a:schemeClr val="tx2"/>
                </a:solidFill>
              </a:rPr>
              <a:t>Checks M ∧ D ∧ A ∧ H ∧ S</a:t>
            </a:r>
            <a:endParaRPr lang="en-US" sz="1100" dirty="0"/>
          </a:p>
        </p:txBody>
      </p:sp>
      <p:sp>
        <p:nvSpPr>
          <p:cNvPr id="34" name="card-40"/>
          <p:cNvSpPr/>
          <p:nvPr/>
        </p:nvSpPr>
        <p:spPr>
          <a:xfrm>
            <a:off x="10332720" y="3200400"/>
            <a:ext cx="1307592" cy="1188720"/>
          </a:xfrm>
          <a:prstGeom prst="roundRect">
            <a:avLst>
              <a:gd name="adj" fmla="val 7692"/>
            </a:avLst>
          </a:prstGeom>
          <a:solidFill>
            <a:schemeClr val="bg1"/>
          </a:solidFill>
          <a:ln w="22225">
            <a:solidFill>
              <a:schemeClr val="accent6"/>
            </a:solidFill>
            <a:prstDash val="solid"/>
          </a:ln>
          <a:effectLst>
            <a:outerShdw sx="100000" sy="100000" kx="0" ky="0" algn="bl" rotWithShape="0" blurRad="76200" dist="25400" dir="5400000">
              <a:srgbClr val="14213D">
                <a:alpha val="14000"/>
              </a:srgbClr>
            </a:outerShdw>
          </a:effectLst>
        </p:spPr>
      </p:sp>
      <p:sp>
        <p:nvSpPr>
          <p:cNvPr id="35" name="icon-bg-41"/>
          <p:cNvSpPr/>
          <p:nvPr/>
        </p:nvSpPr>
        <p:spPr>
          <a:xfrm>
            <a:off x="10469880" y="3337560"/>
            <a:ext cx="475488" cy="475488"/>
          </a:xfrm>
          <a:prstGeom prst="ellipse">
            <a:avLst/>
          </a:prstGeom>
          <a:solidFill>
            <a:schemeClr val="accent6"/>
          </a:solidFill>
          <a:ln w="12700">
            <a:solidFill>
              <a:schemeClr val="accent6"/>
            </a:solidFill>
            <a:prstDash val="solid"/>
          </a:ln>
        </p:spPr>
      </p:sp>
      <p:pic>
        <p:nvPicPr>
          <p:cNvPr id="36" name="icon-42" descr="preencoded.png">    </p:cNvPr>
          <p:cNvPicPr>
            <a:picLocks noChangeAspect="1"/>
          </p:cNvPicPr>
          <p:nvPr/>
        </p:nvPicPr>
        <p:blipFill>
          <a:blip r:embed="rId7"/>
          <a:stretch>
            <a:fillRect/>
          </a:stretch>
        </p:blipFill>
        <p:spPr>
          <a:xfrm>
            <a:off x="10583997" y="3451677"/>
            <a:ext cx="247254" cy="247254"/>
          </a:xfrm>
          <a:prstGeom prst="rect">
            <a:avLst/>
          </a:prstGeom>
        </p:spPr>
      </p:pic>
      <p:sp>
        <p:nvSpPr>
          <p:cNvPr id="37" name="text-43"/>
          <p:cNvSpPr txBox="1"/>
          <p:nvPr/>
        </p:nvSpPr>
        <p:spPr>
          <a:xfrm>
            <a:off x="11045952" y="3291840"/>
            <a:ext cx="502920" cy="566928"/>
          </a:xfrm>
          <a:prstGeom prst="rect">
            <a:avLst/>
          </a:prstGeom>
          <a:noFill/>
          <a:ln/>
        </p:spPr>
        <p:txBody>
          <a:bodyPr wrap="square" lIns="0" tIns="0" rIns="0" bIns="0" rtlCol="0" anchor="ctr"/>
          <a:lstStyle/>
          <a:p>
            <a:pPr indent="0" marL="0">
              <a:buNone/>
            </a:pPr>
            <a:r>
              <a:rPr lang="en-US" sz="1500" b="1" dirty="0">
                <a:solidFill>
                  <a:schemeClr val="tx1"/>
                </a:solidFill>
              </a:rPr>
              <a:t>DB</a:t>
            </a:r>
            <a:endParaRPr lang="en-US" sz="1400" dirty="0"/>
          </a:p>
          <a:p>
            <a:pPr indent="0" marL="0">
              <a:buNone/>
            </a:pPr>
            <a:r>
              <a:rPr lang="en-US" sz="1100" dirty="0">
                <a:solidFill>
                  <a:schemeClr val="tx2"/>
                </a:solidFill>
              </a:rPr>
              <a:t>SQLite</a:t>
            </a:r>
            <a:endParaRPr lang="en-US" sz="1400" dirty="0"/>
          </a:p>
        </p:txBody>
      </p:sp>
      <p:sp>
        <p:nvSpPr>
          <p:cNvPr id="38" name="text-44"/>
          <p:cNvSpPr txBox="1"/>
          <p:nvPr/>
        </p:nvSpPr>
        <p:spPr>
          <a:xfrm>
            <a:off x="10469880" y="3895344"/>
            <a:ext cx="1033272" cy="438912"/>
          </a:xfrm>
          <a:prstGeom prst="rect">
            <a:avLst/>
          </a:prstGeom>
          <a:noFill/>
          <a:ln/>
        </p:spPr>
        <p:txBody>
          <a:bodyPr wrap="square" lIns="0" tIns="0" rIns="0" bIns="0" rtlCol="0" anchor="t"/>
          <a:lstStyle/>
          <a:p>
            <a:pPr indent="0" marL="0">
              <a:buNone/>
            </a:pPr>
            <a:r>
              <a:rPr lang="en-US" sz="1100" dirty="0">
                <a:solidFill>
                  <a:schemeClr val="tx2"/>
                </a:solidFill>
              </a:rPr>
              <a:t>details last</a:t>
            </a:r>
            <a:endParaRPr lang="en-US" sz="1100" dirty="0"/>
          </a:p>
        </p:txBody>
      </p:sp>
      <p:sp>
        <p:nvSpPr>
          <p:cNvPr id="39" name="arrow-45"/>
          <p:cNvSpPr/>
          <p:nvPr/>
        </p:nvSpPr>
        <p:spPr>
          <a:xfrm>
            <a:off x="1737360" y="2743200"/>
            <a:ext cx="0" cy="457200"/>
          </a:xfrm>
          <a:prstGeom prst="line">
            <a:avLst/>
          </a:prstGeom>
          <a:noFill/>
          <a:ln w="31750">
            <a:solidFill>
              <a:schemeClr val="accent1"/>
            </a:solidFill>
            <a:prstDash val="solid"/>
            <a:headEnd type="triangle"/>
            <a:tailEnd type="triangle"/>
          </a:ln>
        </p:spPr>
      </p:sp>
      <p:sp>
        <p:nvSpPr>
          <p:cNvPr id="40" name="badge-46"/>
          <p:cNvSpPr txBox="1"/>
          <p:nvPr/>
        </p:nvSpPr>
        <p:spPr>
          <a:xfrm>
            <a:off x="1874520" y="2798064"/>
            <a:ext cx="310896" cy="310896"/>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41" name="text-47"/>
          <p:cNvSpPr txBox="1"/>
          <p:nvPr/>
        </p:nvSpPr>
        <p:spPr>
          <a:xfrm>
            <a:off x="2240280" y="2807208"/>
            <a:ext cx="1554480" cy="292608"/>
          </a:xfrm>
          <a:prstGeom prst="rect">
            <a:avLst/>
          </a:prstGeom>
          <a:noFill/>
          <a:ln/>
        </p:spPr>
        <p:txBody>
          <a:bodyPr wrap="square" lIns="0" tIns="0" rIns="0" bIns="0" rtlCol="0" anchor="ctr"/>
          <a:lstStyle/>
          <a:p>
            <a:pPr indent="0" marL="0">
              <a:buNone/>
            </a:pPr>
            <a:r>
              <a:rPr lang="en-US" sz="1100" b="1" dirty="0">
                <a:solidFill>
                  <a:schemeClr val="accent1"/>
                </a:solidFill>
              </a:rPr>
              <a:t>login → human JWT</a:t>
            </a:r>
            <a:endParaRPr lang="en-US" sz="1100" dirty="0"/>
          </a:p>
        </p:txBody>
      </p:sp>
      <p:sp>
        <p:nvSpPr>
          <p:cNvPr id="42" name="arrow-48"/>
          <p:cNvSpPr/>
          <p:nvPr/>
        </p:nvSpPr>
        <p:spPr>
          <a:xfrm>
            <a:off x="2926080" y="3794760"/>
            <a:ext cx="914400" cy="0"/>
          </a:xfrm>
          <a:prstGeom prst="line">
            <a:avLst/>
          </a:prstGeom>
          <a:noFill/>
          <a:ln w="31750">
            <a:solidFill>
              <a:schemeClr val="accent1"/>
            </a:solidFill>
            <a:prstDash val="solid"/>
            <a:tailEnd type="triangle"/>
          </a:ln>
        </p:spPr>
      </p:sp>
      <p:sp>
        <p:nvSpPr>
          <p:cNvPr id="43" name="badge-49"/>
          <p:cNvSpPr txBox="1"/>
          <p:nvPr/>
        </p:nvSpPr>
        <p:spPr>
          <a:xfrm>
            <a:off x="2999232" y="3346704"/>
            <a:ext cx="310896" cy="310896"/>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44" name="pill-50"/>
          <p:cNvSpPr txBox="1"/>
          <p:nvPr/>
        </p:nvSpPr>
        <p:spPr>
          <a:xfrm>
            <a:off x="2971800" y="3931920"/>
            <a:ext cx="822960" cy="256032"/>
          </a:xfrm>
          <a:prstGeom prst="roundRect">
            <a:avLst>
              <a:gd name="adj" fmla="val 53571"/>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bg1"/>
                </a:solidFill>
              </a:rPr>
              <a:t>human</a:t>
            </a:r>
            <a:endParaRPr lang="en-US" sz="1000" dirty="0"/>
          </a:p>
        </p:txBody>
      </p:sp>
      <p:sp>
        <p:nvSpPr>
          <p:cNvPr id="45" name="arrow-51"/>
          <p:cNvSpPr/>
          <p:nvPr/>
        </p:nvSpPr>
        <p:spPr>
          <a:xfrm>
            <a:off x="5097780" y="2743200"/>
            <a:ext cx="0" cy="457200"/>
          </a:xfrm>
          <a:prstGeom prst="line">
            <a:avLst/>
          </a:prstGeom>
          <a:noFill/>
          <a:ln w="31750">
            <a:solidFill>
              <a:schemeClr val="accent2"/>
            </a:solidFill>
            <a:prstDash val="solid"/>
            <a:headEnd type="triangle"/>
            <a:tailEnd type="triangle"/>
          </a:ln>
        </p:spPr>
      </p:sp>
      <p:sp>
        <p:nvSpPr>
          <p:cNvPr id="46" name="badge-52"/>
          <p:cNvSpPr txBox="1"/>
          <p:nvPr/>
        </p:nvSpPr>
        <p:spPr>
          <a:xfrm>
            <a:off x="5230368" y="2798064"/>
            <a:ext cx="310896" cy="310896"/>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47" name="text-53"/>
          <p:cNvSpPr txBox="1"/>
          <p:nvPr/>
        </p:nvSpPr>
        <p:spPr>
          <a:xfrm>
            <a:off x="5596128" y="2807208"/>
            <a:ext cx="1371600" cy="292608"/>
          </a:xfrm>
          <a:prstGeom prst="rect">
            <a:avLst/>
          </a:prstGeom>
          <a:noFill/>
          <a:ln/>
        </p:spPr>
        <p:txBody>
          <a:bodyPr wrap="square" lIns="0" tIns="0" rIns="0" bIns="0" rtlCol="0" anchor="ctr"/>
          <a:lstStyle/>
          <a:p>
            <a:pPr indent="0" marL="0">
              <a:buNone/>
            </a:pPr>
            <a:r>
              <a:rPr lang="en-US" sz="1100" b="1" dirty="0">
                <a:solidFill>
                  <a:schemeClr val="accent2"/>
                </a:solidFill>
              </a:rPr>
              <a:t>2 machine JWTs</a:t>
            </a:r>
            <a:endParaRPr lang="en-US" sz="1100" dirty="0"/>
          </a:p>
        </p:txBody>
      </p:sp>
      <p:sp>
        <p:nvSpPr>
          <p:cNvPr id="48" name="arrow-54"/>
          <p:cNvSpPr/>
          <p:nvPr/>
        </p:nvSpPr>
        <p:spPr>
          <a:xfrm>
            <a:off x="5097780" y="4389120"/>
            <a:ext cx="0" cy="457200"/>
          </a:xfrm>
          <a:prstGeom prst="line">
            <a:avLst/>
          </a:prstGeom>
          <a:noFill/>
          <a:ln w="31750">
            <a:solidFill>
              <a:schemeClr val="accent3"/>
            </a:solidFill>
            <a:prstDash val="solid"/>
            <a:headEnd type="triangle"/>
            <a:tailEnd type="triangle"/>
          </a:ln>
        </p:spPr>
      </p:sp>
      <p:sp>
        <p:nvSpPr>
          <p:cNvPr id="49" name="badge-55"/>
          <p:cNvSpPr txBox="1"/>
          <p:nvPr/>
        </p:nvSpPr>
        <p:spPr>
          <a:xfrm>
            <a:off x="5230368" y="4443984"/>
            <a:ext cx="310896" cy="310896"/>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50" name="text-56"/>
          <p:cNvSpPr txBox="1"/>
          <p:nvPr/>
        </p:nvSpPr>
        <p:spPr>
          <a:xfrm>
            <a:off x="5596128" y="4453128"/>
            <a:ext cx="914400" cy="292608"/>
          </a:xfrm>
          <a:prstGeom prst="rect">
            <a:avLst/>
          </a:prstGeom>
          <a:noFill/>
          <a:ln/>
        </p:spPr>
        <p:txBody>
          <a:bodyPr wrap="square" lIns="0" tIns="0" rIns="0" bIns="0" rtlCol="0" anchor="ctr"/>
          <a:lstStyle/>
          <a:p>
            <a:pPr indent="0" marL="0">
              <a:buNone/>
            </a:pPr>
            <a:r>
              <a:rPr lang="en-US" sz="1100" b="1" dirty="0">
                <a:solidFill>
                  <a:schemeClr val="accent3"/>
                </a:solidFill>
              </a:rPr>
              <a:t>grant</a:t>
            </a:r>
            <a:endParaRPr lang="en-US" sz="1100" dirty="0"/>
          </a:p>
        </p:txBody>
      </p:sp>
      <p:sp>
        <p:nvSpPr>
          <p:cNvPr id="51" name="arrow-57"/>
          <p:cNvSpPr/>
          <p:nvPr/>
        </p:nvSpPr>
        <p:spPr>
          <a:xfrm>
            <a:off x="6355080" y="3794760"/>
            <a:ext cx="1005840" cy="0"/>
          </a:xfrm>
          <a:prstGeom prst="line">
            <a:avLst/>
          </a:prstGeom>
          <a:noFill/>
          <a:ln w="31750">
            <a:solidFill>
              <a:schemeClr val="tx1"/>
            </a:solidFill>
            <a:prstDash val="solid"/>
            <a:tailEnd type="triangle"/>
          </a:ln>
        </p:spPr>
      </p:sp>
      <p:sp>
        <p:nvSpPr>
          <p:cNvPr id="52" name="badge-58"/>
          <p:cNvSpPr txBox="1"/>
          <p:nvPr/>
        </p:nvSpPr>
        <p:spPr>
          <a:xfrm>
            <a:off x="6446520" y="3273552"/>
            <a:ext cx="310896" cy="310896"/>
          </a:xfrm>
          <a:prstGeom prst="ellipse">
            <a:avLst/>
          </a:prstGeom>
          <a:solidFill>
            <a:schemeClr val="tx1"/>
          </a:solidFill>
          <a:ln>
            <a:solidFill>
              <a:schemeClr val="tx1"/>
            </a:solid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53" name="pill-59"/>
          <p:cNvSpPr txBox="1"/>
          <p:nvPr/>
        </p:nvSpPr>
        <p:spPr>
          <a:xfrm>
            <a:off x="6400800" y="3950208"/>
            <a:ext cx="914400" cy="237744"/>
          </a:xfrm>
          <a:prstGeom prst="roundRect">
            <a:avLst>
              <a:gd name="adj" fmla="val 57692"/>
            </a:avLst>
          </a:prstGeom>
          <a:solidFill>
            <a:schemeClr val="accent2"/>
          </a:solidFill>
          <a:ln>
            <a:solidFill>
              <a:schemeClr val="accent2"/>
            </a:solidFill>
          </a:ln>
        </p:spPr>
        <p:txBody>
          <a:bodyPr wrap="square" lIns="0" tIns="0" rIns="0" bIns="0" rtlCol="0" anchor="ctr"/>
          <a:lstStyle/>
          <a:p>
            <a:pPr algn="ctr" indent="0" marL="0">
              <a:buNone/>
            </a:pPr>
            <a:r>
              <a:rPr lang="en-US" sz="1000" b="1" dirty="0">
                <a:solidFill>
                  <a:schemeClr val="bg1"/>
                </a:solidFill>
              </a:rPr>
              <a:t>machine</a:t>
            </a:r>
            <a:endParaRPr lang="en-US" sz="1000" dirty="0"/>
          </a:p>
        </p:txBody>
      </p:sp>
      <p:sp>
        <p:nvSpPr>
          <p:cNvPr id="54" name="pill-60"/>
          <p:cNvSpPr txBox="1"/>
          <p:nvPr/>
        </p:nvSpPr>
        <p:spPr>
          <a:xfrm>
            <a:off x="6400800" y="4224528"/>
            <a:ext cx="914400" cy="237744"/>
          </a:xfrm>
          <a:prstGeom prst="roundRect">
            <a:avLst>
              <a:gd name="adj" fmla="val 57692"/>
            </a:avLst>
          </a:prstGeom>
          <a:solidFill>
            <a:schemeClr val="accent3"/>
          </a:solidFill>
          <a:ln>
            <a:solidFill>
              <a:schemeClr val="accent3"/>
            </a:solidFill>
          </a:ln>
        </p:spPr>
        <p:txBody>
          <a:bodyPr wrap="square" lIns="0" tIns="0" rIns="0" bIns="0" rtlCol="0" anchor="ctr"/>
          <a:lstStyle/>
          <a:p>
            <a:pPr algn="ctr" indent="0" marL="0">
              <a:buNone/>
            </a:pPr>
            <a:r>
              <a:rPr lang="en-US" sz="1000" b="1" dirty="0">
                <a:solidFill>
                  <a:schemeClr val="bg1"/>
                </a:solidFill>
              </a:rPr>
              <a:t>delegation</a:t>
            </a:r>
            <a:endParaRPr lang="en-US" sz="1000" dirty="0"/>
          </a:p>
        </p:txBody>
      </p:sp>
      <p:sp>
        <p:nvSpPr>
          <p:cNvPr id="55" name="arrow-61"/>
          <p:cNvSpPr/>
          <p:nvPr/>
        </p:nvSpPr>
        <p:spPr>
          <a:xfrm>
            <a:off x="9875520" y="3794760"/>
            <a:ext cx="457200" cy="0"/>
          </a:xfrm>
          <a:prstGeom prst="line">
            <a:avLst/>
          </a:prstGeom>
          <a:noFill/>
          <a:ln w="31750">
            <a:solidFill>
              <a:schemeClr val="accent6"/>
            </a:solidFill>
            <a:prstDash val="solid"/>
            <a:tailEnd type="triangle"/>
          </a:ln>
        </p:spPr>
      </p:sp>
      <p:sp>
        <p:nvSpPr>
          <p:cNvPr id="56" name="badge-62"/>
          <p:cNvSpPr txBox="1"/>
          <p:nvPr/>
        </p:nvSpPr>
        <p:spPr>
          <a:xfrm>
            <a:off x="9939528" y="3310128"/>
            <a:ext cx="310896" cy="310896"/>
          </a:xfrm>
          <a:prstGeom prst="ellipse">
            <a:avLst/>
          </a:prstGeom>
          <a:solidFill>
            <a:schemeClr val="accent6"/>
          </a:solidFill>
          <a:ln>
            <a:solidFill>
              <a:schemeClr val="accent6"/>
            </a:solid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57" name="card-63"/>
          <p:cNvSpPr/>
          <p:nvPr/>
        </p:nvSpPr>
        <p:spPr>
          <a:xfrm>
            <a:off x="7360920" y="1554480"/>
            <a:ext cx="4325112" cy="1188720"/>
          </a:xfrm>
          <a:prstGeom prst="roundRect">
            <a:avLst>
              <a:gd name="adj" fmla="val 7692"/>
            </a:avLst>
          </a:prstGeom>
          <a:solidFill>
            <a:schemeClr val="bg2"/>
          </a:solidFill>
          <a:ln w="12700">
            <a:solidFill>
              <a:schemeClr val="bg2"/>
            </a:solidFill>
            <a:prstDash val="solid"/>
          </a:ln>
        </p:spPr>
      </p:sp>
      <p:sp>
        <p:nvSpPr>
          <p:cNvPr id="58" name="text-64"/>
          <p:cNvSpPr txBox="1"/>
          <p:nvPr/>
        </p:nvSpPr>
        <p:spPr>
          <a:xfrm>
            <a:off x="7543800" y="1645920"/>
            <a:ext cx="3931920" cy="274320"/>
          </a:xfrm>
          <a:prstGeom prst="rect">
            <a:avLst/>
          </a:prstGeom>
          <a:noFill/>
          <a:ln/>
        </p:spPr>
        <p:txBody>
          <a:bodyPr wrap="square" lIns="0" tIns="0" rIns="0" bIns="0" rtlCol="0" anchor="t"/>
          <a:lstStyle/>
          <a:p>
            <a:pPr indent="0" marL="0">
              <a:buNone/>
            </a:pPr>
            <a:r>
              <a:rPr lang="en-US" sz="1300" b="1" dirty="0">
                <a:solidFill>
                  <a:schemeClr val="tx1"/>
                </a:solidFill>
              </a:rPr>
              <a:t>Three tokens, three signers</a:t>
            </a:r>
            <a:endParaRPr lang="en-US" sz="1300" dirty="0"/>
          </a:p>
        </p:txBody>
      </p:sp>
      <p:sp>
        <p:nvSpPr>
          <p:cNvPr id="59" name="pill-65"/>
          <p:cNvSpPr txBox="1"/>
          <p:nvPr/>
        </p:nvSpPr>
        <p:spPr>
          <a:xfrm>
            <a:off x="7543800" y="1965960"/>
            <a:ext cx="960120" cy="210312"/>
          </a:xfrm>
          <a:prstGeom prst="roundRect">
            <a:avLst>
              <a:gd name="adj" fmla="val 65217"/>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bg1"/>
                </a:solidFill>
              </a:rPr>
              <a:t>human</a:t>
            </a:r>
            <a:endParaRPr lang="en-US" sz="1000" dirty="0"/>
          </a:p>
        </p:txBody>
      </p:sp>
      <p:sp>
        <p:nvSpPr>
          <p:cNvPr id="60" name="text-66"/>
          <p:cNvSpPr txBox="1"/>
          <p:nvPr/>
        </p:nvSpPr>
        <p:spPr>
          <a:xfrm>
            <a:off x="8622792" y="1965960"/>
            <a:ext cx="3017520" cy="210312"/>
          </a:xfrm>
          <a:prstGeom prst="rect">
            <a:avLst/>
          </a:prstGeom>
          <a:noFill/>
          <a:ln/>
        </p:spPr>
        <p:txBody>
          <a:bodyPr wrap="square" lIns="0" tIns="0" rIns="0" bIns="0" rtlCol="0" anchor="ctr"/>
          <a:lstStyle/>
          <a:p>
            <a:pPr indent="0" marL="0">
              <a:buNone/>
            </a:pPr>
            <a:r>
              <a:rPr lang="en-US" sz="1100" dirty="0">
                <a:solidFill>
                  <a:schemeClr val="tx2"/>
                </a:solidFill>
              </a:rPr>
              <a:t>Identity Service · aud inventory-agent</a:t>
            </a:r>
            <a:endParaRPr lang="en-US" sz="1100" dirty="0"/>
          </a:p>
        </p:txBody>
      </p:sp>
      <p:sp>
        <p:nvSpPr>
          <p:cNvPr id="61" name="pill-67"/>
          <p:cNvSpPr txBox="1"/>
          <p:nvPr/>
        </p:nvSpPr>
        <p:spPr>
          <a:xfrm>
            <a:off x="7543800" y="2212848"/>
            <a:ext cx="960120" cy="210312"/>
          </a:xfrm>
          <a:prstGeom prst="roundRect">
            <a:avLst>
              <a:gd name="adj" fmla="val 65217"/>
            </a:avLst>
          </a:prstGeom>
          <a:solidFill>
            <a:schemeClr val="accent2"/>
          </a:solidFill>
          <a:ln>
            <a:solidFill>
              <a:schemeClr val="accent2"/>
            </a:solidFill>
          </a:ln>
        </p:spPr>
        <p:txBody>
          <a:bodyPr wrap="square" lIns="0" tIns="0" rIns="0" bIns="0" rtlCol="0" anchor="ctr"/>
          <a:lstStyle/>
          <a:p>
            <a:pPr algn="ctr" indent="0" marL="0">
              <a:buNone/>
            </a:pPr>
            <a:r>
              <a:rPr lang="en-US" sz="1000" b="1" dirty="0">
                <a:solidFill>
                  <a:schemeClr val="bg1"/>
                </a:solidFill>
              </a:rPr>
              <a:t>machine</a:t>
            </a:r>
            <a:endParaRPr lang="en-US" sz="1000" dirty="0"/>
          </a:p>
        </p:txBody>
      </p:sp>
      <p:sp>
        <p:nvSpPr>
          <p:cNvPr id="62" name="text-68"/>
          <p:cNvSpPr txBox="1"/>
          <p:nvPr/>
        </p:nvSpPr>
        <p:spPr>
          <a:xfrm>
            <a:off x="8622792" y="2212848"/>
            <a:ext cx="3017520" cy="210312"/>
          </a:xfrm>
          <a:prstGeom prst="rect">
            <a:avLst/>
          </a:prstGeom>
          <a:noFill/>
          <a:ln/>
        </p:spPr>
        <p:txBody>
          <a:bodyPr wrap="square" lIns="0" tIns="0" rIns="0" bIns="0" rtlCol="0" anchor="ctr"/>
          <a:lstStyle/>
          <a:p>
            <a:pPr indent="0" marL="0">
              <a:buNone/>
            </a:pPr>
            <a:r>
              <a:rPr lang="en-US" sz="1100" dirty="0">
                <a:solidFill>
                  <a:schemeClr val="tx2"/>
                </a:solidFill>
              </a:rPr>
              <a:t>Token Issuer · aud service or authority</a:t>
            </a:r>
            <a:endParaRPr lang="en-US" sz="1100" dirty="0"/>
          </a:p>
        </p:txBody>
      </p:sp>
      <p:sp>
        <p:nvSpPr>
          <p:cNvPr id="63" name="pill-69"/>
          <p:cNvSpPr txBox="1"/>
          <p:nvPr/>
        </p:nvSpPr>
        <p:spPr>
          <a:xfrm>
            <a:off x="7543800" y="2459736"/>
            <a:ext cx="960120" cy="210312"/>
          </a:xfrm>
          <a:prstGeom prst="roundRect">
            <a:avLst>
              <a:gd name="adj" fmla="val 65217"/>
            </a:avLst>
          </a:prstGeom>
          <a:solidFill>
            <a:schemeClr val="accent3"/>
          </a:solidFill>
          <a:ln>
            <a:solidFill>
              <a:schemeClr val="accent3"/>
            </a:solidFill>
          </a:ln>
        </p:spPr>
        <p:txBody>
          <a:bodyPr wrap="square" lIns="0" tIns="0" rIns="0" bIns="0" rtlCol="0" anchor="ctr"/>
          <a:lstStyle/>
          <a:p>
            <a:pPr algn="ctr" indent="0" marL="0">
              <a:buNone/>
            </a:pPr>
            <a:r>
              <a:rPr lang="en-US" sz="1000" b="1" dirty="0">
                <a:solidFill>
                  <a:schemeClr val="bg1"/>
                </a:solidFill>
              </a:rPr>
              <a:t>delegation</a:t>
            </a:r>
            <a:endParaRPr lang="en-US" sz="1000" dirty="0"/>
          </a:p>
        </p:txBody>
      </p:sp>
      <p:sp>
        <p:nvSpPr>
          <p:cNvPr id="64" name="text-70"/>
          <p:cNvSpPr txBox="1"/>
          <p:nvPr/>
        </p:nvSpPr>
        <p:spPr>
          <a:xfrm>
            <a:off x="8622792" y="2459736"/>
            <a:ext cx="3017520" cy="210312"/>
          </a:xfrm>
          <a:prstGeom prst="rect">
            <a:avLst/>
          </a:prstGeom>
          <a:noFill/>
          <a:ln/>
        </p:spPr>
        <p:txBody>
          <a:bodyPr wrap="square" lIns="0" tIns="0" rIns="0" bIns="0" rtlCol="0" anchor="ctr"/>
          <a:lstStyle/>
          <a:p>
            <a:pPr indent="0" marL="0">
              <a:buNone/>
            </a:pPr>
            <a:r>
              <a:rPr lang="en-US" sz="1100" dirty="0">
                <a:solidFill>
                  <a:schemeClr val="tx2"/>
                </a:solidFill>
              </a:rPr>
              <a:t>Delegation Authority · sub human, act agent</a:t>
            </a:r>
            <a:endParaRPr lang="en-US" sz="1100" dirty="0"/>
          </a:p>
        </p:txBody>
      </p:sp>
      <p:sp>
        <p:nvSpPr>
          <p:cNvPr id="65" name="card-71"/>
          <p:cNvSpPr/>
          <p:nvPr/>
        </p:nvSpPr>
        <p:spPr>
          <a:xfrm>
            <a:off x="7360920" y="4846320"/>
            <a:ext cx="4325112" cy="1188720"/>
          </a:xfrm>
          <a:prstGeom prst="roundRect">
            <a:avLst>
              <a:gd name="adj" fmla="val 7692"/>
            </a:avLst>
          </a:prstGeom>
          <a:solidFill>
            <a:srgbClr val="F6E7DD"/>
          </a:solidFill>
          <a:ln w="12700">
            <a:solidFill>
              <a:srgbClr val="F6E7DD"/>
            </a:solidFill>
            <a:prstDash val="solid"/>
          </a:ln>
        </p:spPr>
      </p:sp>
      <p:sp>
        <p:nvSpPr>
          <p:cNvPr id="66" name="icon-bg-72"/>
          <p:cNvSpPr/>
          <p:nvPr/>
        </p:nvSpPr>
        <p:spPr>
          <a:xfrm>
            <a:off x="7543800" y="5175504"/>
            <a:ext cx="512064" cy="512064"/>
          </a:xfrm>
          <a:prstGeom prst="ellipse">
            <a:avLst/>
          </a:prstGeom>
          <a:solidFill>
            <a:schemeClr val="accent1"/>
          </a:solidFill>
          <a:ln w="12700">
            <a:solidFill>
              <a:schemeClr val="accent1"/>
            </a:solidFill>
            <a:prstDash val="solid"/>
          </a:ln>
        </p:spPr>
      </p:sp>
      <p:pic>
        <p:nvPicPr>
          <p:cNvPr id="67" name="icon-73" descr="preencoded.png">    </p:cNvPr>
          <p:cNvPicPr>
            <a:picLocks noChangeAspect="1"/>
          </p:cNvPicPr>
          <p:nvPr/>
        </p:nvPicPr>
        <p:blipFill>
          <a:blip r:embed="rId8"/>
          <a:stretch>
            <a:fillRect/>
          </a:stretch>
        </p:blipFill>
        <p:spPr>
          <a:xfrm>
            <a:off x="7666695" y="5298399"/>
            <a:ext cx="266273" cy="266273"/>
          </a:xfrm>
          <a:prstGeom prst="rect">
            <a:avLst/>
          </a:prstGeom>
        </p:spPr>
      </p:pic>
      <p:sp>
        <p:nvSpPr>
          <p:cNvPr id="68" name="text-74"/>
          <p:cNvSpPr txBox="1"/>
          <p:nvPr/>
        </p:nvSpPr>
        <p:spPr>
          <a:xfrm>
            <a:off x="8229600" y="4983480"/>
            <a:ext cx="3337560" cy="914400"/>
          </a:xfrm>
          <a:prstGeom prst="rect">
            <a:avLst/>
          </a:prstGeom>
          <a:noFill/>
          <a:ln/>
        </p:spPr>
        <p:txBody>
          <a:bodyPr wrap="square" lIns="0" tIns="0" rIns="0" bIns="0" rtlCol="0" anchor="ctr"/>
          <a:lstStyle/>
          <a:p>
            <a:pPr indent="0" marL="0">
              <a:buNone/>
            </a:pPr>
            <a:r>
              <a:rPr lang="en-US" sz="1200" b="1" dirty="0">
                <a:solidFill>
                  <a:schemeClr val="tx1"/>
                </a:solidFill>
              </a:rPr>
              <a:t>Alice's token never reaches the service.</a:t>
            </a:r>
            <a:endParaRPr lang="en-US" sz="1200" dirty="0"/>
          </a:p>
          <a:p>
            <a:pPr indent="0" marL="0">
              <a:buNone/>
            </a:pPr>
            <a:r>
              <a:rPr lang="en-US" sz="1200" dirty="0">
                <a:solidFill>
                  <a:schemeClr val="tx1"/>
                </a:solidFill>
              </a:rPr>
              <a:t>She is known there only through a grant the authority signed after verifying her token itself.</a:t>
            </a:r>
            <a:endParaRPr lang="en-US" sz="12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274320"/>
          </a:xfrm>
          <a:prstGeom prst="rect">
            <a:avLst/>
          </a:prstGeom>
          <a:noFill/>
          <a:ln/>
        </p:spPr>
        <p:txBody>
          <a:bodyPr wrap="square" lIns="0" tIns="0" rIns="0" bIns="0" rtlCol="0"/>
          <a:lstStyle/>
          <a:p>
            <a:pPr indent="0" marL="0">
              <a:buNone/>
            </a:pPr>
            <a:r>
              <a:rPr lang="en-US" sz="1200" b="1" dirty="0">
                <a:solidFill>
                  <a:schemeClr val="accent1"/>
                </a:solidFill>
                <a:latin typeface="Courier New" pitchFamily="34" charset="0"/>
                <a:ea typeface="Courier New" pitchFamily="34" charset="-122"/>
                <a:cs typeface="Courier New" pitchFamily="34" charset="-120"/>
              </a:rPr>
              <a:t>THE ARCHITECTURAL DISTINCTION</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ctr" indent="0" marL="0">
              <a:buNone/>
            </a:pPr>
            <a:r>
              <a:rPr lang="en-US" sz="3200" b="1" dirty="0">
                <a:solidFill>
                  <a:schemeClr val="tx1"/>
                </a:solidFill>
              </a:rPr>
              <a:t>Four separate security decisions</a:t>
            </a:r>
            <a:endParaRPr lang="en-US" sz="3200" dirty="0"/>
          </a:p>
        </p:txBody>
      </p:sp>
      <p:sp>
        <p:nvSpPr>
          <p:cNvPr id="4" name="card-75"/>
          <p:cNvSpPr/>
          <p:nvPr/>
        </p:nvSpPr>
        <p:spPr>
          <a:xfrm>
            <a:off x="548640" y="1600200"/>
            <a:ext cx="2624328" cy="3886200"/>
          </a:xfrm>
          <a:prstGeom prst="roundRect">
            <a:avLst>
              <a:gd name="adj" fmla="val 3484"/>
            </a:avLst>
          </a:prstGeom>
          <a:solidFill>
            <a:srgbClr val="F6E7DD"/>
          </a:solidFill>
          <a:ln w="12700">
            <a:solidFill>
              <a:srgbClr val="F6E7DD"/>
            </a:solidFill>
            <a:prstDash val="solid"/>
          </a:ln>
        </p:spPr>
      </p:sp>
      <p:sp>
        <p:nvSpPr>
          <p:cNvPr id="5" name="icon-bg-76"/>
          <p:cNvSpPr/>
          <p:nvPr/>
        </p:nvSpPr>
        <p:spPr>
          <a:xfrm>
            <a:off x="777240" y="1828800"/>
            <a:ext cx="640080" cy="640080"/>
          </a:xfrm>
          <a:prstGeom prst="ellipse">
            <a:avLst/>
          </a:prstGeom>
          <a:solidFill>
            <a:schemeClr val="accent1"/>
          </a:solidFill>
          <a:ln w="12700">
            <a:solidFill>
              <a:schemeClr val="accent1"/>
            </a:solidFill>
            <a:prstDash val="solid"/>
          </a:ln>
        </p:spPr>
      </p:sp>
      <p:pic>
        <p:nvPicPr>
          <p:cNvPr id="6" name="icon-77" descr="preencoded.png">    </p:cNvPr>
          <p:cNvPicPr>
            <a:picLocks noChangeAspect="1"/>
          </p:cNvPicPr>
          <p:nvPr/>
        </p:nvPicPr>
        <p:blipFill>
          <a:blip r:embed="rId1"/>
          <a:stretch>
            <a:fillRect/>
          </a:stretch>
        </p:blipFill>
        <p:spPr>
          <a:xfrm>
            <a:off x="930859" y="1982419"/>
            <a:ext cx="332842" cy="332842"/>
          </a:xfrm>
          <a:prstGeom prst="rect">
            <a:avLst/>
          </a:prstGeom>
        </p:spPr>
      </p:pic>
      <p:sp>
        <p:nvSpPr>
          <p:cNvPr id="7" name="text-78"/>
          <p:cNvSpPr txBox="1"/>
          <p:nvPr/>
        </p:nvSpPr>
        <p:spPr>
          <a:xfrm>
            <a:off x="777240" y="2606040"/>
            <a:ext cx="2167128" cy="868680"/>
          </a:xfrm>
          <a:prstGeom prst="rect">
            <a:avLst/>
          </a:prstGeom>
          <a:noFill/>
          <a:ln/>
        </p:spPr>
        <p:txBody>
          <a:bodyPr wrap="square" lIns="0" tIns="0" rIns="0" bIns="0" rtlCol="0" anchor="t"/>
          <a:lstStyle/>
          <a:p>
            <a:pPr indent="0" marL="0">
              <a:buNone/>
            </a:pPr>
            <a:r>
              <a:rPr lang="en-US" sz="1800" b="1" dirty="0">
                <a:solidFill>
                  <a:schemeClr val="accent1"/>
                </a:solidFill>
              </a:rPr>
              <a:t>Who is the human?</a:t>
            </a:r>
            <a:endParaRPr lang="en-US" sz="1800" dirty="0"/>
          </a:p>
        </p:txBody>
      </p:sp>
      <p:sp>
        <p:nvSpPr>
          <p:cNvPr id="8" name="text-79"/>
          <p:cNvSpPr txBox="1"/>
          <p:nvPr/>
        </p:nvSpPr>
        <p:spPr>
          <a:xfrm>
            <a:off x="777240" y="3520440"/>
            <a:ext cx="2167128" cy="228600"/>
          </a:xfrm>
          <a:prstGeom prst="rect">
            <a:avLst/>
          </a:prstGeom>
          <a:noFill/>
          <a:ln/>
        </p:spPr>
        <p:txBody>
          <a:bodyPr wrap="square" lIns="0" tIns="0" rIns="0" bIns="0" rtlCol="0" anchor="t"/>
          <a:lstStyle/>
          <a:p>
            <a:pPr indent="0" marL="0">
              <a:buNone/>
            </a:pPr>
            <a:r>
              <a:rPr lang="en-US" sz="1000" b="1" dirty="0">
                <a:solidFill>
                  <a:schemeClr val="tx2"/>
                </a:solidFill>
                <a:latin typeface="Courier New" pitchFamily="34" charset="0"/>
                <a:ea typeface="Courier New" pitchFamily="34" charset="-122"/>
                <a:cs typeface="Courier New" pitchFamily="34" charset="-120"/>
              </a:rPr>
              <a:t>ESTABLISHED BY</a:t>
            </a:r>
            <a:endParaRPr lang="en-US" sz="1000" dirty="0"/>
          </a:p>
        </p:txBody>
      </p:sp>
      <p:sp>
        <p:nvSpPr>
          <p:cNvPr id="9" name="text-80"/>
          <p:cNvSpPr txBox="1"/>
          <p:nvPr/>
        </p:nvSpPr>
        <p:spPr>
          <a:xfrm>
            <a:off x="777240" y="3767328"/>
            <a:ext cx="2167128" cy="320040"/>
          </a:xfrm>
          <a:prstGeom prst="rect">
            <a:avLst/>
          </a:prstGeom>
          <a:noFill/>
          <a:ln/>
        </p:spPr>
        <p:txBody>
          <a:bodyPr wrap="square" lIns="0" tIns="0" rIns="0" bIns="0" rtlCol="0" anchor="t"/>
          <a:lstStyle/>
          <a:p>
            <a:pPr indent="0" marL="0">
              <a:buNone/>
            </a:pPr>
            <a:r>
              <a:rPr lang="en-US" sz="1500" b="1" dirty="0">
                <a:solidFill>
                  <a:schemeClr val="tx1"/>
                </a:solidFill>
              </a:rPr>
              <a:t>Human Identity Service</a:t>
            </a:r>
            <a:endParaRPr lang="en-US" sz="1500" dirty="0"/>
          </a:p>
        </p:txBody>
      </p:sp>
      <p:sp>
        <p:nvSpPr>
          <p:cNvPr id="10" name="text-81"/>
          <p:cNvSpPr txBox="1"/>
          <p:nvPr/>
        </p:nvSpPr>
        <p:spPr>
          <a:xfrm>
            <a:off x="777240" y="4206240"/>
            <a:ext cx="2167128" cy="228600"/>
          </a:xfrm>
          <a:prstGeom prst="rect">
            <a:avLst/>
          </a:prstGeom>
          <a:noFill/>
          <a:ln/>
        </p:spPr>
        <p:txBody>
          <a:bodyPr wrap="square" lIns="0" tIns="0" rIns="0" bIns="0" rtlCol="0" anchor="t"/>
          <a:lstStyle/>
          <a:p>
            <a:pPr indent="0" marL="0">
              <a:buNone/>
            </a:pPr>
            <a:r>
              <a:rPr lang="en-US" sz="1000" b="1" dirty="0">
                <a:solidFill>
                  <a:schemeClr val="tx2"/>
                </a:solidFill>
                <a:latin typeface="Courier New" pitchFamily="34" charset="0"/>
                <a:ea typeface="Courier New" pitchFamily="34" charset="-122"/>
                <a:cs typeface="Courier New" pitchFamily="34" charset="-120"/>
              </a:rPr>
              <a:t>EVIDENCE</a:t>
            </a:r>
            <a:endParaRPr lang="en-US" sz="1000" dirty="0"/>
          </a:p>
        </p:txBody>
      </p:sp>
      <p:sp>
        <p:nvSpPr>
          <p:cNvPr id="11" name="text-82"/>
          <p:cNvSpPr txBox="1"/>
          <p:nvPr/>
        </p:nvSpPr>
        <p:spPr>
          <a:xfrm>
            <a:off x="777240" y="4453128"/>
            <a:ext cx="2167128" cy="566928"/>
          </a:xfrm>
          <a:prstGeom prst="rect">
            <a:avLst/>
          </a:prstGeom>
          <a:noFill/>
          <a:ln/>
        </p:spPr>
        <p:txBody>
          <a:bodyPr wrap="square" lIns="0" tIns="0" rIns="0" bIns="0" rtlCol="0" anchor="t"/>
          <a:lstStyle/>
          <a:p>
            <a:pPr indent="0" marL="0">
              <a:buNone/>
            </a:pPr>
            <a:r>
              <a:rPr lang="en-US" sz="1200" dirty="0">
                <a:solidFill>
                  <a:schemeClr val="tx1"/>
                </a:solidFill>
              </a:rPr>
              <a:t>human JWT · sub user-001</a:t>
            </a:r>
            <a:endParaRPr lang="en-US" sz="1200" dirty="0"/>
          </a:p>
          <a:p>
            <a:pPr indent="0" marL="0">
              <a:buNone/>
            </a:pPr>
            <a:r>
              <a:rPr lang="en-US" sz="1200" dirty="0">
                <a:solidFill>
                  <a:schemeClr val="tx2"/>
                </a:solidFill>
              </a:rPr>
              <a:t>Verified at the agent</a:t>
            </a:r>
            <a:endParaRPr lang="en-US" sz="1200" dirty="0"/>
          </a:p>
        </p:txBody>
      </p:sp>
      <p:sp>
        <p:nvSpPr>
          <p:cNvPr id="12" name="pill-83"/>
          <p:cNvSpPr txBox="1"/>
          <p:nvPr/>
        </p:nvSpPr>
        <p:spPr>
          <a:xfrm>
            <a:off x="777240" y="5074920"/>
            <a:ext cx="640080" cy="274320"/>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bg1"/>
                </a:solidFill>
              </a:rPr>
              <a:t>401</a:t>
            </a:r>
            <a:endParaRPr lang="en-US" sz="1200" dirty="0"/>
          </a:p>
        </p:txBody>
      </p:sp>
      <p:sp>
        <p:nvSpPr>
          <p:cNvPr id="13" name="card-84"/>
          <p:cNvSpPr/>
          <p:nvPr/>
        </p:nvSpPr>
        <p:spPr>
          <a:xfrm>
            <a:off x="3355848" y="1600200"/>
            <a:ext cx="2624328" cy="3886200"/>
          </a:xfrm>
          <a:prstGeom prst="roundRect">
            <a:avLst>
              <a:gd name="adj" fmla="val 3484"/>
            </a:avLst>
          </a:prstGeom>
          <a:solidFill>
            <a:srgbClr val="E1ECF7"/>
          </a:solidFill>
          <a:ln w="12700">
            <a:solidFill>
              <a:srgbClr val="E1ECF7"/>
            </a:solidFill>
            <a:prstDash val="solid"/>
          </a:ln>
        </p:spPr>
      </p:sp>
      <p:sp>
        <p:nvSpPr>
          <p:cNvPr id="14" name="icon-bg-85"/>
          <p:cNvSpPr/>
          <p:nvPr/>
        </p:nvSpPr>
        <p:spPr>
          <a:xfrm>
            <a:off x="3584448" y="1828800"/>
            <a:ext cx="640080" cy="640080"/>
          </a:xfrm>
          <a:prstGeom prst="ellipse">
            <a:avLst/>
          </a:prstGeom>
          <a:solidFill>
            <a:schemeClr val="accent2"/>
          </a:solidFill>
          <a:ln w="12700">
            <a:solidFill>
              <a:schemeClr val="accent2"/>
            </a:solidFill>
            <a:prstDash val="solid"/>
          </a:ln>
        </p:spPr>
      </p:sp>
      <p:pic>
        <p:nvPicPr>
          <p:cNvPr id="15" name="icon-86" descr="preencoded.png">    </p:cNvPr>
          <p:cNvPicPr>
            <a:picLocks noChangeAspect="1"/>
          </p:cNvPicPr>
          <p:nvPr/>
        </p:nvPicPr>
        <p:blipFill>
          <a:blip r:embed="rId2"/>
          <a:stretch>
            <a:fillRect/>
          </a:stretch>
        </p:blipFill>
        <p:spPr>
          <a:xfrm>
            <a:off x="3738067" y="1982419"/>
            <a:ext cx="332842" cy="332842"/>
          </a:xfrm>
          <a:prstGeom prst="rect">
            <a:avLst/>
          </a:prstGeom>
        </p:spPr>
      </p:pic>
      <p:sp>
        <p:nvSpPr>
          <p:cNvPr id="16" name="text-87"/>
          <p:cNvSpPr txBox="1"/>
          <p:nvPr/>
        </p:nvSpPr>
        <p:spPr>
          <a:xfrm>
            <a:off x="3584448" y="2606040"/>
            <a:ext cx="2167128" cy="868680"/>
          </a:xfrm>
          <a:prstGeom prst="rect">
            <a:avLst/>
          </a:prstGeom>
          <a:noFill/>
          <a:ln/>
        </p:spPr>
        <p:txBody>
          <a:bodyPr wrap="square" lIns="0" tIns="0" rIns="0" bIns="0" rtlCol="0" anchor="t"/>
          <a:lstStyle/>
          <a:p>
            <a:pPr indent="0" marL="0">
              <a:buNone/>
            </a:pPr>
            <a:r>
              <a:rPr lang="en-US" sz="1800" b="1" dirty="0">
                <a:solidFill>
                  <a:schemeClr val="accent2"/>
                </a:solidFill>
              </a:rPr>
              <a:t>Who is the agent?</a:t>
            </a:r>
            <a:endParaRPr lang="en-US" sz="1800" dirty="0"/>
          </a:p>
        </p:txBody>
      </p:sp>
      <p:sp>
        <p:nvSpPr>
          <p:cNvPr id="17" name="text-88"/>
          <p:cNvSpPr txBox="1"/>
          <p:nvPr/>
        </p:nvSpPr>
        <p:spPr>
          <a:xfrm>
            <a:off x="3584448" y="3520440"/>
            <a:ext cx="2167128" cy="228600"/>
          </a:xfrm>
          <a:prstGeom prst="rect">
            <a:avLst/>
          </a:prstGeom>
          <a:noFill/>
          <a:ln/>
        </p:spPr>
        <p:txBody>
          <a:bodyPr wrap="square" lIns="0" tIns="0" rIns="0" bIns="0" rtlCol="0" anchor="t"/>
          <a:lstStyle/>
          <a:p>
            <a:pPr indent="0" marL="0">
              <a:buNone/>
            </a:pPr>
            <a:r>
              <a:rPr lang="en-US" sz="1000" b="1" dirty="0">
                <a:solidFill>
                  <a:schemeClr val="tx2"/>
                </a:solidFill>
                <a:latin typeface="Courier New" pitchFamily="34" charset="0"/>
                <a:ea typeface="Courier New" pitchFamily="34" charset="-122"/>
                <a:cs typeface="Courier New" pitchFamily="34" charset="-120"/>
              </a:rPr>
              <a:t>ESTABLISHED BY</a:t>
            </a:r>
            <a:endParaRPr lang="en-US" sz="1000" dirty="0"/>
          </a:p>
        </p:txBody>
      </p:sp>
      <p:sp>
        <p:nvSpPr>
          <p:cNvPr id="18" name="text-89"/>
          <p:cNvSpPr txBox="1"/>
          <p:nvPr/>
        </p:nvSpPr>
        <p:spPr>
          <a:xfrm>
            <a:off x="3584448" y="3767328"/>
            <a:ext cx="2167128" cy="320040"/>
          </a:xfrm>
          <a:prstGeom prst="rect">
            <a:avLst/>
          </a:prstGeom>
          <a:noFill/>
          <a:ln/>
        </p:spPr>
        <p:txBody>
          <a:bodyPr wrap="square" lIns="0" tIns="0" rIns="0" bIns="0" rtlCol="0" anchor="t"/>
          <a:lstStyle/>
          <a:p>
            <a:pPr indent="0" marL="0">
              <a:buNone/>
            </a:pPr>
            <a:r>
              <a:rPr lang="en-US" sz="1500" b="1" dirty="0">
                <a:solidFill>
                  <a:schemeClr val="tx1"/>
                </a:solidFill>
              </a:rPr>
              <a:t>Machine Identity Issuer</a:t>
            </a:r>
            <a:endParaRPr lang="en-US" sz="1500" dirty="0"/>
          </a:p>
        </p:txBody>
      </p:sp>
      <p:sp>
        <p:nvSpPr>
          <p:cNvPr id="19" name="text-90"/>
          <p:cNvSpPr txBox="1"/>
          <p:nvPr/>
        </p:nvSpPr>
        <p:spPr>
          <a:xfrm>
            <a:off x="3584448" y="4206240"/>
            <a:ext cx="2167128" cy="228600"/>
          </a:xfrm>
          <a:prstGeom prst="rect">
            <a:avLst/>
          </a:prstGeom>
          <a:noFill/>
          <a:ln/>
        </p:spPr>
        <p:txBody>
          <a:bodyPr wrap="square" lIns="0" tIns="0" rIns="0" bIns="0" rtlCol="0" anchor="t"/>
          <a:lstStyle/>
          <a:p>
            <a:pPr indent="0" marL="0">
              <a:buNone/>
            </a:pPr>
            <a:r>
              <a:rPr lang="en-US" sz="1000" b="1" dirty="0">
                <a:solidFill>
                  <a:schemeClr val="tx2"/>
                </a:solidFill>
                <a:latin typeface="Courier New" pitchFamily="34" charset="0"/>
                <a:ea typeface="Courier New" pitchFamily="34" charset="-122"/>
                <a:cs typeface="Courier New" pitchFamily="34" charset="-120"/>
              </a:rPr>
              <a:t>EVIDENCE</a:t>
            </a:r>
            <a:endParaRPr lang="en-US" sz="1000" dirty="0"/>
          </a:p>
        </p:txBody>
      </p:sp>
      <p:sp>
        <p:nvSpPr>
          <p:cNvPr id="20" name="text-91"/>
          <p:cNvSpPr txBox="1"/>
          <p:nvPr/>
        </p:nvSpPr>
        <p:spPr>
          <a:xfrm>
            <a:off x="3584448" y="4453128"/>
            <a:ext cx="2167128" cy="566928"/>
          </a:xfrm>
          <a:prstGeom prst="rect">
            <a:avLst/>
          </a:prstGeom>
          <a:noFill/>
          <a:ln/>
        </p:spPr>
        <p:txBody>
          <a:bodyPr wrap="square" lIns="0" tIns="0" rIns="0" bIns="0" rtlCol="0" anchor="t"/>
          <a:lstStyle/>
          <a:p>
            <a:pPr indent="0" marL="0">
              <a:buNone/>
            </a:pPr>
            <a:r>
              <a:rPr lang="en-US" sz="1200" dirty="0">
                <a:solidFill>
                  <a:schemeClr val="tx1"/>
                </a:solidFill>
              </a:rPr>
              <a:t>machine JWT · sub inventory-agent</a:t>
            </a:r>
            <a:endParaRPr lang="en-US" sz="1200" dirty="0"/>
          </a:p>
          <a:p>
            <a:pPr indent="0" marL="0">
              <a:buNone/>
            </a:pPr>
            <a:r>
              <a:rPr lang="en-US" sz="1200" dirty="0">
                <a:solidFill>
                  <a:schemeClr val="tx2"/>
                </a:solidFill>
              </a:rPr>
              <a:t>Verified at authority + service</a:t>
            </a:r>
            <a:endParaRPr lang="en-US" sz="1200" dirty="0"/>
          </a:p>
        </p:txBody>
      </p:sp>
      <p:sp>
        <p:nvSpPr>
          <p:cNvPr id="21" name="pill-92"/>
          <p:cNvSpPr txBox="1"/>
          <p:nvPr/>
        </p:nvSpPr>
        <p:spPr>
          <a:xfrm>
            <a:off x="3584448" y="5074920"/>
            <a:ext cx="640080" cy="274320"/>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200" b="1" dirty="0">
                <a:solidFill>
                  <a:schemeClr val="bg1"/>
                </a:solidFill>
              </a:rPr>
              <a:t>401</a:t>
            </a:r>
            <a:endParaRPr lang="en-US" sz="1200" dirty="0"/>
          </a:p>
        </p:txBody>
      </p:sp>
      <p:sp>
        <p:nvSpPr>
          <p:cNvPr id="22" name="card-93"/>
          <p:cNvSpPr/>
          <p:nvPr/>
        </p:nvSpPr>
        <p:spPr>
          <a:xfrm>
            <a:off x="6163056" y="1600200"/>
            <a:ext cx="2624328" cy="3886200"/>
          </a:xfrm>
          <a:prstGeom prst="roundRect">
            <a:avLst>
              <a:gd name="adj" fmla="val 3484"/>
            </a:avLst>
          </a:prstGeom>
          <a:solidFill>
            <a:srgbClr val="DEEFE6"/>
          </a:solidFill>
          <a:ln w="12700">
            <a:solidFill>
              <a:srgbClr val="DEEFE6"/>
            </a:solidFill>
            <a:prstDash val="solid"/>
          </a:ln>
        </p:spPr>
      </p:sp>
      <p:sp>
        <p:nvSpPr>
          <p:cNvPr id="23" name="icon-bg-94"/>
          <p:cNvSpPr/>
          <p:nvPr/>
        </p:nvSpPr>
        <p:spPr>
          <a:xfrm>
            <a:off x="6391656" y="1828800"/>
            <a:ext cx="640080" cy="640080"/>
          </a:xfrm>
          <a:prstGeom prst="ellipse">
            <a:avLst/>
          </a:prstGeom>
          <a:solidFill>
            <a:schemeClr val="accent3"/>
          </a:solidFill>
          <a:ln w="12700">
            <a:solidFill>
              <a:schemeClr val="accent3"/>
            </a:solidFill>
            <a:prstDash val="solid"/>
          </a:ln>
        </p:spPr>
      </p:sp>
      <p:pic>
        <p:nvPicPr>
          <p:cNvPr id="24" name="icon-95" descr="preencoded.png">    </p:cNvPr>
          <p:cNvPicPr>
            <a:picLocks noChangeAspect="1"/>
          </p:cNvPicPr>
          <p:nvPr/>
        </p:nvPicPr>
        <p:blipFill>
          <a:blip r:embed="rId3"/>
          <a:stretch>
            <a:fillRect/>
          </a:stretch>
        </p:blipFill>
        <p:spPr>
          <a:xfrm>
            <a:off x="6545275" y="1982419"/>
            <a:ext cx="332842" cy="332842"/>
          </a:xfrm>
          <a:prstGeom prst="rect">
            <a:avLst/>
          </a:prstGeom>
        </p:spPr>
      </p:pic>
      <p:sp>
        <p:nvSpPr>
          <p:cNvPr id="25" name="text-96"/>
          <p:cNvSpPr txBox="1"/>
          <p:nvPr/>
        </p:nvSpPr>
        <p:spPr>
          <a:xfrm>
            <a:off x="6391656" y="2606040"/>
            <a:ext cx="2167128" cy="868680"/>
          </a:xfrm>
          <a:prstGeom prst="rect">
            <a:avLst/>
          </a:prstGeom>
          <a:noFill/>
          <a:ln/>
        </p:spPr>
        <p:txBody>
          <a:bodyPr wrap="square" lIns="0" tIns="0" rIns="0" bIns="0" rtlCol="0" anchor="t"/>
          <a:lstStyle/>
          <a:p>
            <a:pPr indent="0" marL="0">
              <a:buNone/>
            </a:pPr>
            <a:r>
              <a:rPr lang="en-US" sz="1800" b="1" dirty="0">
                <a:solidFill>
                  <a:schemeClr val="accent3"/>
                </a:solidFill>
              </a:rPr>
              <a:t>May this agent act for this human?</a:t>
            </a:r>
            <a:endParaRPr lang="en-US" sz="1800" dirty="0"/>
          </a:p>
        </p:txBody>
      </p:sp>
      <p:sp>
        <p:nvSpPr>
          <p:cNvPr id="26" name="text-97"/>
          <p:cNvSpPr txBox="1"/>
          <p:nvPr/>
        </p:nvSpPr>
        <p:spPr>
          <a:xfrm>
            <a:off x="6391656" y="3520440"/>
            <a:ext cx="2167128" cy="228600"/>
          </a:xfrm>
          <a:prstGeom prst="rect">
            <a:avLst/>
          </a:prstGeom>
          <a:noFill/>
          <a:ln/>
        </p:spPr>
        <p:txBody>
          <a:bodyPr wrap="square" lIns="0" tIns="0" rIns="0" bIns="0" rtlCol="0" anchor="t"/>
          <a:lstStyle/>
          <a:p>
            <a:pPr indent="0" marL="0">
              <a:buNone/>
            </a:pPr>
            <a:r>
              <a:rPr lang="en-US" sz="1000" b="1" dirty="0">
                <a:solidFill>
                  <a:schemeClr val="tx2"/>
                </a:solidFill>
                <a:latin typeface="Courier New" pitchFamily="34" charset="0"/>
                <a:ea typeface="Courier New" pitchFamily="34" charset="-122"/>
                <a:cs typeface="Courier New" pitchFamily="34" charset="-120"/>
              </a:rPr>
              <a:t>ESTABLISHED BY</a:t>
            </a:r>
            <a:endParaRPr lang="en-US" sz="1000" dirty="0"/>
          </a:p>
        </p:txBody>
      </p:sp>
      <p:sp>
        <p:nvSpPr>
          <p:cNvPr id="27" name="text-98"/>
          <p:cNvSpPr txBox="1"/>
          <p:nvPr/>
        </p:nvSpPr>
        <p:spPr>
          <a:xfrm>
            <a:off x="6391656" y="3767328"/>
            <a:ext cx="2167128" cy="320040"/>
          </a:xfrm>
          <a:prstGeom prst="rect">
            <a:avLst/>
          </a:prstGeom>
          <a:noFill/>
          <a:ln/>
        </p:spPr>
        <p:txBody>
          <a:bodyPr wrap="square" lIns="0" tIns="0" rIns="0" bIns="0" rtlCol="0" anchor="t"/>
          <a:lstStyle/>
          <a:p>
            <a:pPr indent="0" marL="0">
              <a:buNone/>
            </a:pPr>
            <a:r>
              <a:rPr lang="en-US" sz="1500" b="1" dirty="0">
                <a:solidFill>
                  <a:schemeClr val="tx1"/>
                </a:solidFill>
              </a:rPr>
              <a:t>Delegation Authority</a:t>
            </a:r>
            <a:endParaRPr lang="en-US" sz="1500" dirty="0"/>
          </a:p>
        </p:txBody>
      </p:sp>
      <p:sp>
        <p:nvSpPr>
          <p:cNvPr id="28" name="text-99"/>
          <p:cNvSpPr txBox="1"/>
          <p:nvPr/>
        </p:nvSpPr>
        <p:spPr>
          <a:xfrm>
            <a:off x="6391656" y="4206240"/>
            <a:ext cx="2167128" cy="228600"/>
          </a:xfrm>
          <a:prstGeom prst="rect">
            <a:avLst/>
          </a:prstGeom>
          <a:noFill/>
          <a:ln/>
        </p:spPr>
        <p:txBody>
          <a:bodyPr wrap="square" lIns="0" tIns="0" rIns="0" bIns="0" rtlCol="0" anchor="t"/>
          <a:lstStyle/>
          <a:p>
            <a:pPr indent="0" marL="0">
              <a:buNone/>
            </a:pPr>
            <a:r>
              <a:rPr lang="en-US" sz="1000" b="1" dirty="0">
                <a:solidFill>
                  <a:schemeClr val="tx2"/>
                </a:solidFill>
                <a:latin typeface="Courier New" pitchFamily="34" charset="0"/>
                <a:ea typeface="Courier New" pitchFamily="34" charset="-122"/>
                <a:cs typeface="Courier New" pitchFamily="34" charset="-120"/>
              </a:rPr>
              <a:t>EVIDENCE</a:t>
            </a:r>
            <a:endParaRPr lang="en-US" sz="1000" dirty="0"/>
          </a:p>
        </p:txBody>
      </p:sp>
      <p:sp>
        <p:nvSpPr>
          <p:cNvPr id="29" name="text-100"/>
          <p:cNvSpPr txBox="1"/>
          <p:nvPr/>
        </p:nvSpPr>
        <p:spPr>
          <a:xfrm>
            <a:off x="6391656" y="4453128"/>
            <a:ext cx="2167128" cy="566928"/>
          </a:xfrm>
          <a:prstGeom prst="rect">
            <a:avLst/>
          </a:prstGeom>
          <a:noFill/>
          <a:ln/>
        </p:spPr>
        <p:txBody>
          <a:bodyPr wrap="square" lIns="0" tIns="0" rIns="0" bIns="0" rtlCol="0" anchor="t"/>
          <a:lstStyle/>
          <a:p>
            <a:pPr indent="0" marL="0">
              <a:buNone/>
            </a:pPr>
            <a:r>
              <a:rPr lang="en-US" sz="1200" dirty="0">
                <a:solidFill>
                  <a:schemeClr val="tx1"/>
                </a:solidFill>
              </a:rPr>
              <a:t>delegation JWT · sub + act.sub</a:t>
            </a:r>
            <a:endParaRPr lang="en-US" sz="1200" dirty="0"/>
          </a:p>
          <a:p>
            <a:pPr indent="0" marL="0">
              <a:buNone/>
            </a:pPr>
            <a:r>
              <a:rPr lang="en-US" sz="1200" dirty="0">
                <a:solidFill>
                  <a:schemeClr val="tx2"/>
                </a:solidFill>
              </a:rPr>
              <a:t>may_act_for + scope ∩</a:t>
            </a:r>
            <a:endParaRPr lang="en-US" sz="1200" dirty="0"/>
          </a:p>
        </p:txBody>
      </p:sp>
      <p:sp>
        <p:nvSpPr>
          <p:cNvPr id="30" name="pill-101"/>
          <p:cNvSpPr txBox="1"/>
          <p:nvPr/>
        </p:nvSpPr>
        <p:spPr>
          <a:xfrm>
            <a:off x="6391656" y="5074920"/>
            <a:ext cx="640080" cy="274320"/>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1200" b="1" dirty="0">
                <a:solidFill>
                  <a:schemeClr val="bg1"/>
                </a:solidFill>
              </a:rPr>
              <a:t>403</a:t>
            </a:r>
            <a:endParaRPr lang="en-US" sz="1200" dirty="0"/>
          </a:p>
        </p:txBody>
      </p:sp>
      <p:sp>
        <p:nvSpPr>
          <p:cNvPr id="31" name="card-102"/>
          <p:cNvSpPr/>
          <p:nvPr/>
        </p:nvSpPr>
        <p:spPr>
          <a:xfrm>
            <a:off x="8970264" y="1600200"/>
            <a:ext cx="2624328" cy="3886200"/>
          </a:xfrm>
          <a:prstGeom prst="roundRect">
            <a:avLst>
              <a:gd name="adj" fmla="val 3484"/>
            </a:avLst>
          </a:prstGeom>
          <a:solidFill>
            <a:schemeClr val="bg2"/>
          </a:solidFill>
          <a:ln w="12700">
            <a:solidFill>
              <a:schemeClr val="bg2"/>
            </a:solidFill>
            <a:prstDash val="solid"/>
          </a:ln>
        </p:spPr>
      </p:sp>
      <p:sp>
        <p:nvSpPr>
          <p:cNvPr id="32" name="icon-bg-103"/>
          <p:cNvSpPr/>
          <p:nvPr/>
        </p:nvSpPr>
        <p:spPr>
          <a:xfrm>
            <a:off x="9198864" y="1828800"/>
            <a:ext cx="640080" cy="640080"/>
          </a:xfrm>
          <a:prstGeom prst="ellipse">
            <a:avLst/>
          </a:prstGeom>
          <a:solidFill>
            <a:schemeClr val="tx1"/>
          </a:solidFill>
          <a:ln w="12700">
            <a:solidFill>
              <a:schemeClr val="tx1"/>
            </a:solidFill>
            <a:prstDash val="solid"/>
          </a:ln>
        </p:spPr>
      </p:sp>
      <p:pic>
        <p:nvPicPr>
          <p:cNvPr id="33" name="icon-104" descr="preencoded.png">    </p:cNvPr>
          <p:cNvPicPr>
            <a:picLocks noChangeAspect="1"/>
          </p:cNvPicPr>
          <p:nvPr/>
        </p:nvPicPr>
        <p:blipFill>
          <a:blip r:embed="rId4"/>
          <a:stretch>
            <a:fillRect/>
          </a:stretch>
        </p:blipFill>
        <p:spPr>
          <a:xfrm>
            <a:off x="9352483" y="1982419"/>
            <a:ext cx="332842" cy="332842"/>
          </a:xfrm>
          <a:prstGeom prst="rect">
            <a:avLst/>
          </a:prstGeom>
        </p:spPr>
      </p:pic>
      <p:sp>
        <p:nvSpPr>
          <p:cNvPr id="34" name="text-105"/>
          <p:cNvSpPr txBox="1"/>
          <p:nvPr/>
        </p:nvSpPr>
        <p:spPr>
          <a:xfrm>
            <a:off x="9198864" y="2606040"/>
            <a:ext cx="2167128" cy="868680"/>
          </a:xfrm>
          <a:prstGeom prst="rect">
            <a:avLst/>
          </a:prstGeom>
          <a:noFill/>
          <a:ln/>
        </p:spPr>
        <p:txBody>
          <a:bodyPr wrap="square" lIns="0" tIns="0" rIns="0" bIns="0" rtlCol="0" anchor="t"/>
          <a:lstStyle/>
          <a:p>
            <a:pPr indent="0" marL="0">
              <a:buNone/>
            </a:pPr>
            <a:r>
              <a:rPr lang="en-US" sz="1800" b="1" dirty="0">
                <a:solidFill>
                  <a:schemeClr val="tx1"/>
                </a:solidFill>
              </a:rPr>
              <a:t>May this operation access this resource?</a:t>
            </a:r>
            <a:endParaRPr lang="en-US" sz="1800" dirty="0"/>
          </a:p>
        </p:txBody>
      </p:sp>
      <p:sp>
        <p:nvSpPr>
          <p:cNvPr id="35" name="text-106"/>
          <p:cNvSpPr txBox="1"/>
          <p:nvPr/>
        </p:nvSpPr>
        <p:spPr>
          <a:xfrm>
            <a:off x="9198864" y="3520440"/>
            <a:ext cx="2167128" cy="228600"/>
          </a:xfrm>
          <a:prstGeom prst="rect">
            <a:avLst/>
          </a:prstGeom>
          <a:noFill/>
          <a:ln/>
        </p:spPr>
        <p:txBody>
          <a:bodyPr wrap="square" lIns="0" tIns="0" rIns="0" bIns="0" rtlCol="0" anchor="t"/>
          <a:lstStyle/>
          <a:p>
            <a:pPr indent="0" marL="0">
              <a:buNone/>
            </a:pPr>
            <a:r>
              <a:rPr lang="en-US" sz="1000" b="1" dirty="0">
                <a:solidFill>
                  <a:schemeClr val="tx2"/>
                </a:solidFill>
                <a:latin typeface="Courier New" pitchFamily="34" charset="0"/>
                <a:ea typeface="Courier New" pitchFamily="34" charset="-122"/>
                <a:cs typeface="Courier New" pitchFamily="34" charset="-120"/>
              </a:rPr>
              <a:t>ESTABLISHED BY</a:t>
            </a:r>
            <a:endParaRPr lang="en-US" sz="1000" dirty="0"/>
          </a:p>
        </p:txBody>
      </p:sp>
      <p:sp>
        <p:nvSpPr>
          <p:cNvPr id="36" name="text-107"/>
          <p:cNvSpPr txBox="1"/>
          <p:nvPr/>
        </p:nvSpPr>
        <p:spPr>
          <a:xfrm>
            <a:off x="9198864" y="3767328"/>
            <a:ext cx="2167128" cy="320040"/>
          </a:xfrm>
          <a:prstGeom prst="rect">
            <a:avLst/>
          </a:prstGeom>
          <a:noFill/>
          <a:ln/>
        </p:spPr>
        <p:txBody>
          <a:bodyPr wrap="square" lIns="0" tIns="0" rIns="0" bIns="0" rtlCol="0" anchor="t"/>
          <a:lstStyle/>
          <a:p>
            <a:pPr indent="0" marL="0">
              <a:buNone/>
            </a:pPr>
            <a:r>
              <a:rPr lang="en-US" sz="1500" b="1" dirty="0">
                <a:solidFill>
                  <a:schemeClr val="tx1"/>
                </a:solidFill>
              </a:rPr>
              <a:t>Inventory Service policy</a:t>
            </a:r>
            <a:endParaRPr lang="en-US" sz="1500" dirty="0"/>
          </a:p>
        </p:txBody>
      </p:sp>
      <p:sp>
        <p:nvSpPr>
          <p:cNvPr id="37" name="text-108"/>
          <p:cNvSpPr txBox="1"/>
          <p:nvPr/>
        </p:nvSpPr>
        <p:spPr>
          <a:xfrm>
            <a:off x="9198864" y="4206240"/>
            <a:ext cx="2167128" cy="228600"/>
          </a:xfrm>
          <a:prstGeom prst="rect">
            <a:avLst/>
          </a:prstGeom>
          <a:noFill/>
          <a:ln/>
        </p:spPr>
        <p:txBody>
          <a:bodyPr wrap="square" lIns="0" tIns="0" rIns="0" bIns="0" rtlCol="0" anchor="t"/>
          <a:lstStyle/>
          <a:p>
            <a:pPr indent="0" marL="0">
              <a:buNone/>
            </a:pPr>
            <a:r>
              <a:rPr lang="en-US" sz="1000" b="1" dirty="0">
                <a:solidFill>
                  <a:schemeClr val="tx2"/>
                </a:solidFill>
                <a:latin typeface="Courier New" pitchFamily="34" charset="0"/>
                <a:ea typeface="Courier New" pitchFamily="34" charset="-122"/>
                <a:cs typeface="Courier New" pitchFamily="34" charset="-120"/>
              </a:rPr>
              <a:t>EVIDENCE</a:t>
            </a:r>
            <a:endParaRPr lang="en-US" sz="1000" dirty="0"/>
          </a:p>
        </p:txBody>
      </p:sp>
      <p:sp>
        <p:nvSpPr>
          <p:cNvPr id="38" name="text-109"/>
          <p:cNvSpPr txBox="1"/>
          <p:nvPr/>
        </p:nvSpPr>
        <p:spPr>
          <a:xfrm>
            <a:off x="9198864" y="4453128"/>
            <a:ext cx="2167128" cy="566928"/>
          </a:xfrm>
          <a:prstGeom prst="rect">
            <a:avLst/>
          </a:prstGeom>
          <a:noFill/>
          <a:ln/>
        </p:spPr>
        <p:txBody>
          <a:bodyPr wrap="square" lIns="0" tIns="0" rIns="0" bIns="0" rtlCol="0" anchor="t"/>
          <a:lstStyle/>
          <a:p>
            <a:pPr indent="0" marL="0">
              <a:buNone/>
            </a:pPr>
            <a:r>
              <a:rPr lang="en-US" sz="1200" dirty="0">
                <a:solidFill>
                  <a:schemeClr val="tx1"/>
                </a:solidFill>
              </a:rPr>
              <a:t>scope + role + item class</a:t>
            </a:r>
            <a:endParaRPr lang="en-US" sz="1200" dirty="0"/>
          </a:p>
          <a:p>
            <a:pPr indent="0" marL="0">
              <a:buNone/>
            </a:pPr>
            <a:r>
              <a:rPr lang="en-US" sz="1200" dirty="0">
                <a:solidFill>
                  <a:schemeClr val="tx2"/>
                </a:solidFill>
              </a:rPr>
              <a:t>Checked on every request</a:t>
            </a:r>
            <a:endParaRPr lang="en-US" sz="1200" dirty="0"/>
          </a:p>
        </p:txBody>
      </p:sp>
      <p:sp>
        <p:nvSpPr>
          <p:cNvPr id="39" name="pill-110"/>
          <p:cNvSpPr txBox="1"/>
          <p:nvPr/>
        </p:nvSpPr>
        <p:spPr>
          <a:xfrm>
            <a:off x="9198864" y="5074920"/>
            <a:ext cx="640080" cy="274320"/>
          </a:xfrm>
          <a:prstGeom prst="roundRect">
            <a:avLst>
              <a:gd name="adj" fmla="val 50000"/>
            </a:avLst>
          </a:prstGeom>
          <a:solidFill>
            <a:schemeClr val="tx1"/>
          </a:solidFill>
          <a:ln>
            <a:solidFill>
              <a:schemeClr val="tx1"/>
            </a:solidFill>
          </a:ln>
        </p:spPr>
        <p:txBody>
          <a:bodyPr wrap="square" lIns="0" tIns="0" rIns="0" bIns="0" rtlCol="0" anchor="ctr"/>
          <a:lstStyle/>
          <a:p>
            <a:pPr algn="ctr" indent="0" marL="0">
              <a:buNone/>
            </a:pPr>
            <a:r>
              <a:rPr lang="en-US" sz="1200" b="1" dirty="0">
                <a:solidFill>
                  <a:schemeClr val="bg1"/>
                </a:solidFill>
              </a:rPr>
              <a:t>403</a:t>
            </a:r>
            <a:endParaRPr lang="en-US" sz="1200" dirty="0"/>
          </a:p>
        </p:txBody>
      </p:sp>
      <p:sp>
        <p:nvSpPr>
          <p:cNvPr id="40" name="text-111"/>
          <p:cNvSpPr txBox="1"/>
          <p:nvPr/>
        </p:nvSpPr>
        <p:spPr>
          <a:xfrm>
            <a:off x="548640" y="5669280"/>
            <a:ext cx="11064240" cy="411480"/>
          </a:xfrm>
          <a:prstGeom prst="rect">
            <a:avLst/>
          </a:prstGeom>
          <a:noFill/>
          <a:ln/>
        </p:spPr>
        <p:txBody>
          <a:bodyPr wrap="square" lIns="0" tIns="0" rIns="0" bIns="0" rtlCol="0" anchor="ctr"/>
          <a:lstStyle/>
          <a:p>
            <a:pPr algn="ctr" indent="0" marL="0">
              <a:buNone/>
            </a:pPr>
            <a:r>
              <a:rPr lang="en-US" sz="1500" i="1" dirty="0">
                <a:solidFill>
                  <a:schemeClr val="tx2"/>
                </a:solidFill>
              </a:rPr>
              <a:t>Each answer comes from a different authority with a different key. Collapsing any two of them reopens a hole.</a:t>
            </a:r>
            <a:endParaRPr lang="en-US" sz="15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274320"/>
          </a:xfrm>
          <a:prstGeom prst="rect">
            <a:avLst/>
          </a:prstGeom>
          <a:noFill/>
          <a:ln/>
        </p:spPr>
        <p:txBody>
          <a:bodyPr wrap="square" lIns="0" tIns="0" rIns="0" bIns="0" rtlCol="0"/>
          <a:lstStyle/>
          <a:p>
            <a:pPr indent="0" marL="0">
              <a:buNone/>
            </a:pPr>
            <a:r>
              <a:rPr lang="en-US" sz="1200" b="1" dirty="0">
                <a:solidFill>
                  <a:schemeClr val="accent1"/>
                </a:solidFill>
                <a:latin typeface="Courier New" pitchFamily="34" charset="0"/>
                <a:ea typeface="Courier New" pitchFamily="34" charset="-122"/>
                <a:cs typeface="Courier New" pitchFamily="34" charset="-120"/>
              </a:rPr>
              <a:t>06.01 · A CLAIMED IDENTITY</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ctr" indent="0" marL="0">
              <a:buNone/>
            </a:pPr>
            <a:r>
              <a:rPr lang="en-US" sz="3200" b="1" dirty="0">
                <a:solidFill>
                  <a:schemeClr val="tx1"/>
                </a:solidFill>
              </a:rPr>
              <a:t>A name in a request is not an identity</a:t>
            </a:r>
            <a:endParaRPr lang="en-US" sz="3200" dirty="0"/>
          </a:p>
        </p:txBody>
      </p:sp>
      <p:sp>
        <p:nvSpPr>
          <p:cNvPr id="4" name="card-112"/>
          <p:cNvSpPr/>
          <p:nvPr/>
        </p:nvSpPr>
        <p:spPr>
          <a:xfrm>
            <a:off x="548640" y="1645920"/>
            <a:ext cx="6035040" cy="3383280"/>
          </a:xfrm>
          <a:prstGeom prst="roundRect">
            <a:avLst>
              <a:gd name="adj" fmla="val 2703"/>
            </a:avLst>
          </a:prstGeom>
          <a:solidFill>
            <a:schemeClr val="tx1"/>
          </a:solidFill>
          <a:ln w="12700">
            <a:solidFill>
              <a:schemeClr val="tx1"/>
            </a:solidFill>
            <a:prstDash val="solid"/>
          </a:ln>
        </p:spPr>
      </p:sp>
      <p:sp>
        <p:nvSpPr>
          <p:cNvPr id="5" name="code-113"/>
          <p:cNvSpPr txBox="1"/>
          <p:nvPr/>
        </p:nvSpPr>
        <p:spPr>
          <a:xfrm>
            <a:off x="777240" y="1828800"/>
            <a:ext cx="5577840" cy="3017520"/>
          </a:xfrm>
          <a:prstGeom prst="rect">
            <a:avLst/>
          </a:prstGeom>
          <a:noFill/>
          <a:ln/>
        </p:spPr>
        <p:txBody>
          <a:bodyPr wrap="square" lIns="0" tIns="0" rIns="0" bIns="0" rtlCol="0" anchor="t"/>
          <a:lstStyle/>
          <a:p>
            <a:pPr indent="0" marL="0">
              <a:buNone/>
            </a:pPr>
            <a:r>
              <a:rPr lang="en-US" sz="1500" dirty="0">
                <a:solidFill>
                  <a:srgbClr val="8FC1F0"/>
                </a:solidFill>
                <a:latin typeface="Courier New" pitchFamily="34" charset="0"/>
                <a:ea typeface="Courier New" pitchFamily="34" charset="-122"/>
                <a:cs typeface="Courier New" pitchFamily="34" charset="-120"/>
              </a:rPr>
              <a:t>GET /whoami?user=admin</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200 {</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"claimed_user": "admin",</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"authenticated": false</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8FC1F0"/>
                </a:solidFill>
                <a:latin typeface="Courier New" pitchFamily="34" charset="0"/>
                <a:ea typeface="Courier New" pitchFamily="34" charset="-122"/>
                <a:cs typeface="Courier New" pitchFamily="34" charset="-120"/>
              </a:rPr>
              <a:t>GET /stock/WIDGET-A   (no token)</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F2A65A"/>
                </a:solidFill>
                <a:latin typeface="Courier New" pitchFamily="34" charset="0"/>
                <a:ea typeface="Courier New" pitchFamily="34" charset="-122"/>
                <a:cs typeface="Courier New" pitchFamily="34" charset="-120"/>
              </a:rPr>
              <a:t>401 unauthenticated</a:t>
            </a:r>
            <a:endParaRPr lang="en-US" sz="1500" dirty="0"/>
          </a:p>
        </p:txBody>
      </p:sp>
      <p:sp>
        <p:nvSpPr>
          <p:cNvPr id="6" name="icon-bg-114"/>
          <p:cNvSpPr/>
          <p:nvPr/>
        </p:nvSpPr>
        <p:spPr>
          <a:xfrm>
            <a:off x="6949440" y="1691640"/>
            <a:ext cx="548640" cy="548640"/>
          </a:xfrm>
          <a:prstGeom prst="ellipse">
            <a:avLst/>
          </a:prstGeom>
          <a:solidFill>
            <a:schemeClr val="accent1"/>
          </a:solidFill>
          <a:ln w="12700">
            <a:solidFill>
              <a:schemeClr val="accent1"/>
            </a:solidFill>
            <a:prstDash val="solid"/>
          </a:ln>
        </p:spPr>
      </p:sp>
      <p:pic>
        <p:nvPicPr>
          <p:cNvPr id="7" name="icon-115" descr="preencoded.png">    </p:cNvPr>
          <p:cNvPicPr>
            <a:picLocks noChangeAspect="1"/>
          </p:cNvPicPr>
          <p:nvPr/>
        </p:nvPicPr>
        <p:blipFill>
          <a:blip r:embed="rId1"/>
          <a:stretch>
            <a:fillRect/>
          </a:stretch>
        </p:blipFill>
        <p:spPr>
          <a:xfrm>
            <a:off x="7081114" y="1823314"/>
            <a:ext cx="285293" cy="285293"/>
          </a:xfrm>
          <a:prstGeom prst="rect">
            <a:avLst/>
          </a:prstGeom>
        </p:spPr>
      </p:pic>
      <p:sp>
        <p:nvSpPr>
          <p:cNvPr id="8" name="text-116"/>
          <p:cNvSpPr txBox="1"/>
          <p:nvPr/>
        </p:nvSpPr>
        <p:spPr>
          <a:xfrm>
            <a:off x="7680960" y="1645920"/>
            <a:ext cx="3931920" cy="1005840"/>
          </a:xfrm>
          <a:prstGeom prst="rect">
            <a:avLst/>
          </a:prstGeom>
          <a:noFill/>
          <a:ln/>
        </p:spPr>
        <p:txBody>
          <a:bodyPr wrap="square" lIns="0" tIns="0" rIns="0" bIns="0" rtlCol="0" anchor="t"/>
          <a:lstStyle/>
          <a:p>
            <a:pPr indent="0" marL="0">
              <a:buNone/>
            </a:pPr>
            <a:r>
              <a:rPr lang="en-US" sz="1600" b="1" dirty="0">
                <a:solidFill>
                  <a:schemeClr val="tx1"/>
                </a:solidFill>
              </a:rPr>
              <a:t>Intentionally insecure</a:t>
            </a:r>
            <a:endParaRPr lang="en-US" sz="1400" dirty="0"/>
          </a:p>
          <a:p>
            <a:pPr indent="0" marL="0">
              <a:buNone/>
            </a:pPr>
            <a:r>
              <a:rPr lang="en-US" sz="1400" dirty="0">
                <a:solidFill>
                  <a:schemeClr val="tx2"/>
                </a:solidFill>
              </a:rPr>
              <a:t>/whoami echoes whatever the caller types. Nothing proves it.</a:t>
            </a:r>
            <a:endParaRPr lang="en-US" sz="1400" dirty="0"/>
          </a:p>
        </p:txBody>
      </p:sp>
      <p:sp>
        <p:nvSpPr>
          <p:cNvPr id="9" name="icon-bg-117"/>
          <p:cNvSpPr/>
          <p:nvPr/>
        </p:nvSpPr>
        <p:spPr>
          <a:xfrm>
            <a:off x="6949440" y="2834640"/>
            <a:ext cx="548640" cy="548640"/>
          </a:xfrm>
          <a:prstGeom prst="ellipse">
            <a:avLst/>
          </a:prstGeom>
          <a:solidFill>
            <a:schemeClr val="accent1"/>
          </a:solidFill>
          <a:ln w="12700">
            <a:solidFill>
              <a:schemeClr val="accent1"/>
            </a:solidFill>
            <a:prstDash val="solid"/>
          </a:ln>
        </p:spPr>
      </p:sp>
      <p:pic>
        <p:nvPicPr>
          <p:cNvPr id="10" name="icon-118" descr="preencoded.png">    </p:cNvPr>
          <p:cNvPicPr>
            <a:picLocks noChangeAspect="1"/>
          </p:cNvPicPr>
          <p:nvPr/>
        </p:nvPicPr>
        <p:blipFill>
          <a:blip r:embed="rId2"/>
          <a:stretch>
            <a:fillRect/>
          </a:stretch>
        </p:blipFill>
        <p:spPr>
          <a:xfrm>
            <a:off x="7081114" y="2966314"/>
            <a:ext cx="285293" cy="285293"/>
          </a:xfrm>
          <a:prstGeom prst="rect">
            <a:avLst/>
          </a:prstGeom>
        </p:spPr>
      </p:pic>
      <p:sp>
        <p:nvSpPr>
          <p:cNvPr id="11" name="text-119"/>
          <p:cNvSpPr txBox="1"/>
          <p:nvPr/>
        </p:nvSpPr>
        <p:spPr>
          <a:xfrm>
            <a:off x="7680960" y="2788920"/>
            <a:ext cx="3931920" cy="1005840"/>
          </a:xfrm>
          <a:prstGeom prst="rect">
            <a:avLst/>
          </a:prstGeom>
          <a:noFill/>
          <a:ln/>
        </p:spPr>
        <p:txBody>
          <a:bodyPr wrap="square" lIns="0" tIns="0" rIns="0" bIns="0" rtlCol="0" anchor="t"/>
          <a:lstStyle/>
          <a:p>
            <a:pPr indent="0" marL="0">
              <a:buNone/>
            </a:pPr>
            <a:r>
              <a:rPr lang="en-US" sz="1600" b="1" dirty="0">
                <a:solidFill>
                  <a:schemeClr val="tx1"/>
                </a:solidFill>
              </a:rPr>
              <a:t>Claiming admin grants nothing</a:t>
            </a:r>
            <a:endParaRPr lang="en-US" sz="1400" dirty="0"/>
          </a:p>
          <a:p>
            <a:pPr indent="0" marL="0">
              <a:buNone/>
            </a:pPr>
            <a:r>
              <a:rPr lang="en-US" sz="1400" dirty="0">
                <a:solidFill>
                  <a:schemeClr val="tx2"/>
                </a:solidFill>
              </a:rPr>
              <a:t>The protected /stock endpoint never reads the claim.</a:t>
            </a:r>
            <a:endParaRPr lang="en-US" sz="1400" dirty="0"/>
          </a:p>
        </p:txBody>
      </p:sp>
      <p:sp>
        <p:nvSpPr>
          <p:cNvPr id="12" name="icon-bg-120"/>
          <p:cNvSpPr/>
          <p:nvPr/>
        </p:nvSpPr>
        <p:spPr>
          <a:xfrm>
            <a:off x="6949440" y="3977640"/>
            <a:ext cx="548640" cy="548640"/>
          </a:xfrm>
          <a:prstGeom prst="ellipse">
            <a:avLst/>
          </a:prstGeom>
          <a:solidFill>
            <a:schemeClr val="accent1"/>
          </a:solidFill>
          <a:ln w="12700">
            <a:solidFill>
              <a:schemeClr val="accent1"/>
            </a:solidFill>
            <a:prstDash val="solid"/>
          </a:ln>
        </p:spPr>
      </p:sp>
      <p:pic>
        <p:nvPicPr>
          <p:cNvPr id="13" name="icon-121" descr="preencoded.png">    </p:cNvPr>
          <p:cNvPicPr>
            <a:picLocks noChangeAspect="1"/>
          </p:cNvPicPr>
          <p:nvPr/>
        </p:nvPicPr>
        <p:blipFill>
          <a:blip r:embed="rId3"/>
          <a:stretch>
            <a:fillRect/>
          </a:stretch>
        </p:blipFill>
        <p:spPr>
          <a:xfrm>
            <a:off x="7081114" y="4109314"/>
            <a:ext cx="285293" cy="285293"/>
          </a:xfrm>
          <a:prstGeom prst="rect">
            <a:avLst/>
          </a:prstGeom>
        </p:spPr>
      </p:pic>
      <p:sp>
        <p:nvSpPr>
          <p:cNvPr id="14" name="text-122"/>
          <p:cNvSpPr txBox="1"/>
          <p:nvPr/>
        </p:nvSpPr>
        <p:spPr>
          <a:xfrm>
            <a:off x="7680960" y="3931920"/>
            <a:ext cx="3931920" cy="1005840"/>
          </a:xfrm>
          <a:prstGeom prst="rect">
            <a:avLst/>
          </a:prstGeom>
          <a:noFill/>
          <a:ln/>
        </p:spPr>
        <p:txBody>
          <a:bodyPr wrap="square" lIns="0" tIns="0" rIns="0" bIns="0" rtlCol="0" anchor="t"/>
          <a:lstStyle/>
          <a:p>
            <a:pPr indent="0" marL="0">
              <a:buNone/>
            </a:pPr>
            <a:r>
              <a:rPr lang="en-US" sz="1600" b="1" dirty="0">
                <a:solidFill>
                  <a:schemeClr val="tx1"/>
                </a:solidFill>
              </a:rPr>
              <a:t>Identity must be proven</a:t>
            </a:r>
            <a:endParaRPr lang="en-US" sz="1400" dirty="0"/>
          </a:p>
          <a:p>
            <a:pPr indent="0" marL="0">
              <a:buNone/>
            </a:pPr>
            <a:r>
              <a:rPr lang="en-US" sz="1400" dirty="0">
                <a:solidFill>
                  <a:schemeClr val="tx2"/>
                </a:solidFill>
              </a:rPr>
              <a:t>Something the caller cannot invent has to vouch for it: a signature.</a:t>
            </a:r>
            <a:endParaRPr lang="en-US" sz="1400" dirty="0"/>
          </a:p>
        </p:txBody>
      </p:sp>
      <p:sp>
        <p:nvSpPr>
          <p:cNvPr id="15" name="text-123"/>
          <p:cNvSpPr txBox="1"/>
          <p:nvPr/>
        </p:nvSpPr>
        <p:spPr>
          <a:xfrm>
            <a:off x="548640" y="5303520"/>
            <a:ext cx="11064240" cy="411480"/>
          </a:xfrm>
          <a:prstGeom prst="rect">
            <a:avLst/>
          </a:prstGeom>
          <a:noFill/>
          <a:ln/>
        </p:spPr>
        <p:txBody>
          <a:bodyPr wrap="square" lIns="0" tIns="0" rIns="0" bIns="0" rtlCol="0" anchor="t"/>
          <a:lstStyle/>
          <a:p>
            <a:pPr indent="0" marL="0">
              <a:buNone/>
            </a:pPr>
            <a:r>
              <a:rPr lang="en-US" sz="1400" dirty="0">
                <a:solidFill>
                  <a:schemeClr val="tx2"/>
                </a:solidFill>
              </a:rPr>
              <a:t>4 tests: any user is echoed, no credential needed, an admin claim still gets 401, a missing user is 422.</a:t>
            </a:r>
            <a:endParaRPr lang="en-US" sz="14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274320"/>
          </a:xfrm>
          <a:prstGeom prst="rect">
            <a:avLst/>
          </a:prstGeom>
          <a:noFill/>
          <a:ln/>
        </p:spPr>
        <p:txBody>
          <a:bodyPr wrap="square" lIns="0" tIns="0" rIns="0" bIns="0" rtlCol="0"/>
          <a:lstStyle/>
          <a:p>
            <a:pPr indent="0" marL="0">
              <a:buNone/>
            </a:pPr>
            <a:r>
              <a:rPr lang="en-US" sz="1200" b="1" dirty="0">
                <a:solidFill>
                  <a:schemeClr val="accent1"/>
                </a:solidFill>
                <a:latin typeface="Courier New" pitchFamily="34" charset="0"/>
                <a:ea typeface="Courier New" pitchFamily="34" charset="-122"/>
                <a:cs typeface="Courier New" pitchFamily="34" charset="-120"/>
              </a:rPr>
              <a:t>06.02 – 06.03 · PASSWORDS AND LOGIN</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ctr" indent="0" marL="0">
              <a:buNone/>
            </a:pPr>
            <a:r>
              <a:rPr lang="en-US" sz="3200" b="1" dirty="0">
                <a:solidFill>
                  <a:schemeClr val="tx1"/>
                </a:solidFill>
              </a:rPr>
              <a:t>The Identity Service stores hashes, never passwords</a:t>
            </a:r>
            <a:endParaRPr lang="en-US" sz="3200" dirty="0"/>
          </a:p>
        </p:txBody>
      </p:sp>
      <p:sp>
        <p:nvSpPr>
          <p:cNvPr id="4" name="icon-bg-124"/>
          <p:cNvSpPr/>
          <p:nvPr/>
        </p:nvSpPr>
        <p:spPr>
          <a:xfrm>
            <a:off x="548640" y="1645920"/>
            <a:ext cx="548640" cy="548640"/>
          </a:xfrm>
          <a:prstGeom prst="ellipse">
            <a:avLst/>
          </a:prstGeom>
          <a:solidFill>
            <a:schemeClr val="accent1"/>
          </a:solidFill>
          <a:ln w="12700">
            <a:solidFill>
              <a:schemeClr val="accent1"/>
            </a:solidFill>
            <a:prstDash val="solid"/>
          </a:ln>
        </p:spPr>
      </p:sp>
      <p:pic>
        <p:nvPicPr>
          <p:cNvPr id="5" name="icon-125" descr="preencoded.png">    </p:cNvPr>
          <p:cNvPicPr>
            <a:picLocks noChangeAspect="1"/>
          </p:cNvPicPr>
          <p:nvPr/>
        </p:nvPicPr>
        <p:blipFill>
          <a:blip r:embed="rId1"/>
          <a:stretch>
            <a:fillRect/>
          </a:stretch>
        </p:blipFill>
        <p:spPr>
          <a:xfrm>
            <a:off x="680314" y="1777594"/>
            <a:ext cx="285293" cy="285293"/>
          </a:xfrm>
          <a:prstGeom prst="rect">
            <a:avLst/>
          </a:prstGeom>
        </p:spPr>
      </p:pic>
      <p:sp>
        <p:nvSpPr>
          <p:cNvPr id="6" name="text-126"/>
          <p:cNvSpPr txBox="1"/>
          <p:nvPr/>
        </p:nvSpPr>
        <p:spPr>
          <a:xfrm>
            <a:off x="1280160" y="1600200"/>
            <a:ext cx="4754880" cy="914400"/>
          </a:xfrm>
          <a:prstGeom prst="rect">
            <a:avLst/>
          </a:prstGeom>
          <a:noFill/>
          <a:ln/>
        </p:spPr>
        <p:txBody>
          <a:bodyPr wrap="square" lIns="0" tIns="0" rIns="0" bIns="0" rtlCol="0" anchor="t"/>
          <a:lstStyle/>
          <a:p>
            <a:pPr indent="0" marL="0">
              <a:buNone/>
            </a:pPr>
            <a:r>
              <a:rPr lang="en-US" sz="1600" b="1" dirty="0">
                <a:solidFill>
                  <a:schemeClr val="tx1"/>
                </a:solidFill>
              </a:rPr>
              <a:t>Argon2id, fresh salt per hash</a:t>
            </a:r>
            <a:endParaRPr lang="en-US" sz="1400" dirty="0"/>
          </a:p>
          <a:p>
            <a:pPr indent="0" marL="0">
              <a:buNone/>
            </a:pPr>
            <a:r>
              <a:rPr lang="en-US" sz="1400" dirty="0">
                <a:solidFill>
                  <a:schemeClr val="tx2"/>
                </a:solidFill>
              </a:rPr>
              <a:t>Hashing welcome123 twice gives two different hashes; both verify.</a:t>
            </a:r>
            <a:endParaRPr lang="en-US" sz="1400" dirty="0"/>
          </a:p>
        </p:txBody>
      </p:sp>
      <p:sp>
        <p:nvSpPr>
          <p:cNvPr id="7" name="icon-bg-127"/>
          <p:cNvSpPr/>
          <p:nvPr/>
        </p:nvSpPr>
        <p:spPr>
          <a:xfrm>
            <a:off x="548640" y="2670048"/>
            <a:ext cx="548640" cy="548640"/>
          </a:xfrm>
          <a:prstGeom prst="ellipse">
            <a:avLst/>
          </a:prstGeom>
          <a:solidFill>
            <a:schemeClr val="accent1"/>
          </a:solidFill>
          <a:ln w="12700">
            <a:solidFill>
              <a:schemeClr val="accent1"/>
            </a:solidFill>
            <a:prstDash val="solid"/>
          </a:ln>
        </p:spPr>
      </p:sp>
      <p:pic>
        <p:nvPicPr>
          <p:cNvPr id="8" name="icon-128" descr="preencoded.png">    </p:cNvPr>
          <p:cNvPicPr>
            <a:picLocks noChangeAspect="1"/>
          </p:cNvPicPr>
          <p:nvPr/>
        </p:nvPicPr>
        <p:blipFill>
          <a:blip r:embed="rId2"/>
          <a:stretch>
            <a:fillRect/>
          </a:stretch>
        </p:blipFill>
        <p:spPr>
          <a:xfrm>
            <a:off x="680314" y="2801722"/>
            <a:ext cx="285293" cy="285293"/>
          </a:xfrm>
          <a:prstGeom prst="rect">
            <a:avLst/>
          </a:prstGeom>
        </p:spPr>
      </p:pic>
      <p:sp>
        <p:nvSpPr>
          <p:cNvPr id="9" name="text-129"/>
          <p:cNvSpPr txBox="1"/>
          <p:nvPr/>
        </p:nvSpPr>
        <p:spPr>
          <a:xfrm>
            <a:off x="1280160" y="2624328"/>
            <a:ext cx="4754880" cy="914400"/>
          </a:xfrm>
          <a:prstGeom prst="rect">
            <a:avLst/>
          </a:prstGeom>
          <a:noFill/>
          <a:ln/>
        </p:spPr>
        <p:txBody>
          <a:bodyPr wrap="square" lIns="0" tIns="0" rIns="0" bIns="0" rtlCol="0" anchor="t"/>
          <a:lstStyle/>
          <a:p>
            <a:pPr indent="0" marL="0">
              <a:buNone/>
            </a:pPr>
            <a:r>
              <a:rPr lang="en-US" sz="1600" b="1" dirty="0">
                <a:solidFill>
                  <a:schemeClr val="tx1"/>
                </a:solidFill>
              </a:rPr>
              <a:t>Only hashes reach the database</a:t>
            </a:r>
            <a:endParaRPr lang="en-US" sz="1400" dirty="0"/>
          </a:p>
          <a:p>
            <a:pPr indent="0" marL="0">
              <a:buNone/>
            </a:pPr>
            <a:r>
              <a:rPr lang="en-US" sz="1400" dirty="0">
                <a:solidFill>
                  <a:schemeClr val="tx2"/>
                </a:solidFill>
              </a:rPr>
              <a:t>A DB rule refuses any non-Argon2 value. The file is owner-only.</a:t>
            </a:r>
            <a:endParaRPr lang="en-US" sz="1400" dirty="0"/>
          </a:p>
        </p:txBody>
      </p:sp>
      <p:sp>
        <p:nvSpPr>
          <p:cNvPr id="10" name="icon-bg-130"/>
          <p:cNvSpPr/>
          <p:nvPr/>
        </p:nvSpPr>
        <p:spPr>
          <a:xfrm>
            <a:off x="548640" y="3694176"/>
            <a:ext cx="548640" cy="548640"/>
          </a:xfrm>
          <a:prstGeom prst="ellipse">
            <a:avLst/>
          </a:prstGeom>
          <a:solidFill>
            <a:schemeClr val="accent1"/>
          </a:solidFill>
          <a:ln w="12700">
            <a:solidFill>
              <a:schemeClr val="accent1"/>
            </a:solidFill>
            <a:prstDash val="solid"/>
          </a:ln>
        </p:spPr>
      </p:sp>
      <p:pic>
        <p:nvPicPr>
          <p:cNvPr id="11" name="icon-131" descr="preencoded.png">    </p:cNvPr>
          <p:cNvPicPr>
            <a:picLocks noChangeAspect="1"/>
          </p:cNvPicPr>
          <p:nvPr/>
        </p:nvPicPr>
        <p:blipFill>
          <a:blip r:embed="rId3"/>
          <a:stretch>
            <a:fillRect/>
          </a:stretch>
        </p:blipFill>
        <p:spPr>
          <a:xfrm>
            <a:off x="680314" y="3825850"/>
            <a:ext cx="285293" cy="285293"/>
          </a:xfrm>
          <a:prstGeom prst="rect">
            <a:avLst/>
          </a:prstGeom>
        </p:spPr>
      </p:pic>
      <p:sp>
        <p:nvSpPr>
          <p:cNvPr id="12" name="text-132"/>
          <p:cNvSpPr txBox="1"/>
          <p:nvPr/>
        </p:nvSpPr>
        <p:spPr>
          <a:xfrm>
            <a:off x="1280160" y="3648456"/>
            <a:ext cx="4754880" cy="914400"/>
          </a:xfrm>
          <a:prstGeom prst="rect">
            <a:avLst/>
          </a:prstGeom>
          <a:noFill/>
          <a:ln/>
        </p:spPr>
        <p:txBody>
          <a:bodyPr wrap="square" lIns="0" tIns="0" rIns="0" bIns="0" rtlCol="0" anchor="t"/>
          <a:lstStyle/>
          <a:p>
            <a:pPr indent="0" marL="0">
              <a:buNone/>
            </a:pPr>
            <a:r>
              <a:rPr lang="en-US" sz="1600" b="1" dirty="0">
                <a:solidFill>
                  <a:schemeClr val="tx1"/>
                </a:solidFill>
              </a:rPr>
              <a:t>Same 401, same cost</a:t>
            </a:r>
            <a:endParaRPr lang="en-US" sz="1400" dirty="0"/>
          </a:p>
          <a:p>
            <a:pPr indent="0" marL="0">
              <a:buNone/>
            </a:pPr>
            <a:r>
              <a:rPr lang="en-US" sz="1400" dirty="0">
                <a:solidFill>
                  <a:schemeClr val="tx2"/>
                </a:solidFill>
              </a:rPr>
              <a:t>Unknown user and wrong password are indistinguishable, even by timing (dummy hash).</a:t>
            </a:r>
            <a:endParaRPr lang="en-US" sz="1400" dirty="0"/>
          </a:p>
        </p:txBody>
      </p:sp>
      <p:sp>
        <p:nvSpPr>
          <p:cNvPr id="13" name="icon-bg-133"/>
          <p:cNvSpPr/>
          <p:nvPr/>
        </p:nvSpPr>
        <p:spPr>
          <a:xfrm>
            <a:off x="548640" y="4718304"/>
            <a:ext cx="548640" cy="548640"/>
          </a:xfrm>
          <a:prstGeom prst="ellipse">
            <a:avLst/>
          </a:prstGeom>
          <a:solidFill>
            <a:schemeClr val="accent1"/>
          </a:solidFill>
          <a:ln w="12700">
            <a:solidFill>
              <a:schemeClr val="accent1"/>
            </a:solidFill>
            <a:prstDash val="solid"/>
          </a:ln>
        </p:spPr>
      </p:sp>
      <p:pic>
        <p:nvPicPr>
          <p:cNvPr id="14" name="icon-134" descr="preencoded.png">    </p:cNvPr>
          <p:cNvPicPr>
            <a:picLocks noChangeAspect="1"/>
          </p:cNvPicPr>
          <p:nvPr/>
        </p:nvPicPr>
        <p:blipFill>
          <a:blip r:embed="rId4"/>
          <a:stretch>
            <a:fillRect/>
          </a:stretch>
        </p:blipFill>
        <p:spPr>
          <a:xfrm>
            <a:off x="680314" y="4849978"/>
            <a:ext cx="285293" cy="285293"/>
          </a:xfrm>
          <a:prstGeom prst="rect">
            <a:avLst/>
          </a:prstGeom>
        </p:spPr>
      </p:pic>
      <p:sp>
        <p:nvSpPr>
          <p:cNvPr id="15" name="text-135"/>
          <p:cNvSpPr txBox="1"/>
          <p:nvPr/>
        </p:nvSpPr>
        <p:spPr>
          <a:xfrm>
            <a:off x="1280160" y="4672584"/>
            <a:ext cx="4754880" cy="914400"/>
          </a:xfrm>
          <a:prstGeom prst="rect">
            <a:avLst/>
          </a:prstGeom>
          <a:noFill/>
          <a:ln/>
        </p:spPr>
        <p:txBody>
          <a:bodyPr wrap="square" lIns="0" tIns="0" rIns="0" bIns="0" rtlCol="0" anchor="t"/>
          <a:lstStyle/>
          <a:p>
            <a:pPr indent="0" marL="0">
              <a:buNone/>
            </a:pPr>
            <a:r>
              <a:rPr lang="en-US" sz="1600" b="1" dirty="0">
                <a:solidFill>
                  <a:schemeClr val="tx1"/>
                </a:solidFill>
              </a:rPr>
              <a:t>Weak hashes upgraded</a:t>
            </a:r>
            <a:endParaRPr lang="en-US" sz="1400" dirty="0"/>
          </a:p>
          <a:p>
            <a:pPr indent="0" marL="0">
              <a:buNone/>
            </a:pPr>
            <a:r>
              <a:rPr lang="en-US" sz="1400" dirty="0">
                <a:solidFill>
                  <a:schemeClr val="tx2"/>
                </a:solidFill>
              </a:rPr>
              <a:t>A successful login re-hashes with today's settings. A failed one never does.</a:t>
            </a:r>
            <a:endParaRPr lang="en-US" sz="1400" dirty="0"/>
          </a:p>
        </p:txBody>
      </p:sp>
      <p:sp>
        <p:nvSpPr>
          <p:cNvPr id="16" name="card-136"/>
          <p:cNvSpPr/>
          <p:nvPr/>
        </p:nvSpPr>
        <p:spPr>
          <a:xfrm>
            <a:off x="6492240" y="1645920"/>
            <a:ext cx="5148072" cy="3977640"/>
          </a:xfrm>
          <a:prstGeom prst="roundRect">
            <a:avLst>
              <a:gd name="adj" fmla="val 2299"/>
            </a:avLst>
          </a:prstGeom>
          <a:solidFill>
            <a:schemeClr val="bg2"/>
          </a:solidFill>
          <a:ln w="12700">
            <a:solidFill>
              <a:schemeClr val="bg2"/>
            </a:solidFill>
            <a:prstDash val="solid"/>
          </a:ln>
        </p:spPr>
      </p:sp>
      <p:sp>
        <p:nvSpPr>
          <p:cNvPr id="17" name="text-137"/>
          <p:cNvSpPr txBox="1"/>
          <p:nvPr/>
        </p:nvSpPr>
        <p:spPr>
          <a:xfrm>
            <a:off x="6766560" y="1810512"/>
            <a:ext cx="4572000" cy="320040"/>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POST /login</a:t>
            </a:r>
            <a:endParaRPr lang="en-US" sz="1500" dirty="0"/>
          </a:p>
        </p:txBody>
      </p:sp>
      <p:sp>
        <p:nvSpPr>
          <p:cNvPr id="18" name="card-138"/>
          <p:cNvSpPr/>
          <p:nvPr/>
        </p:nvSpPr>
        <p:spPr>
          <a:xfrm>
            <a:off x="6766560" y="2194560"/>
            <a:ext cx="4599432" cy="685800"/>
          </a:xfrm>
          <a:prstGeom prst="roundRect">
            <a:avLst>
              <a:gd name="adj" fmla="val 13333"/>
            </a:avLst>
          </a:prstGeom>
          <a:solidFill>
            <a:schemeClr val="tx1"/>
          </a:solidFill>
          <a:ln w="12700">
            <a:solidFill>
              <a:schemeClr val="tx1"/>
            </a:solidFill>
            <a:prstDash val="solid"/>
          </a:ln>
        </p:spPr>
      </p:sp>
      <p:sp>
        <p:nvSpPr>
          <p:cNvPr id="19" name="code-139"/>
          <p:cNvSpPr txBox="1"/>
          <p:nvPr/>
        </p:nvSpPr>
        <p:spPr>
          <a:xfrm>
            <a:off x="6995160" y="2377440"/>
            <a:ext cx="4142232" cy="32004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{"username": "alice", "password": "…"}</a:t>
            </a:r>
            <a:endParaRPr lang="en-US" sz="1300" dirty="0"/>
          </a:p>
        </p:txBody>
      </p:sp>
      <p:sp>
        <p:nvSpPr>
          <p:cNvPr id="20" name="pill-140"/>
          <p:cNvSpPr txBox="1"/>
          <p:nvPr/>
        </p:nvSpPr>
        <p:spPr>
          <a:xfrm>
            <a:off x="6766560" y="3063240"/>
            <a:ext cx="640080" cy="292608"/>
          </a:xfrm>
          <a:prstGeom prst="roundRect">
            <a:avLst>
              <a:gd name="adj" fmla="val 46875"/>
            </a:avLst>
          </a:prstGeom>
          <a:solidFill>
            <a:schemeClr val="accent3"/>
          </a:solidFill>
          <a:ln>
            <a:solidFill>
              <a:schemeClr val="accent3"/>
            </a:solidFill>
          </a:ln>
        </p:spPr>
        <p:txBody>
          <a:bodyPr wrap="square" lIns="0" tIns="0" rIns="0" bIns="0" rtlCol="0" anchor="ctr"/>
          <a:lstStyle/>
          <a:p>
            <a:pPr algn="ctr" indent="0" marL="0">
              <a:buNone/>
            </a:pPr>
            <a:r>
              <a:rPr lang="en-US" sz="1200" b="1" dirty="0">
                <a:solidFill>
                  <a:schemeClr val="bg1"/>
                </a:solidFill>
              </a:rPr>
              <a:t>200</a:t>
            </a:r>
            <a:endParaRPr lang="en-US" sz="1200" dirty="0"/>
          </a:p>
        </p:txBody>
      </p:sp>
      <p:sp>
        <p:nvSpPr>
          <p:cNvPr id="21" name="text-141"/>
          <p:cNvSpPr txBox="1"/>
          <p:nvPr/>
        </p:nvSpPr>
        <p:spPr>
          <a:xfrm>
            <a:off x="7543800" y="3017520"/>
            <a:ext cx="3840480" cy="685800"/>
          </a:xfrm>
          <a:prstGeom prst="rect">
            <a:avLst/>
          </a:prstGeom>
          <a:noFill/>
          <a:ln/>
        </p:spPr>
        <p:txBody>
          <a:bodyPr wrap="square" lIns="0" tIns="0" rIns="0" bIns="0" rtlCol="0" anchor="t"/>
          <a:lstStyle/>
          <a:p>
            <a:pPr indent="0" marL="0">
              <a:buNone/>
            </a:pPr>
            <a:r>
              <a:rPr lang="en-US" sz="1300" dirty="0">
                <a:solidFill>
                  <a:schemeClr val="tx1"/>
                </a:solidFill>
              </a:rPr>
              <a:t>user_id user-001 + access_token (human JWT)</a:t>
            </a:r>
            <a:endParaRPr lang="en-US" sz="1300" dirty="0"/>
          </a:p>
          <a:p>
            <a:pPr indent="0" marL="0">
              <a:buNone/>
            </a:pPr>
            <a:r>
              <a:rPr lang="en-US" sz="1300" dirty="0">
                <a:solidFill>
                  <a:schemeClr val="tx2"/>
                </a:solidFill>
              </a:rPr>
              <a:t>password checked, then discarded</a:t>
            </a:r>
            <a:endParaRPr lang="en-US" sz="1300" dirty="0"/>
          </a:p>
        </p:txBody>
      </p:sp>
      <p:sp>
        <p:nvSpPr>
          <p:cNvPr id="22" name="pill-142"/>
          <p:cNvSpPr txBox="1"/>
          <p:nvPr/>
        </p:nvSpPr>
        <p:spPr>
          <a:xfrm>
            <a:off x="6766560" y="3931920"/>
            <a:ext cx="640080" cy="292608"/>
          </a:xfrm>
          <a:prstGeom prst="roundRect">
            <a:avLst>
              <a:gd name="adj" fmla="val 46875"/>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bg1"/>
                </a:solidFill>
              </a:rPr>
              <a:t>401</a:t>
            </a:r>
            <a:endParaRPr lang="en-US" sz="1200" dirty="0"/>
          </a:p>
        </p:txBody>
      </p:sp>
      <p:sp>
        <p:nvSpPr>
          <p:cNvPr id="23" name="text-143"/>
          <p:cNvSpPr txBox="1"/>
          <p:nvPr/>
        </p:nvSpPr>
        <p:spPr>
          <a:xfrm>
            <a:off x="7543800" y="3886200"/>
            <a:ext cx="3840480" cy="685800"/>
          </a:xfrm>
          <a:prstGeom prst="rect">
            <a:avLst/>
          </a:prstGeom>
          <a:noFill/>
          <a:ln/>
        </p:spPr>
        <p:txBody>
          <a:bodyPr wrap="square" lIns="0" tIns="0" rIns="0" bIns="0" rtlCol="0" anchor="t"/>
          <a:lstStyle/>
          <a:p>
            <a:pPr indent="0" marL="0">
              <a:buNone/>
            </a:pPr>
            <a:r>
              <a:rPr lang="en-US" sz="1300" dirty="0">
                <a:solidFill>
                  <a:schemeClr val="tx1"/>
                </a:solidFill>
              </a:rPr>
              <a:t>"Invalid username or password"</a:t>
            </a:r>
            <a:endParaRPr lang="en-US" sz="1300" dirty="0"/>
          </a:p>
          <a:p>
            <a:pPr indent="0" marL="0">
              <a:buNone/>
            </a:pPr>
            <a:r>
              <a:rPr lang="en-US" sz="1300" dirty="0">
                <a:solidFill>
                  <a:schemeClr val="tx2"/>
                </a:solidFill>
              </a:rPr>
              <a:t>for both unknown user and wrong password</a:t>
            </a:r>
            <a:endParaRPr lang="en-US" sz="1300" dirty="0"/>
          </a:p>
        </p:txBody>
      </p:sp>
      <p:sp>
        <p:nvSpPr>
          <p:cNvPr id="24" name="text-144"/>
          <p:cNvSpPr txBox="1"/>
          <p:nvPr/>
        </p:nvSpPr>
        <p:spPr>
          <a:xfrm>
            <a:off x="6766560" y="4846320"/>
            <a:ext cx="4572000" cy="594360"/>
          </a:xfrm>
          <a:prstGeom prst="rect">
            <a:avLst/>
          </a:prstGeom>
          <a:noFill/>
          <a:ln/>
        </p:spPr>
        <p:txBody>
          <a:bodyPr wrap="square" lIns="0" tIns="0" rIns="0" bIns="0" rtlCol="0" anchor="t"/>
          <a:lstStyle/>
          <a:p>
            <a:pPr indent="0" marL="0">
              <a:buNone/>
            </a:pPr>
            <a:r>
              <a:rPr lang="en-US" sz="1300" i="1" dirty="0">
                <a:solidFill>
                  <a:schemeClr val="tx2"/>
                </a:solidFill>
              </a:rPr>
              <a:t>Never stored, logged, or echoed: the password, the hash, the token.</a:t>
            </a:r>
            <a:endParaRPr lang="en-US" sz="13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274320"/>
          </a:xfrm>
          <a:prstGeom prst="rect">
            <a:avLst/>
          </a:prstGeom>
          <a:noFill/>
          <a:ln/>
        </p:spPr>
        <p:txBody>
          <a:bodyPr wrap="square" lIns="0" tIns="0" rIns="0" bIns="0" rtlCol="0"/>
          <a:lstStyle/>
          <a:p>
            <a:pPr indent="0" marL="0">
              <a:buNone/>
            </a:pPr>
            <a:r>
              <a:rPr lang="en-US" sz="1200" b="1" dirty="0">
                <a:solidFill>
                  <a:schemeClr val="accent1"/>
                </a:solidFill>
                <a:latin typeface="Courier New" pitchFamily="34" charset="0"/>
                <a:ea typeface="Courier New" pitchFamily="34" charset="-122"/>
                <a:cs typeface="Courier New" pitchFamily="34" charset="-120"/>
              </a:rPr>
              <a:t>06.04 · THE HUMAN JWT</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ctr" indent="0" marL="0">
              <a:buNone/>
            </a:pPr>
            <a:r>
              <a:rPr lang="en-US" sz="3200" b="1" dirty="0">
                <a:solidFill>
                  <a:schemeClr val="tx1"/>
                </a:solidFill>
              </a:rPr>
              <a:t>Login ends in a signed human token</a:t>
            </a:r>
            <a:endParaRPr lang="en-US" sz="3200" dirty="0"/>
          </a:p>
        </p:txBody>
      </p:sp>
      <p:sp>
        <p:nvSpPr>
          <p:cNvPr id="4" name="card-145"/>
          <p:cNvSpPr/>
          <p:nvPr/>
        </p:nvSpPr>
        <p:spPr>
          <a:xfrm>
            <a:off x="548640" y="1645920"/>
            <a:ext cx="5669280" cy="4023360"/>
          </a:xfrm>
          <a:prstGeom prst="roundRect">
            <a:avLst>
              <a:gd name="adj" fmla="val 2273"/>
            </a:avLst>
          </a:prstGeom>
          <a:solidFill>
            <a:schemeClr val="tx1"/>
          </a:solidFill>
          <a:ln w="12700">
            <a:solidFill>
              <a:schemeClr val="tx1"/>
            </a:solidFill>
            <a:prstDash val="solid"/>
          </a:ln>
        </p:spPr>
      </p:sp>
      <p:sp>
        <p:nvSpPr>
          <p:cNvPr id="5" name="code-146"/>
          <p:cNvSpPr txBox="1"/>
          <p:nvPr/>
        </p:nvSpPr>
        <p:spPr>
          <a:xfrm>
            <a:off x="777240" y="1828800"/>
            <a:ext cx="5212080" cy="3657600"/>
          </a:xfrm>
          <a:prstGeom prst="rect">
            <a:avLst/>
          </a:prstGeom>
          <a:noFill/>
          <a:ln/>
        </p:spPr>
        <p:txBody>
          <a:bodyPr wrap="square" lIns="0" tIns="0" rIns="0" bIns="0" rtlCol="0" anchor="t"/>
          <a:lstStyle/>
          <a:p>
            <a:pPr indent="0" marL="0">
              <a:buNone/>
            </a:pPr>
            <a:r>
              <a:rPr lang="en-US" sz="1400" dirty="0">
                <a:solidFill>
                  <a:srgbClr val="8FC1F0"/>
                </a:solidFill>
                <a:latin typeface="Courier New" pitchFamily="34" charset="0"/>
                <a:ea typeface="Courier New" pitchFamily="34" charset="-122"/>
                <a:cs typeface="Courier New" pitchFamily="34" charset="-120"/>
              </a:rPr>
              <a:t>header</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"alg": "RS256", "kid": "identity-key-1"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8FC1F0"/>
                </a:solidFill>
                <a:latin typeface="Courier New" pitchFamily="34" charset="0"/>
                <a:ea typeface="Courier New" pitchFamily="34" charset="-122"/>
                <a:cs typeface="Courier New" pitchFamily="34" charset="-120"/>
              </a:rPr>
              <a:t>payload</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"iss": "a2a-human-identity-service",</a:t>
            </a:r>
            <a:endParaRPr lang="en-US" sz="1400" dirty="0"/>
          </a:p>
          <a:p>
            <a:pPr indent="0" marL="0">
              <a:buNone/>
            </a:pPr>
            <a:r>
              <a:rPr lang="en-US" sz="1400" dirty="0">
                <a:solidFill>
                  <a:srgbClr val="F2A65A"/>
                </a:solidFill>
                <a:latin typeface="Courier New" pitchFamily="34" charset="0"/>
                <a:ea typeface="Courier New" pitchFamily="34" charset="-122"/>
                <a:cs typeface="Courier New" pitchFamily="34" charset="-120"/>
              </a:rPr>
              <a:t>  "sub": "user-001",</a:t>
            </a:r>
            <a:endParaRPr lang="en-US" sz="1400" dirty="0"/>
          </a:p>
          <a:p>
            <a:pPr indent="0" marL="0">
              <a:buNone/>
            </a:pPr>
            <a:r>
              <a:rPr lang="en-US" sz="1400" dirty="0">
                <a:solidFill>
                  <a:srgbClr val="F2A65A"/>
                </a:solidFill>
                <a:latin typeface="Courier New" pitchFamily="34" charset="0"/>
                <a:ea typeface="Courier New" pitchFamily="34" charset="-122"/>
                <a:cs typeface="Courier New" pitchFamily="34" charset="-120"/>
              </a:rPr>
              <a:t>  "aud": "inventory-agent",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"iat": 1761436800,</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"exp": iat + 300</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6" name="icon-bg-147"/>
          <p:cNvSpPr/>
          <p:nvPr/>
        </p:nvSpPr>
        <p:spPr>
          <a:xfrm>
            <a:off x="6583680" y="1691640"/>
            <a:ext cx="548640" cy="548640"/>
          </a:xfrm>
          <a:prstGeom prst="ellipse">
            <a:avLst/>
          </a:prstGeom>
          <a:solidFill>
            <a:schemeClr val="accent1"/>
          </a:solidFill>
          <a:ln w="12700">
            <a:solidFill>
              <a:schemeClr val="accent1"/>
            </a:solidFill>
            <a:prstDash val="solid"/>
          </a:ln>
        </p:spPr>
      </p:sp>
      <p:pic>
        <p:nvPicPr>
          <p:cNvPr id="7" name="icon-148" descr="preencoded.png">    </p:cNvPr>
          <p:cNvPicPr>
            <a:picLocks noChangeAspect="1"/>
          </p:cNvPicPr>
          <p:nvPr/>
        </p:nvPicPr>
        <p:blipFill>
          <a:blip r:embed="rId1"/>
          <a:stretch>
            <a:fillRect/>
          </a:stretch>
        </p:blipFill>
        <p:spPr>
          <a:xfrm>
            <a:off x="6715354" y="1823314"/>
            <a:ext cx="285293" cy="285293"/>
          </a:xfrm>
          <a:prstGeom prst="rect">
            <a:avLst/>
          </a:prstGeom>
        </p:spPr>
      </p:pic>
      <p:sp>
        <p:nvSpPr>
          <p:cNvPr id="8" name="text-149"/>
          <p:cNvSpPr txBox="1"/>
          <p:nvPr/>
        </p:nvSpPr>
        <p:spPr>
          <a:xfrm>
            <a:off x="7315200" y="1645920"/>
            <a:ext cx="4297680" cy="1097280"/>
          </a:xfrm>
          <a:prstGeom prst="rect">
            <a:avLst/>
          </a:prstGeom>
          <a:noFill/>
          <a:ln/>
        </p:spPr>
        <p:txBody>
          <a:bodyPr wrap="square" lIns="0" tIns="0" rIns="0" bIns="0" rtlCol="0" anchor="t"/>
          <a:lstStyle/>
          <a:p>
            <a:pPr indent="0" marL="0">
              <a:buNone/>
            </a:pPr>
            <a:r>
              <a:rPr lang="en-US" sz="1600" b="1" dirty="0">
                <a:solidFill>
                  <a:schemeClr val="tx1"/>
                </a:solidFill>
              </a:rPr>
              <a:t>sub is the stable user_id</a:t>
            </a:r>
            <a:endParaRPr lang="en-US" sz="1400" dirty="0"/>
          </a:p>
          <a:p>
            <a:pPr indent="0" marL="0">
              <a:buNone/>
            </a:pPr>
            <a:r>
              <a:rPr lang="en-US" sz="1400" dirty="0">
                <a:solidFill>
                  <a:schemeClr val="tx2"/>
                </a:solidFill>
              </a:rPr>
              <a:t>Never the username, email, or anything personal. Exactly five claims.</a:t>
            </a:r>
            <a:endParaRPr lang="en-US" sz="1400" dirty="0"/>
          </a:p>
        </p:txBody>
      </p:sp>
      <p:sp>
        <p:nvSpPr>
          <p:cNvPr id="9" name="icon-bg-150"/>
          <p:cNvSpPr/>
          <p:nvPr/>
        </p:nvSpPr>
        <p:spPr>
          <a:xfrm>
            <a:off x="6583680" y="2971800"/>
            <a:ext cx="548640" cy="548640"/>
          </a:xfrm>
          <a:prstGeom prst="ellipse">
            <a:avLst/>
          </a:prstGeom>
          <a:solidFill>
            <a:schemeClr val="accent1"/>
          </a:solidFill>
          <a:ln w="12700">
            <a:solidFill>
              <a:schemeClr val="accent1"/>
            </a:solidFill>
            <a:prstDash val="solid"/>
          </a:ln>
        </p:spPr>
      </p:sp>
      <p:pic>
        <p:nvPicPr>
          <p:cNvPr id="10" name="icon-151" descr="preencoded.png">    </p:cNvPr>
          <p:cNvPicPr>
            <a:picLocks noChangeAspect="1"/>
          </p:cNvPicPr>
          <p:nvPr/>
        </p:nvPicPr>
        <p:blipFill>
          <a:blip r:embed="rId2"/>
          <a:stretch>
            <a:fillRect/>
          </a:stretch>
        </p:blipFill>
        <p:spPr>
          <a:xfrm>
            <a:off x="6715354" y="3103474"/>
            <a:ext cx="285293" cy="285293"/>
          </a:xfrm>
          <a:prstGeom prst="rect">
            <a:avLst/>
          </a:prstGeom>
        </p:spPr>
      </p:pic>
      <p:sp>
        <p:nvSpPr>
          <p:cNvPr id="11" name="text-152"/>
          <p:cNvSpPr txBox="1"/>
          <p:nvPr/>
        </p:nvSpPr>
        <p:spPr>
          <a:xfrm>
            <a:off x="7315200" y="2926080"/>
            <a:ext cx="4297680" cy="1097280"/>
          </a:xfrm>
          <a:prstGeom prst="rect">
            <a:avLst/>
          </a:prstGeom>
          <a:noFill/>
          <a:ln/>
        </p:spPr>
        <p:txBody>
          <a:bodyPr wrap="square" lIns="0" tIns="0" rIns="0" bIns="0" rtlCol="0" anchor="t"/>
          <a:lstStyle/>
          <a:p>
            <a:pPr indent="0" marL="0">
              <a:buNone/>
            </a:pPr>
            <a:r>
              <a:rPr lang="en-US" sz="1600" b="1" dirty="0">
                <a:solidFill>
                  <a:schemeClr val="tx1"/>
                </a:solidFill>
              </a:rPr>
              <a:t>aud is the Inventory Agent</a:t>
            </a:r>
            <a:endParaRPr lang="en-US" sz="1400" dirty="0"/>
          </a:p>
          <a:p>
            <a:pPr indent="0" marL="0">
              <a:buNone/>
            </a:pPr>
            <a:r>
              <a:rPr lang="en-US" sz="1400" dirty="0">
                <a:solidFill>
                  <a:schemeClr val="tx2"/>
                </a:solidFill>
              </a:rPr>
              <a:t>Sent straight to the Inventory Service, it is rejected: 401.</a:t>
            </a:r>
            <a:endParaRPr lang="en-US" sz="1400" dirty="0"/>
          </a:p>
        </p:txBody>
      </p:sp>
      <p:sp>
        <p:nvSpPr>
          <p:cNvPr id="12" name="icon-bg-153"/>
          <p:cNvSpPr/>
          <p:nvPr/>
        </p:nvSpPr>
        <p:spPr>
          <a:xfrm>
            <a:off x="6583680" y="4251960"/>
            <a:ext cx="548640" cy="548640"/>
          </a:xfrm>
          <a:prstGeom prst="ellipse">
            <a:avLst/>
          </a:prstGeom>
          <a:solidFill>
            <a:schemeClr val="accent1"/>
          </a:solidFill>
          <a:ln w="12700">
            <a:solidFill>
              <a:schemeClr val="accent1"/>
            </a:solidFill>
            <a:prstDash val="solid"/>
          </a:ln>
        </p:spPr>
      </p:sp>
      <p:pic>
        <p:nvPicPr>
          <p:cNvPr id="13" name="icon-154" descr="preencoded.png">    </p:cNvPr>
          <p:cNvPicPr>
            <a:picLocks noChangeAspect="1"/>
          </p:cNvPicPr>
          <p:nvPr/>
        </p:nvPicPr>
        <p:blipFill>
          <a:blip r:embed="rId3"/>
          <a:stretch>
            <a:fillRect/>
          </a:stretch>
        </p:blipFill>
        <p:spPr>
          <a:xfrm>
            <a:off x="6715354" y="4383634"/>
            <a:ext cx="285293" cy="285293"/>
          </a:xfrm>
          <a:prstGeom prst="rect">
            <a:avLst/>
          </a:prstGeom>
        </p:spPr>
      </p:pic>
      <p:sp>
        <p:nvSpPr>
          <p:cNvPr id="14" name="text-155"/>
          <p:cNvSpPr txBox="1"/>
          <p:nvPr/>
        </p:nvSpPr>
        <p:spPr>
          <a:xfrm>
            <a:off x="7315200" y="4206240"/>
            <a:ext cx="4297680" cy="1097280"/>
          </a:xfrm>
          <a:prstGeom prst="rect">
            <a:avLst/>
          </a:prstGeom>
          <a:noFill/>
          <a:ln/>
        </p:spPr>
        <p:txBody>
          <a:bodyPr wrap="square" lIns="0" tIns="0" rIns="0" bIns="0" rtlCol="0" anchor="t"/>
          <a:lstStyle/>
          <a:p>
            <a:pPr indent="0" marL="0">
              <a:buNone/>
            </a:pPr>
            <a:r>
              <a:rPr lang="en-US" sz="1600" b="1" dirty="0">
                <a:solidFill>
                  <a:schemeClr val="tx1"/>
                </a:solidFill>
              </a:rPr>
              <a:t>Its own signing key</a:t>
            </a:r>
            <a:endParaRPr lang="en-US" sz="1400" dirty="0"/>
          </a:p>
          <a:p>
            <a:pPr indent="0" marL="0">
              <a:buNone/>
            </a:pPr>
            <a:r>
              <a:rPr lang="en-US" sz="1400" dirty="0">
                <a:solidFill>
                  <a:schemeClr val="tx2"/>
                </a:solidFill>
              </a:rPr>
              <a:t>identity-key-1 is not the machine issuer's key-2. Verifiers hold only public keys.</a:t>
            </a:r>
            <a:endParaRPr lang="en-US" sz="14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274320"/>
          </a:xfrm>
          <a:prstGeom prst="rect">
            <a:avLst/>
          </a:prstGeom>
          <a:noFill/>
          <a:ln/>
        </p:spPr>
        <p:txBody>
          <a:bodyPr wrap="square" lIns="0" tIns="0" rIns="0" bIns="0" rtlCol="0"/>
          <a:lstStyle/>
          <a:p>
            <a:pPr indent="0" marL="0">
              <a:buNone/>
            </a:pPr>
            <a:r>
              <a:rPr lang="en-US" sz="1200" b="1" dirty="0">
                <a:solidFill>
                  <a:schemeClr val="accent1"/>
                </a:solidFill>
                <a:latin typeface="Courier New" pitchFamily="34" charset="0"/>
                <a:ea typeface="Courier New" pitchFamily="34" charset="-122"/>
                <a:cs typeface="Courier New" pitchFamily="34" charset="-120"/>
              </a:rPr>
              <a:t>06.05 – 06.06 · ATTACKING THE HUMAN TOKEN</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ctr" indent="0" marL="0">
              <a:buNone/>
            </a:pPr>
            <a:r>
              <a:rPr lang="en-US" sz="3200" b="1" dirty="0">
                <a:solidFill>
                  <a:schemeClr val="tx1"/>
                </a:solidFill>
              </a:rPr>
              <a:t>Forgeries fail. A stolen token still works</a:t>
            </a:r>
            <a:endParaRPr lang="en-US" sz="3200" dirty="0"/>
          </a:p>
        </p:txBody>
      </p:sp>
      <p:sp>
        <p:nvSpPr>
          <p:cNvPr id="4" name="card-156"/>
          <p:cNvSpPr/>
          <p:nvPr/>
        </p:nvSpPr>
        <p:spPr>
          <a:xfrm>
            <a:off x="548640" y="1645920"/>
            <a:ext cx="2624328" cy="2103120"/>
          </a:xfrm>
          <a:prstGeom prst="roundRect">
            <a:avLst>
              <a:gd name="adj" fmla="val 4348"/>
            </a:avLst>
          </a:prstGeom>
          <a:solidFill>
            <a:schemeClr val="bg2"/>
          </a:solidFill>
          <a:ln w="12700">
            <a:solidFill>
              <a:schemeClr val="bg2"/>
            </a:solidFill>
            <a:prstDash val="solid"/>
          </a:ln>
        </p:spPr>
      </p:sp>
      <p:sp>
        <p:nvSpPr>
          <p:cNvPr id="5" name="icon-bg-157"/>
          <p:cNvSpPr/>
          <p:nvPr/>
        </p:nvSpPr>
        <p:spPr>
          <a:xfrm>
            <a:off x="777240" y="1874520"/>
            <a:ext cx="502920" cy="502920"/>
          </a:xfrm>
          <a:prstGeom prst="ellipse">
            <a:avLst/>
          </a:prstGeom>
          <a:solidFill>
            <a:schemeClr val="accent3"/>
          </a:solidFill>
          <a:ln w="12700">
            <a:solidFill>
              <a:schemeClr val="accent3"/>
            </a:solidFill>
            <a:prstDash val="solid"/>
          </a:ln>
        </p:spPr>
      </p:sp>
      <p:pic>
        <p:nvPicPr>
          <p:cNvPr id="6" name="icon-158" descr="preencoded.png">    </p:cNvPr>
          <p:cNvPicPr>
            <a:picLocks noChangeAspect="1"/>
          </p:cNvPicPr>
          <p:nvPr/>
        </p:nvPicPr>
        <p:blipFill>
          <a:blip r:embed="rId1"/>
          <a:stretch>
            <a:fillRect/>
          </a:stretch>
        </p:blipFill>
        <p:spPr>
          <a:xfrm>
            <a:off x="897941" y="1995221"/>
            <a:ext cx="261518" cy="261518"/>
          </a:xfrm>
          <a:prstGeom prst="rect">
            <a:avLst/>
          </a:prstGeom>
        </p:spPr>
      </p:pic>
      <p:sp>
        <p:nvSpPr>
          <p:cNvPr id="7" name="pill-159"/>
          <p:cNvSpPr txBox="1"/>
          <p:nvPr/>
        </p:nvSpPr>
        <p:spPr>
          <a:xfrm>
            <a:off x="1417320" y="1984248"/>
            <a:ext cx="1097280" cy="274320"/>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1100" b="1" dirty="0">
                <a:solidFill>
                  <a:schemeClr val="bg1"/>
                </a:solidFill>
              </a:rPr>
              <a:t>rejected</a:t>
            </a:r>
            <a:endParaRPr lang="en-US" sz="1100" dirty="0"/>
          </a:p>
        </p:txBody>
      </p:sp>
      <p:sp>
        <p:nvSpPr>
          <p:cNvPr id="8" name="text-160"/>
          <p:cNvSpPr txBox="1"/>
          <p:nvPr/>
        </p:nvSpPr>
        <p:spPr>
          <a:xfrm>
            <a:off x="777240" y="2514600"/>
            <a:ext cx="2167128" cy="365760"/>
          </a:xfrm>
          <a:prstGeom prst="rect">
            <a:avLst/>
          </a:prstGeom>
          <a:noFill/>
          <a:ln/>
        </p:spPr>
        <p:txBody>
          <a:bodyPr wrap="square" lIns="0" tIns="0" rIns="0" bIns="0" rtlCol="0" anchor="t"/>
          <a:lstStyle/>
          <a:p>
            <a:pPr indent="0" marL="0">
              <a:buNone/>
            </a:pPr>
            <a:r>
              <a:rPr lang="en-US" sz="1600" b="1" dirty="0">
                <a:solidFill>
                  <a:schemeClr val="tx1"/>
                </a:solidFill>
              </a:rPr>
              <a:t>Edit the payload</a:t>
            </a:r>
            <a:endParaRPr lang="en-US" sz="1600" dirty="0"/>
          </a:p>
        </p:txBody>
      </p:sp>
      <p:sp>
        <p:nvSpPr>
          <p:cNvPr id="9" name="text-161"/>
          <p:cNvSpPr txBox="1"/>
          <p:nvPr/>
        </p:nvSpPr>
        <p:spPr>
          <a:xfrm>
            <a:off x="777240" y="2907792"/>
            <a:ext cx="2167128" cy="777240"/>
          </a:xfrm>
          <a:prstGeom prst="rect">
            <a:avLst/>
          </a:prstGeom>
          <a:noFill/>
          <a:ln/>
        </p:spPr>
        <p:txBody>
          <a:bodyPr wrap="square" lIns="0" tIns="0" rIns="0" bIns="0" rtlCol="0" anchor="t"/>
          <a:lstStyle/>
          <a:p>
            <a:pPr indent="0" marL="0">
              <a:buNone/>
            </a:pPr>
            <a:r>
              <a:rPr lang="en-US" sz="1300" dirty="0">
                <a:solidFill>
                  <a:schemeClr val="tx1"/>
                </a:solidFill>
              </a:rPr>
              <a:t>sub → user-002 or admin</a:t>
            </a:r>
            <a:endParaRPr lang="en-US" sz="1300" dirty="0"/>
          </a:p>
          <a:p>
            <a:pPr indent="0" marL="0">
              <a:buNone/>
            </a:pPr>
            <a:r>
              <a:rPr lang="en-US" sz="1300" dirty="0">
                <a:solidFill>
                  <a:schemeClr val="tx2"/>
                </a:solidFill>
              </a:rPr>
              <a:t>signature no longer matches</a:t>
            </a:r>
            <a:endParaRPr lang="en-US" sz="1300" dirty="0"/>
          </a:p>
        </p:txBody>
      </p:sp>
      <p:sp>
        <p:nvSpPr>
          <p:cNvPr id="10" name="card-162"/>
          <p:cNvSpPr/>
          <p:nvPr/>
        </p:nvSpPr>
        <p:spPr>
          <a:xfrm>
            <a:off x="3355848" y="1645920"/>
            <a:ext cx="2624328" cy="2103120"/>
          </a:xfrm>
          <a:prstGeom prst="roundRect">
            <a:avLst>
              <a:gd name="adj" fmla="val 4348"/>
            </a:avLst>
          </a:prstGeom>
          <a:solidFill>
            <a:schemeClr val="bg2"/>
          </a:solidFill>
          <a:ln w="12700">
            <a:solidFill>
              <a:schemeClr val="bg2"/>
            </a:solidFill>
            <a:prstDash val="solid"/>
          </a:ln>
        </p:spPr>
      </p:sp>
      <p:sp>
        <p:nvSpPr>
          <p:cNvPr id="11" name="icon-bg-163"/>
          <p:cNvSpPr/>
          <p:nvPr/>
        </p:nvSpPr>
        <p:spPr>
          <a:xfrm>
            <a:off x="3584448" y="1874520"/>
            <a:ext cx="502920" cy="502920"/>
          </a:xfrm>
          <a:prstGeom prst="ellipse">
            <a:avLst/>
          </a:prstGeom>
          <a:solidFill>
            <a:schemeClr val="accent3"/>
          </a:solidFill>
          <a:ln w="12700">
            <a:solidFill>
              <a:schemeClr val="accent3"/>
            </a:solidFill>
            <a:prstDash val="solid"/>
          </a:ln>
        </p:spPr>
      </p:sp>
      <p:pic>
        <p:nvPicPr>
          <p:cNvPr id="12" name="icon-164" descr="preencoded.png">    </p:cNvPr>
          <p:cNvPicPr>
            <a:picLocks noChangeAspect="1"/>
          </p:cNvPicPr>
          <p:nvPr/>
        </p:nvPicPr>
        <p:blipFill>
          <a:blip r:embed="rId2"/>
          <a:stretch>
            <a:fillRect/>
          </a:stretch>
        </p:blipFill>
        <p:spPr>
          <a:xfrm>
            <a:off x="3705149" y="1995221"/>
            <a:ext cx="261518" cy="261518"/>
          </a:xfrm>
          <a:prstGeom prst="rect">
            <a:avLst/>
          </a:prstGeom>
        </p:spPr>
      </p:pic>
      <p:sp>
        <p:nvSpPr>
          <p:cNvPr id="13" name="pill-165"/>
          <p:cNvSpPr txBox="1"/>
          <p:nvPr/>
        </p:nvSpPr>
        <p:spPr>
          <a:xfrm>
            <a:off x="4224528" y="1984248"/>
            <a:ext cx="1097280" cy="274320"/>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1100" b="1" dirty="0">
                <a:solidFill>
                  <a:schemeClr val="bg1"/>
                </a:solidFill>
              </a:rPr>
              <a:t>rejected</a:t>
            </a:r>
            <a:endParaRPr lang="en-US" sz="1100" dirty="0"/>
          </a:p>
        </p:txBody>
      </p:sp>
      <p:sp>
        <p:nvSpPr>
          <p:cNvPr id="14" name="text-166"/>
          <p:cNvSpPr txBox="1"/>
          <p:nvPr/>
        </p:nvSpPr>
        <p:spPr>
          <a:xfrm>
            <a:off x="3584448" y="2514600"/>
            <a:ext cx="2167128" cy="365760"/>
          </a:xfrm>
          <a:prstGeom prst="rect">
            <a:avLst/>
          </a:prstGeom>
          <a:noFill/>
          <a:ln/>
        </p:spPr>
        <p:txBody>
          <a:bodyPr wrap="square" lIns="0" tIns="0" rIns="0" bIns="0" rtlCol="0" anchor="t"/>
          <a:lstStyle/>
          <a:p>
            <a:pPr indent="0" marL="0">
              <a:buNone/>
            </a:pPr>
            <a:r>
              <a:rPr lang="en-US" sz="1600" b="1" dirty="0">
                <a:solidFill>
                  <a:schemeClr val="tx1"/>
                </a:solidFill>
              </a:rPr>
              <a:t>Public-key re-sign</a:t>
            </a:r>
            <a:endParaRPr lang="en-US" sz="1600" dirty="0"/>
          </a:p>
        </p:txBody>
      </p:sp>
      <p:sp>
        <p:nvSpPr>
          <p:cNvPr id="15" name="text-167"/>
          <p:cNvSpPr txBox="1"/>
          <p:nvPr/>
        </p:nvSpPr>
        <p:spPr>
          <a:xfrm>
            <a:off x="3584448" y="2907792"/>
            <a:ext cx="2167128" cy="777240"/>
          </a:xfrm>
          <a:prstGeom prst="rect">
            <a:avLst/>
          </a:prstGeom>
          <a:noFill/>
          <a:ln/>
        </p:spPr>
        <p:txBody>
          <a:bodyPr wrap="square" lIns="0" tIns="0" rIns="0" bIns="0" rtlCol="0" anchor="t"/>
          <a:lstStyle/>
          <a:p>
            <a:pPr indent="0" marL="0">
              <a:buNone/>
            </a:pPr>
            <a:r>
              <a:rPr lang="en-US" sz="1300" dirty="0">
                <a:solidFill>
                  <a:schemeClr val="tx1"/>
                </a:solidFill>
              </a:rPr>
              <a:t>public keys are meant to be shared</a:t>
            </a:r>
            <a:endParaRPr lang="en-US" sz="1300" dirty="0"/>
          </a:p>
          <a:p>
            <a:pPr indent="0" marL="0">
              <a:buNone/>
            </a:pPr>
            <a:r>
              <a:rPr lang="en-US" sz="1300" dirty="0">
                <a:solidFill>
                  <a:schemeClr val="tx2"/>
                </a:solidFill>
              </a:rPr>
              <a:t>it can verify, never sign</a:t>
            </a:r>
            <a:endParaRPr lang="en-US" sz="1300" dirty="0"/>
          </a:p>
        </p:txBody>
      </p:sp>
      <p:sp>
        <p:nvSpPr>
          <p:cNvPr id="16" name="card-168"/>
          <p:cNvSpPr/>
          <p:nvPr/>
        </p:nvSpPr>
        <p:spPr>
          <a:xfrm>
            <a:off x="6163056" y="1645920"/>
            <a:ext cx="2624328" cy="2103120"/>
          </a:xfrm>
          <a:prstGeom prst="roundRect">
            <a:avLst>
              <a:gd name="adj" fmla="val 4348"/>
            </a:avLst>
          </a:prstGeom>
          <a:solidFill>
            <a:schemeClr val="bg2"/>
          </a:solidFill>
          <a:ln w="12700">
            <a:solidFill>
              <a:schemeClr val="bg2"/>
            </a:solidFill>
            <a:prstDash val="solid"/>
          </a:ln>
        </p:spPr>
      </p:sp>
      <p:sp>
        <p:nvSpPr>
          <p:cNvPr id="17" name="icon-bg-169"/>
          <p:cNvSpPr/>
          <p:nvPr/>
        </p:nvSpPr>
        <p:spPr>
          <a:xfrm>
            <a:off x="6391656" y="1874520"/>
            <a:ext cx="502920" cy="502920"/>
          </a:xfrm>
          <a:prstGeom prst="ellipse">
            <a:avLst/>
          </a:prstGeom>
          <a:solidFill>
            <a:schemeClr val="accent3"/>
          </a:solidFill>
          <a:ln w="12700">
            <a:solidFill>
              <a:schemeClr val="accent3"/>
            </a:solidFill>
            <a:prstDash val="solid"/>
          </a:ln>
        </p:spPr>
      </p:sp>
      <p:pic>
        <p:nvPicPr>
          <p:cNvPr id="18" name="icon-170" descr="preencoded.png">    </p:cNvPr>
          <p:cNvPicPr>
            <a:picLocks noChangeAspect="1"/>
          </p:cNvPicPr>
          <p:nvPr/>
        </p:nvPicPr>
        <p:blipFill>
          <a:blip r:embed="rId3"/>
          <a:stretch>
            <a:fillRect/>
          </a:stretch>
        </p:blipFill>
        <p:spPr>
          <a:xfrm>
            <a:off x="6512357" y="1995221"/>
            <a:ext cx="261518" cy="261518"/>
          </a:xfrm>
          <a:prstGeom prst="rect">
            <a:avLst/>
          </a:prstGeom>
        </p:spPr>
      </p:pic>
      <p:sp>
        <p:nvSpPr>
          <p:cNvPr id="19" name="pill-171"/>
          <p:cNvSpPr txBox="1"/>
          <p:nvPr/>
        </p:nvSpPr>
        <p:spPr>
          <a:xfrm>
            <a:off x="7031736" y="1984248"/>
            <a:ext cx="1097280" cy="274320"/>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1100" b="1" dirty="0">
                <a:solidFill>
                  <a:schemeClr val="bg1"/>
                </a:solidFill>
              </a:rPr>
              <a:t>rejected</a:t>
            </a:r>
            <a:endParaRPr lang="en-US" sz="1100" dirty="0"/>
          </a:p>
        </p:txBody>
      </p:sp>
      <p:sp>
        <p:nvSpPr>
          <p:cNvPr id="20" name="text-172"/>
          <p:cNvSpPr txBox="1"/>
          <p:nvPr/>
        </p:nvSpPr>
        <p:spPr>
          <a:xfrm>
            <a:off x="6391656" y="2514600"/>
            <a:ext cx="2167128" cy="365760"/>
          </a:xfrm>
          <a:prstGeom prst="rect">
            <a:avLst/>
          </a:prstGeom>
          <a:noFill/>
          <a:ln/>
        </p:spPr>
        <p:txBody>
          <a:bodyPr wrap="square" lIns="0" tIns="0" rIns="0" bIns="0" rtlCol="0" anchor="t"/>
          <a:lstStyle/>
          <a:p>
            <a:pPr indent="0" marL="0">
              <a:buNone/>
            </a:pPr>
            <a:r>
              <a:rPr lang="en-US" sz="1600" b="1" dirty="0">
                <a:solidFill>
                  <a:schemeClr val="tx1"/>
                </a:solidFill>
              </a:rPr>
              <a:t>Algorithm confusion</a:t>
            </a:r>
            <a:endParaRPr lang="en-US" sz="1600" dirty="0"/>
          </a:p>
        </p:txBody>
      </p:sp>
      <p:sp>
        <p:nvSpPr>
          <p:cNvPr id="21" name="text-173"/>
          <p:cNvSpPr txBox="1"/>
          <p:nvPr/>
        </p:nvSpPr>
        <p:spPr>
          <a:xfrm>
            <a:off x="6391656" y="2907792"/>
            <a:ext cx="2167128" cy="777240"/>
          </a:xfrm>
          <a:prstGeom prst="rect">
            <a:avLst/>
          </a:prstGeom>
          <a:noFill/>
          <a:ln/>
        </p:spPr>
        <p:txBody>
          <a:bodyPr wrap="square" lIns="0" tIns="0" rIns="0" bIns="0" rtlCol="0" anchor="t"/>
          <a:lstStyle/>
          <a:p>
            <a:pPr indent="0" marL="0">
              <a:buNone/>
            </a:pPr>
            <a:r>
              <a:rPr lang="en-US" sz="1300" dirty="0">
                <a:solidFill>
                  <a:schemeClr val="tx1"/>
                </a:solidFill>
              </a:rPr>
              <a:t>alg switched to HS256</a:t>
            </a:r>
            <a:endParaRPr lang="en-US" sz="1300" dirty="0"/>
          </a:p>
          <a:p>
            <a:pPr indent="0" marL="0">
              <a:buNone/>
            </a:pPr>
            <a:r>
              <a:rPr lang="en-US" sz="1300" dirty="0">
                <a:solidFill>
                  <a:schemeClr val="tx2"/>
                </a:solidFill>
              </a:rPr>
              <a:t>RS256 is pinned by the verifier</a:t>
            </a:r>
            <a:endParaRPr lang="en-US" sz="1300" dirty="0"/>
          </a:p>
        </p:txBody>
      </p:sp>
      <p:sp>
        <p:nvSpPr>
          <p:cNvPr id="22" name="card-174"/>
          <p:cNvSpPr/>
          <p:nvPr/>
        </p:nvSpPr>
        <p:spPr>
          <a:xfrm>
            <a:off x="8970264" y="1645920"/>
            <a:ext cx="2624328" cy="2103120"/>
          </a:xfrm>
          <a:prstGeom prst="roundRect">
            <a:avLst>
              <a:gd name="adj" fmla="val 4348"/>
            </a:avLst>
          </a:prstGeom>
          <a:solidFill>
            <a:schemeClr val="bg2"/>
          </a:solidFill>
          <a:ln w="12700">
            <a:solidFill>
              <a:schemeClr val="bg2"/>
            </a:solidFill>
            <a:prstDash val="solid"/>
          </a:ln>
        </p:spPr>
      </p:sp>
      <p:sp>
        <p:nvSpPr>
          <p:cNvPr id="23" name="icon-bg-175"/>
          <p:cNvSpPr/>
          <p:nvPr/>
        </p:nvSpPr>
        <p:spPr>
          <a:xfrm>
            <a:off x="9198864" y="1874520"/>
            <a:ext cx="502920" cy="502920"/>
          </a:xfrm>
          <a:prstGeom prst="ellipse">
            <a:avLst/>
          </a:prstGeom>
          <a:solidFill>
            <a:schemeClr val="accent3"/>
          </a:solidFill>
          <a:ln w="12700">
            <a:solidFill>
              <a:schemeClr val="accent3"/>
            </a:solidFill>
            <a:prstDash val="solid"/>
          </a:ln>
        </p:spPr>
      </p:sp>
      <p:pic>
        <p:nvPicPr>
          <p:cNvPr id="24" name="icon-176" descr="preencoded.png">    </p:cNvPr>
          <p:cNvPicPr>
            <a:picLocks noChangeAspect="1"/>
          </p:cNvPicPr>
          <p:nvPr/>
        </p:nvPicPr>
        <p:blipFill>
          <a:blip r:embed="rId4"/>
          <a:stretch>
            <a:fillRect/>
          </a:stretch>
        </p:blipFill>
        <p:spPr>
          <a:xfrm>
            <a:off x="9319565" y="1995221"/>
            <a:ext cx="261518" cy="261518"/>
          </a:xfrm>
          <a:prstGeom prst="rect">
            <a:avLst/>
          </a:prstGeom>
        </p:spPr>
      </p:pic>
      <p:sp>
        <p:nvSpPr>
          <p:cNvPr id="25" name="pill-177"/>
          <p:cNvSpPr txBox="1"/>
          <p:nvPr/>
        </p:nvSpPr>
        <p:spPr>
          <a:xfrm>
            <a:off x="9838944" y="1984248"/>
            <a:ext cx="1097280" cy="274320"/>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1100" b="1" dirty="0">
                <a:solidFill>
                  <a:schemeClr val="bg1"/>
                </a:solidFill>
              </a:rPr>
              <a:t>rejected</a:t>
            </a:r>
            <a:endParaRPr lang="en-US" sz="1100" dirty="0"/>
          </a:p>
        </p:txBody>
      </p:sp>
      <p:sp>
        <p:nvSpPr>
          <p:cNvPr id="26" name="text-178"/>
          <p:cNvSpPr txBox="1"/>
          <p:nvPr/>
        </p:nvSpPr>
        <p:spPr>
          <a:xfrm>
            <a:off x="9198864" y="2514600"/>
            <a:ext cx="2167128" cy="365760"/>
          </a:xfrm>
          <a:prstGeom prst="rect">
            <a:avLst/>
          </a:prstGeom>
          <a:noFill/>
          <a:ln/>
        </p:spPr>
        <p:txBody>
          <a:bodyPr wrap="square" lIns="0" tIns="0" rIns="0" bIns="0" rtlCol="0" anchor="t"/>
          <a:lstStyle/>
          <a:p>
            <a:pPr indent="0" marL="0">
              <a:buNone/>
            </a:pPr>
            <a:r>
              <a:rPr lang="en-US" sz="1600" b="1" dirty="0">
                <a:solidFill>
                  <a:schemeClr val="tx1"/>
                </a:solidFill>
              </a:rPr>
              <a:t>alg = none</a:t>
            </a:r>
            <a:endParaRPr lang="en-US" sz="1600" dirty="0"/>
          </a:p>
        </p:txBody>
      </p:sp>
      <p:sp>
        <p:nvSpPr>
          <p:cNvPr id="27" name="text-179"/>
          <p:cNvSpPr txBox="1"/>
          <p:nvPr/>
        </p:nvSpPr>
        <p:spPr>
          <a:xfrm>
            <a:off x="9198864" y="2907792"/>
            <a:ext cx="2167128" cy="777240"/>
          </a:xfrm>
          <a:prstGeom prst="rect">
            <a:avLst/>
          </a:prstGeom>
          <a:noFill/>
          <a:ln/>
        </p:spPr>
        <p:txBody>
          <a:bodyPr wrap="square" lIns="0" tIns="0" rIns="0" bIns="0" rtlCol="0" anchor="t"/>
          <a:lstStyle/>
          <a:p>
            <a:pPr indent="0" marL="0">
              <a:buNone/>
            </a:pPr>
            <a:r>
              <a:rPr lang="en-US" sz="1300" dirty="0">
                <a:solidFill>
                  <a:schemeClr val="tx1"/>
                </a:solidFill>
              </a:rPr>
              <a:t>strip the signature entirely</a:t>
            </a:r>
            <a:endParaRPr lang="en-US" sz="1300" dirty="0"/>
          </a:p>
          <a:p>
            <a:pPr indent="0" marL="0">
              <a:buNone/>
            </a:pPr>
            <a:r>
              <a:rPr lang="en-US" sz="1300" dirty="0">
                <a:solidFill>
                  <a:schemeClr val="tx2"/>
                </a:solidFill>
              </a:rPr>
              <a:t>unsigned tokens are refused</a:t>
            </a:r>
            <a:endParaRPr lang="en-US" sz="1300" dirty="0"/>
          </a:p>
        </p:txBody>
      </p:sp>
      <p:sp>
        <p:nvSpPr>
          <p:cNvPr id="28" name="card-180"/>
          <p:cNvSpPr/>
          <p:nvPr/>
        </p:nvSpPr>
        <p:spPr>
          <a:xfrm>
            <a:off x="548640" y="4023360"/>
            <a:ext cx="11091672" cy="1600200"/>
          </a:xfrm>
          <a:prstGeom prst="roundRect">
            <a:avLst>
              <a:gd name="adj" fmla="val 5714"/>
            </a:avLst>
          </a:prstGeom>
          <a:solidFill>
            <a:srgbClr val="F6E7DD"/>
          </a:solidFill>
          <a:ln w="12700">
            <a:solidFill>
              <a:srgbClr val="F6E7DD"/>
            </a:solidFill>
            <a:prstDash val="solid"/>
          </a:ln>
        </p:spPr>
      </p:sp>
      <p:sp>
        <p:nvSpPr>
          <p:cNvPr id="29" name="icon-bg-181"/>
          <p:cNvSpPr/>
          <p:nvPr/>
        </p:nvSpPr>
        <p:spPr>
          <a:xfrm>
            <a:off x="822960" y="4343400"/>
            <a:ext cx="822960" cy="822960"/>
          </a:xfrm>
          <a:prstGeom prst="ellipse">
            <a:avLst/>
          </a:prstGeom>
          <a:solidFill>
            <a:schemeClr val="accent1"/>
          </a:solidFill>
          <a:ln w="12700">
            <a:solidFill>
              <a:schemeClr val="accent1"/>
            </a:solidFill>
            <a:prstDash val="solid"/>
          </a:ln>
        </p:spPr>
      </p:sp>
      <p:pic>
        <p:nvPicPr>
          <p:cNvPr id="30" name="icon-182" descr="preencoded.png">    </p:cNvPr>
          <p:cNvPicPr>
            <a:picLocks noChangeAspect="1"/>
          </p:cNvPicPr>
          <p:nvPr/>
        </p:nvPicPr>
        <p:blipFill>
          <a:blip r:embed="rId5"/>
          <a:stretch>
            <a:fillRect/>
          </a:stretch>
        </p:blipFill>
        <p:spPr>
          <a:xfrm>
            <a:off x="1020470" y="4540910"/>
            <a:ext cx="427939" cy="427939"/>
          </a:xfrm>
          <a:prstGeom prst="rect">
            <a:avLst/>
          </a:prstGeom>
        </p:spPr>
      </p:pic>
      <p:sp>
        <p:nvSpPr>
          <p:cNvPr id="31" name="text-183"/>
          <p:cNvSpPr txBox="1"/>
          <p:nvPr/>
        </p:nvSpPr>
        <p:spPr>
          <a:xfrm>
            <a:off x="1920240" y="4160520"/>
            <a:ext cx="9509760" cy="1325880"/>
          </a:xfrm>
          <a:prstGeom prst="rect">
            <a:avLst/>
          </a:prstGeom>
          <a:noFill/>
          <a:ln/>
        </p:spPr>
        <p:txBody>
          <a:bodyPr wrap="square" lIns="0" tIns="0" rIns="0" bIns="0" rtlCol="0" anchor="ctr"/>
          <a:lstStyle/>
          <a:p>
            <a:pPr indent="0" marL="0">
              <a:buNone/>
            </a:pPr>
            <a:r>
              <a:rPr lang="en-US" sz="1800" b="1" dirty="0">
                <a:solidFill>
                  <a:schemeClr val="accent1"/>
                </a:solidFill>
              </a:rPr>
              <a:t>06.06 · Replay: bearer means bearer</a:t>
            </a:r>
            <a:endParaRPr lang="en-US" sz="1500" dirty="0"/>
          </a:p>
          <a:p>
            <a:pPr indent="0" marL="0">
              <a:buNone/>
            </a:pPr>
            <a:r>
              <a:rPr lang="en-US" sz="1500" dirty="0">
                <a:solidFill>
                  <a:schemeClr val="tx1"/>
                </a:solidFill>
              </a:rPr>
              <a:t>A copied, unexpired token is accepted from anyone. The defences are a short life (5 minutes) and a narrow audience, not cryptography. This is why the agent must not simply pass Alice's token along.</a:t>
            </a:r>
            <a:endParaRPr lang="en-US" sz="15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274320"/>
          </a:xfrm>
          <a:prstGeom prst="rect">
            <a:avLst/>
          </a:prstGeom>
          <a:noFill/>
          <a:ln/>
        </p:spPr>
        <p:txBody>
          <a:bodyPr wrap="square" lIns="0" tIns="0" rIns="0" bIns="0" rtlCol="0"/>
          <a:lstStyle/>
          <a:p>
            <a:pPr indent="0" marL="0">
              <a:buNone/>
            </a:pPr>
            <a:r>
              <a:rPr lang="en-US" sz="1200" b="1" dirty="0">
                <a:solidFill>
                  <a:schemeClr val="accent1"/>
                </a:solidFill>
                <a:latin typeface="Courier New" pitchFamily="34" charset="0"/>
                <a:ea typeface="Courier New" pitchFamily="34" charset="-122"/>
                <a:cs typeface="Courier New" pitchFamily="34" charset="-120"/>
              </a:rPr>
              <a:t>06.07 – 06.08 · THE AGENT BOUNDARY</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ctr" indent="0" marL="0">
              <a:buNone/>
            </a:pPr>
            <a:r>
              <a:rPr lang="en-US" sz="3200" b="1" dirty="0">
                <a:solidFill>
                  <a:schemeClr val="tx1"/>
                </a:solidFill>
              </a:rPr>
              <a:t>Human JWT in, machine JWT out</a:t>
            </a:r>
            <a:endParaRPr lang="en-US" sz="3200" dirty="0"/>
          </a:p>
        </p:txBody>
      </p:sp>
      <p:sp>
        <p:nvSpPr>
          <p:cNvPr id="4" name="card-184"/>
          <p:cNvSpPr/>
          <p:nvPr/>
        </p:nvSpPr>
        <p:spPr>
          <a:xfrm>
            <a:off x="548640" y="1828800"/>
            <a:ext cx="2011680" cy="1097280"/>
          </a:xfrm>
          <a:prstGeom prst="roundRect">
            <a:avLst>
              <a:gd name="adj" fmla="val 8333"/>
            </a:avLst>
          </a:prstGeom>
          <a:solidFill>
            <a:schemeClr val="bg1"/>
          </a:solidFill>
          <a:ln w="22225">
            <a:solidFill>
              <a:schemeClr val="accent1"/>
            </a:solidFill>
            <a:prstDash val="solid"/>
          </a:ln>
          <a:effectLst>
            <a:outerShdw sx="100000" sy="100000" kx="0" ky="0" algn="bl" rotWithShape="0" blurRad="76200" dist="25400" dir="5400000">
              <a:srgbClr val="14213D">
                <a:alpha val="14000"/>
              </a:srgbClr>
            </a:outerShdw>
          </a:effectLst>
        </p:spPr>
      </p:sp>
      <p:sp>
        <p:nvSpPr>
          <p:cNvPr id="5" name="icon-bg-185"/>
          <p:cNvSpPr/>
          <p:nvPr/>
        </p:nvSpPr>
        <p:spPr>
          <a:xfrm>
            <a:off x="685800" y="1965960"/>
            <a:ext cx="475488" cy="475488"/>
          </a:xfrm>
          <a:prstGeom prst="ellipse">
            <a:avLst/>
          </a:prstGeom>
          <a:solidFill>
            <a:schemeClr val="accent1"/>
          </a:solidFill>
          <a:ln w="12700">
            <a:solidFill>
              <a:schemeClr val="accent1"/>
            </a:solidFill>
            <a:prstDash val="solid"/>
          </a:ln>
        </p:spPr>
      </p:sp>
      <p:pic>
        <p:nvPicPr>
          <p:cNvPr id="6" name="icon-186" descr="preencoded.png">    </p:cNvPr>
          <p:cNvPicPr>
            <a:picLocks noChangeAspect="1"/>
          </p:cNvPicPr>
          <p:nvPr/>
        </p:nvPicPr>
        <p:blipFill>
          <a:blip r:embed="rId1"/>
          <a:stretch>
            <a:fillRect/>
          </a:stretch>
        </p:blipFill>
        <p:spPr>
          <a:xfrm>
            <a:off x="799917" y="2080077"/>
            <a:ext cx="247254" cy="247254"/>
          </a:xfrm>
          <a:prstGeom prst="rect">
            <a:avLst/>
          </a:prstGeom>
        </p:spPr>
      </p:pic>
      <p:sp>
        <p:nvSpPr>
          <p:cNvPr id="7" name="text-187"/>
          <p:cNvSpPr txBox="1"/>
          <p:nvPr/>
        </p:nvSpPr>
        <p:spPr>
          <a:xfrm>
            <a:off x="1261872" y="1920240"/>
            <a:ext cx="1207008" cy="566928"/>
          </a:xfrm>
          <a:prstGeom prst="rect">
            <a:avLst/>
          </a:prstGeom>
          <a:noFill/>
          <a:ln/>
        </p:spPr>
        <p:txBody>
          <a:bodyPr wrap="square" lIns="0" tIns="0" rIns="0" bIns="0" rtlCol="0" anchor="ctr"/>
          <a:lstStyle/>
          <a:p>
            <a:pPr indent="0" marL="0">
              <a:buNone/>
            </a:pPr>
            <a:r>
              <a:rPr lang="en-US" sz="1500" b="1" dirty="0">
                <a:solidFill>
                  <a:schemeClr val="tx1"/>
                </a:solidFill>
              </a:rPr>
              <a:t>Alice</a:t>
            </a:r>
            <a:endParaRPr lang="en-US" sz="1400" dirty="0"/>
          </a:p>
          <a:p>
            <a:pPr indent="0" marL="0">
              <a:buNone/>
            </a:pPr>
            <a:r>
              <a:rPr lang="en-US" sz="1100" dirty="0">
                <a:solidFill>
                  <a:schemeClr val="tx2"/>
                </a:solidFill>
              </a:rPr>
              <a:t>human JWT</a:t>
            </a:r>
            <a:endParaRPr lang="en-US" sz="1400" dirty="0"/>
          </a:p>
        </p:txBody>
      </p:sp>
      <p:sp>
        <p:nvSpPr>
          <p:cNvPr id="8" name="card-188"/>
          <p:cNvSpPr/>
          <p:nvPr/>
        </p:nvSpPr>
        <p:spPr>
          <a:xfrm>
            <a:off x="3291840" y="1828800"/>
            <a:ext cx="2377440" cy="1097280"/>
          </a:xfrm>
          <a:prstGeom prst="roundRect">
            <a:avLst>
              <a:gd name="adj" fmla="val 8333"/>
            </a:avLst>
          </a:prstGeom>
          <a:solidFill>
            <a:schemeClr val="bg1"/>
          </a:solidFill>
          <a:ln w="22225">
            <a:solidFill>
              <a:schemeClr val="tx1"/>
            </a:solidFill>
            <a:prstDash val="solid"/>
          </a:ln>
          <a:effectLst>
            <a:outerShdw sx="100000" sy="100000" kx="0" ky="0" algn="bl" rotWithShape="0" blurRad="76200" dist="25400" dir="5400000">
              <a:srgbClr val="14213D">
                <a:alpha val="14000"/>
              </a:srgbClr>
            </a:outerShdw>
          </a:effectLst>
        </p:spPr>
      </p:sp>
      <p:sp>
        <p:nvSpPr>
          <p:cNvPr id="9" name="icon-bg-189"/>
          <p:cNvSpPr/>
          <p:nvPr/>
        </p:nvSpPr>
        <p:spPr>
          <a:xfrm>
            <a:off x="3429000" y="1965960"/>
            <a:ext cx="475488" cy="475488"/>
          </a:xfrm>
          <a:prstGeom prst="ellipse">
            <a:avLst/>
          </a:prstGeom>
          <a:solidFill>
            <a:schemeClr val="tx1"/>
          </a:solidFill>
          <a:ln w="12700">
            <a:solidFill>
              <a:schemeClr val="tx1"/>
            </a:solidFill>
            <a:prstDash val="solid"/>
          </a:ln>
        </p:spPr>
      </p:sp>
      <p:pic>
        <p:nvPicPr>
          <p:cNvPr id="10" name="icon-190" descr="preencoded.png">    </p:cNvPr>
          <p:cNvPicPr>
            <a:picLocks noChangeAspect="1"/>
          </p:cNvPicPr>
          <p:nvPr/>
        </p:nvPicPr>
        <p:blipFill>
          <a:blip r:embed="rId2"/>
          <a:stretch>
            <a:fillRect/>
          </a:stretch>
        </p:blipFill>
        <p:spPr>
          <a:xfrm>
            <a:off x="3543117" y="2080077"/>
            <a:ext cx="247254" cy="247254"/>
          </a:xfrm>
          <a:prstGeom prst="rect">
            <a:avLst/>
          </a:prstGeom>
        </p:spPr>
      </p:pic>
      <p:sp>
        <p:nvSpPr>
          <p:cNvPr id="11" name="text-191"/>
          <p:cNvSpPr txBox="1"/>
          <p:nvPr/>
        </p:nvSpPr>
        <p:spPr>
          <a:xfrm>
            <a:off x="4005072" y="1920240"/>
            <a:ext cx="1572768" cy="566928"/>
          </a:xfrm>
          <a:prstGeom prst="rect">
            <a:avLst/>
          </a:prstGeom>
          <a:noFill/>
          <a:ln/>
        </p:spPr>
        <p:txBody>
          <a:bodyPr wrap="square" lIns="0" tIns="0" rIns="0" bIns="0" rtlCol="0" anchor="ctr"/>
          <a:lstStyle/>
          <a:p>
            <a:pPr indent="0" marL="0">
              <a:buNone/>
            </a:pPr>
            <a:r>
              <a:rPr lang="en-US" sz="1500" b="1" dirty="0">
                <a:solidFill>
                  <a:schemeClr val="tx1"/>
                </a:solidFill>
              </a:rPr>
              <a:t>Agent :8003</a:t>
            </a:r>
            <a:endParaRPr lang="en-US" sz="1400" dirty="0"/>
          </a:p>
          <a:p>
            <a:pPr indent="0" marL="0">
              <a:buNone/>
            </a:pPr>
            <a:r>
              <a:rPr lang="en-US" sz="1100" dirty="0">
                <a:solidFill>
                  <a:schemeClr val="tx2"/>
                </a:solidFill>
              </a:rPr>
              <a:t>verify human</a:t>
            </a:r>
            <a:endParaRPr lang="en-US" sz="1400" dirty="0"/>
          </a:p>
        </p:txBody>
      </p:sp>
      <p:sp>
        <p:nvSpPr>
          <p:cNvPr id="12" name="card-192"/>
          <p:cNvSpPr/>
          <p:nvPr/>
        </p:nvSpPr>
        <p:spPr>
          <a:xfrm>
            <a:off x="3291840" y="4023360"/>
            <a:ext cx="2377440" cy="1097280"/>
          </a:xfrm>
          <a:prstGeom prst="roundRect">
            <a:avLst>
              <a:gd name="adj" fmla="val 8333"/>
            </a:avLst>
          </a:prstGeom>
          <a:solidFill>
            <a:schemeClr val="bg1"/>
          </a:solidFill>
          <a:ln w="22225">
            <a:solidFill>
              <a:schemeClr val="tx1"/>
            </a:solidFill>
            <a:prstDash val="solid"/>
          </a:ln>
          <a:effectLst>
            <a:outerShdw sx="100000" sy="100000" kx="0" ky="0" algn="bl" rotWithShape="0" blurRad="76200" dist="25400" dir="5400000">
              <a:srgbClr val="14213D">
                <a:alpha val="14000"/>
              </a:srgbClr>
            </a:outerShdw>
          </a:effectLst>
        </p:spPr>
      </p:sp>
      <p:sp>
        <p:nvSpPr>
          <p:cNvPr id="13" name="icon-bg-193"/>
          <p:cNvSpPr/>
          <p:nvPr/>
        </p:nvSpPr>
        <p:spPr>
          <a:xfrm>
            <a:off x="3429000" y="4160520"/>
            <a:ext cx="475488" cy="475488"/>
          </a:xfrm>
          <a:prstGeom prst="ellipse">
            <a:avLst/>
          </a:prstGeom>
          <a:solidFill>
            <a:schemeClr val="tx1"/>
          </a:solidFill>
          <a:ln w="12700">
            <a:solidFill>
              <a:schemeClr val="tx1"/>
            </a:solidFill>
            <a:prstDash val="solid"/>
          </a:ln>
        </p:spPr>
      </p:sp>
      <p:pic>
        <p:nvPicPr>
          <p:cNvPr id="14" name="icon-194" descr="preencoded.png">    </p:cNvPr>
          <p:cNvPicPr>
            <a:picLocks noChangeAspect="1"/>
          </p:cNvPicPr>
          <p:nvPr/>
        </p:nvPicPr>
        <p:blipFill>
          <a:blip r:embed="rId3"/>
          <a:stretch>
            <a:fillRect/>
          </a:stretch>
        </p:blipFill>
        <p:spPr>
          <a:xfrm>
            <a:off x="3543117" y="4274637"/>
            <a:ext cx="247254" cy="247254"/>
          </a:xfrm>
          <a:prstGeom prst="rect">
            <a:avLst/>
          </a:prstGeom>
        </p:spPr>
      </p:pic>
      <p:sp>
        <p:nvSpPr>
          <p:cNvPr id="15" name="text-195"/>
          <p:cNvSpPr txBox="1"/>
          <p:nvPr/>
        </p:nvSpPr>
        <p:spPr>
          <a:xfrm>
            <a:off x="4005072" y="4114800"/>
            <a:ext cx="1572768" cy="566928"/>
          </a:xfrm>
          <a:prstGeom prst="rect">
            <a:avLst/>
          </a:prstGeom>
          <a:noFill/>
          <a:ln/>
        </p:spPr>
        <p:txBody>
          <a:bodyPr wrap="square" lIns="0" tIns="0" rIns="0" bIns="0" rtlCol="0" anchor="ctr"/>
          <a:lstStyle/>
          <a:p>
            <a:pPr indent="0" marL="0">
              <a:buNone/>
            </a:pPr>
            <a:r>
              <a:rPr lang="en-US" sz="1500" b="1" dirty="0">
                <a:solidFill>
                  <a:schemeClr val="tx1"/>
                </a:solidFill>
              </a:rPr>
              <a:t>Service :8000</a:t>
            </a:r>
            <a:endParaRPr lang="en-US" sz="1400" dirty="0"/>
          </a:p>
          <a:p>
            <a:pPr indent="0" marL="0">
              <a:buNone/>
            </a:pPr>
            <a:r>
              <a:rPr lang="en-US" sz="1100" dirty="0">
                <a:solidFill>
                  <a:schemeClr val="tx2"/>
                </a:solidFill>
              </a:rPr>
              <a:t>machine only</a:t>
            </a:r>
            <a:endParaRPr lang="en-US" sz="1400" dirty="0"/>
          </a:p>
        </p:txBody>
      </p:sp>
      <p:sp>
        <p:nvSpPr>
          <p:cNvPr id="16" name="arrow-196"/>
          <p:cNvSpPr/>
          <p:nvPr/>
        </p:nvSpPr>
        <p:spPr>
          <a:xfrm>
            <a:off x="2560320" y="2377440"/>
            <a:ext cx="731520" cy="0"/>
          </a:xfrm>
          <a:prstGeom prst="line">
            <a:avLst/>
          </a:prstGeom>
          <a:noFill/>
          <a:ln w="31750">
            <a:solidFill>
              <a:schemeClr val="accent1"/>
            </a:solidFill>
            <a:prstDash val="solid"/>
            <a:tailEnd type="triangle"/>
          </a:ln>
        </p:spPr>
      </p:sp>
      <p:sp>
        <p:nvSpPr>
          <p:cNvPr id="17" name="arrow-197"/>
          <p:cNvSpPr/>
          <p:nvPr/>
        </p:nvSpPr>
        <p:spPr>
          <a:xfrm>
            <a:off x="4480560" y="2926080"/>
            <a:ext cx="0" cy="1097280"/>
          </a:xfrm>
          <a:prstGeom prst="line">
            <a:avLst/>
          </a:prstGeom>
          <a:noFill/>
          <a:ln w="31750">
            <a:solidFill>
              <a:schemeClr val="accent2"/>
            </a:solidFill>
            <a:prstDash val="solid"/>
            <a:tailEnd type="triangle"/>
          </a:ln>
        </p:spPr>
      </p:sp>
      <p:sp>
        <p:nvSpPr>
          <p:cNvPr id="18" name="pill-198"/>
          <p:cNvSpPr txBox="1"/>
          <p:nvPr/>
        </p:nvSpPr>
        <p:spPr>
          <a:xfrm>
            <a:off x="4617720" y="3310128"/>
            <a:ext cx="960120" cy="256032"/>
          </a:xfrm>
          <a:prstGeom prst="roundRect">
            <a:avLst>
              <a:gd name="adj" fmla="val 53571"/>
            </a:avLst>
          </a:prstGeom>
          <a:solidFill>
            <a:schemeClr val="accent2"/>
          </a:solidFill>
          <a:ln>
            <a:solidFill>
              <a:schemeClr val="accent2"/>
            </a:solidFill>
          </a:ln>
        </p:spPr>
        <p:txBody>
          <a:bodyPr wrap="square" lIns="0" tIns="0" rIns="0" bIns="0" rtlCol="0" anchor="ctr"/>
          <a:lstStyle/>
          <a:p>
            <a:pPr algn="ctr" indent="0" marL="0">
              <a:buNone/>
            </a:pPr>
            <a:r>
              <a:rPr lang="en-US" sz="1000" b="1" dirty="0">
                <a:solidFill>
                  <a:schemeClr val="bg1"/>
                </a:solidFill>
              </a:rPr>
              <a:t>machine</a:t>
            </a:r>
            <a:endParaRPr lang="en-US" sz="1000" dirty="0"/>
          </a:p>
        </p:txBody>
      </p:sp>
      <p:sp>
        <p:nvSpPr>
          <p:cNvPr id="19" name="card-199"/>
          <p:cNvSpPr/>
          <p:nvPr/>
        </p:nvSpPr>
        <p:spPr>
          <a:xfrm>
            <a:off x="548640" y="3429000"/>
            <a:ext cx="2011680" cy="1691640"/>
          </a:xfrm>
          <a:prstGeom prst="roundRect">
            <a:avLst>
              <a:gd name="adj" fmla="val 5405"/>
            </a:avLst>
          </a:prstGeom>
          <a:solidFill>
            <a:srgbClr val="F6E7DD"/>
          </a:solidFill>
          <a:ln w="12700">
            <a:solidFill>
              <a:srgbClr val="F6E7DD"/>
            </a:solidFill>
            <a:prstDash val="solid"/>
          </a:ln>
        </p:spPr>
      </p:sp>
      <p:sp>
        <p:nvSpPr>
          <p:cNvPr id="20" name="text-200"/>
          <p:cNvSpPr txBox="1"/>
          <p:nvPr/>
        </p:nvSpPr>
        <p:spPr>
          <a:xfrm>
            <a:off x="685800" y="3566160"/>
            <a:ext cx="1783080" cy="1417320"/>
          </a:xfrm>
          <a:prstGeom prst="rect">
            <a:avLst/>
          </a:prstGeom>
          <a:noFill/>
          <a:ln/>
        </p:spPr>
        <p:txBody>
          <a:bodyPr wrap="square" lIns="0" tIns="0" rIns="0" bIns="0" rtlCol="0" anchor="t"/>
          <a:lstStyle/>
          <a:p>
            <a:pPr indent="0" marL="0">
              <a:buNone/>
            </a:pPr>
            <a:r>
              <a:rPr lang="en-US" sz="1300" b="1" dirty="0">
                <a:solidFill>
                  <a:schemeClr val="accent1"/>
                </a:solidFill>
              </a:rPr>
              <a:t>Bad human token?</a:t>
            </a:r>
            <a:endParaRPr lang="en-US" sz="1300" dirty="0"/>
          </a:p>
          <a:p>
            <a:pPr indent="0" marL="0">
              <a:buNone/>
            </a:pPr>
            <a:r>
              <a:rPr lang="en-US" sz="1300" dirty="0">
                <a:solidFill>
                  <a:schemeClr val="tx1"/>
                </a:solidFill>
              </a:rPr>
              <a:t>generic 401 at the agent</a:t>
            </a:r>
            <a:endParaRPr lang="en-US" sz="1300" dirty="0"/>
          </a:p>
          <a:p>
            <a:pPr indent="0" marL="0">
              <a:buNone/>
            </a:pPr>
            <a:r>
              <a:rPr lang="en-US" sz="1300" b="1" dirty="0">
                <a:solidFill>
                  <a:schemeClr val="tx1"/>
                </a:solidFill>
              </a:rPr>
              <a:t>zero machine calls</a:t>
            </a:r>
            <a:endParaRPr lang="en-US" sz="1300" dirty="0"/>
          </a:p>
        </p:txBody>
      </p:sp>
      <p:graphicFrame>
        <p:nvGraphicFramePr>
          <p:cNvPr id="10" name="table-201"/>
          <p:cNvGraphicFramePr>
            <a:graphicFrameLocks noGrp="1"/>
          </p:cNvGraphicFramePr>
          <p:nvPr>
            <p:extLst>
              <p:ext uri="{D42A27DB-BD31-4B8C-83A1-F6EECF244321}">
                <p14:modId xmlns:p14="http://schemas.microsoft.com/office/powerpoint/2010/main" val="1579011935"/>
              </p:ext>
            </p:extLst>
          </p:nvPr>
        </p:nvGraphicFramePr>
        <p:xfrm>
          <a:off x="6217920" y="1737360"/>
          <a:ext cx="5422392" cy="914400"/>
        </p:xfrm>
        <a:graphic>
          <a:graphicData uri="http://schemas.openxmlformats.org/drawingml/2006/table">
            <a:tbl>
              <a:tblPr/>
              <a:tblGrid>
                <a:gridCol w="3017520"/>
                <a:gridCol w="2404872"/>
              </a:tblGrid>
              <a:tr h="438912">
                <a:tc>
                  <a:txBody>
                    <a:bodyPr/>
                    <a:lstStyle/>
                    <a:p>
                      <a:pPr indent="0" marL="0">
                        <a:buNone/>
                      </a:pPr>
                      <a:r>
                        <a:rPr lang="en-US" sz="1400" b="1" dirty="0">
                          <a:solidFill>
                            <a:schemeClr val="bg1"/>
                          </a:solidFill>
                        </a:rPr>
                        <a:t>Scenario</a:t>
                      </a:r>
                      <a:endParaRPr lang="en-US" sz="1400" dirty="0"/>
                    </a:p>
                  </a:txBody>
                  <a:tcPr marL="109728" marR="109728"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Result</a:t>
                      </a:r>
                      <a:endParaRPr lang="en-US" sz="1400" dirty="0"/>
                    </a:p>
                  </a:txBody>
                  <a:tcPr marL="109728" marR="109728"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tx1"/>
                    </a:solidFill>
                  </a:tcPr>
                </a:tc>
              </a:tr>
              <a:tr h="438912">
                <a:tc>
                  <a:txBody>
                    <a:bodyPr/>
                    <a:lstStyle/>
                    <a:p>
                      <a:pPr indent="0" marL="0">
                        <a:buNone/>
                      </a:pPr>
                      <a:r>
                        <a:rPr lang="en-US" sz="1400" dirty="0">
                          <a:solidFill>
                            <a:schemeClr val="tx1"/>
                          </a:solidFill>
                        </a:rPr>
                        <a:t>Valid human + valid machine</a:t>
                      </a:r>
                      <a:endParaRPr lang="en-US" sz="1400" dirty="0"/>
                    </a:p>
                  </a:txBody>
                  <a:tcPr marL="109728" marR="109728"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200 with actual stock</a:t>
                      </a:r>
                      <a:endParaRPr lang="en-US" sz="1400" dirty="0"/>
                    </a:p>
                  </a:txBody>
                  <a:tcPr marL="109728" marR="109728"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bg1"/>
                    </a:solidFill>
                  </a:tcPr>
                </a:tc>
              </a:tr>
              <a:tr h="438912">
                <a:tc>
                  <a:txBody>
                    <a:bodyPr/>
                    <a:lstStyle/>
                    <a:p>
                      <a:pPr indent="0" marL="0">
                        <a:buNone/>
                      </a:pPr>
                      <a:r>
                        <a:rPr lang="en-US" sz="1400" dirty="0">
                          <a:solidFill>
                            <a:schemeClr val="tx1"/>
                          </a:solidFill>
                        </a:rPr>
                        <a:t>Invalid human (any reason)</a:t>
                      </a:r>
                      <a:endParaRPr lang="en-US" sz="1400" dirty="0"/>
                    </a:p>
                  </a:txBody>
                  <a:tcPr marL="109728" marR="109728"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401 at the agent</a:t>
                      </a:r>
                      <a:endParaRPr lang="en-US" sz="1400" dirty="0"/>
                    </a:p>
                  </a:txBody>
                  <a:tcPr marL="109728" marR="109728"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bg2"/>
                    </a:solidFill>
                  </a:tcPr>
                </a:tc>
              </a:tr>
              <a:tr h="438912">
                <a:tc>
                  <a:txBody>
                    <a:bodyPr/>
                    <a:lstStyle/>
                    <a:p>
                      <a:pPr indent="0" marL="0">
                        <a:buNone/>
                      </a:pPr>
                      <a:r>
                        <a:rPr lang="en-US" sz="1400" dirty="0">
                          <a:solidFill>
                            <a:schemeClr val="tx1"/>
                          </a:solidFill>
                        </a:rPr>
                        <a:t>Valid human + rejected machine</a:t>
                      </a:r>
                      <a:endParaRPr lang="en-US" sz="1400" dirty="0"/>
                    </a:p>
                  </a:txBody>
                  <a:tcPr marL="109728" marR="109728"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502: not Alice's fault</a:t>
                      </a:r>
                      <a:endParaRPr lang="en-US" sz="1400" dirty="0"/>
                    </a:p>
                  </a:txBody>
                  <a:tcPr marL="109728" marR="109728"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bg1"/>
                    </a:solidFill>
                  </a:tcPr>
                </a:tc>
              </a:tr>
              <a:tr h="438912">
                <a:tc>
                  <a:txBody>
                    <a:bodyPr/>
                    <a:lstStyle/>
                    <a:p>
                      <a:pPr indent="0" marL="0">
                        <a:buNone/>
                      </a:pPr>
                      <a:r>
                        <a:rPr lang="en-US" sz="1400" dirty="0">
                          <a:solidFill>
                            <a:schemeClr val="tx1"/>
                          </a:solidFill>
                        </a:rPr>
                        <a:t>Alice's JWT sent to the service</a:t>
                      </a:r>
                      <a:endParaRPr lang="en-US" sz="1400" dirty="0"/>
                    </a:p>
                  </a:txBody>
                  <a:tcPr marL="109728" marR="109728"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401 (wrong audience)</a:t>
                      </a:r>
                      <a:endParaRPr lang="en-US" sz="1400" dirty="0"/>
                    </a:p>
                  </a:txBody>
                  <a:tcPr marL="109728" marR="109728"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bg2"/>
                    </a:solidFill>
                  </a:tcPr>
                </a:tc>
              </a:tr>
              <a:tr h="438912">
                <a:tc>
                  <a:txBody>
                    <a:bodyPr/>
                    <a:lstStyle/>
                    <a:p>
                      <a:pPr indent="0" marL="0">
                        <a:buNone/>
                      </a:pPr>
                      <a:r>
                        <a:rPr lang="en-US" sz="1400" dirty="0">
                          <a:solidFill>
                            <a:schemeClr val="tx1"/>
                          </a:solidFill>
                        </a:rPr>
                        <a:t>Machine JWT sent as a human</a:t>
                      </a:r>
                      <a:endParaRPr lang="en-US" sz="1400" dirty="0"/>
                    </a:p>
                  </a:txBody>
                  <a:tcPr marL="109728" marR="109728"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401 at the agent</a:t>
                      </a:r>
                      <a:endParaRPr lang="en-US" sz="1400" dirty="0"/>
                    </a:p>
                  </a:txBody>
                  <a:tcPr marL="109728" marR="109728"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bg1"/>
                    </a:solidFill>
                  </a:tcPr>
                </a:tc>
              </a:tr>
            </a:tbl>
          </a:graphicData>
        </a:graphic>
      </p:graphicFrame>
      <p:sp>
        <p:nvSpPr>
          <p:cNvPr id="22" name="text-202"/>
          <p:cNvSpPr txBox="1"/>
          <p:nvPr/>
        </p:nvSpPr>
        <p:spPr>
          <a:xfrm>
            <a:off x="6217920" y="4572000"/>
            <a:ext cx="5422392" cy="731520"/>
          </a:xfrm>
          <a:prstGeom prst="rect">
            <a:avLst/>
          </a:prstGeom>
          <a:noFill/>
          <a:ln/>
        </p:spPr>
        <p:txBody>
          <a:bodyPr wrap="square" lIns="0" tIns="0" rIns="0" bIns="0" rtlCol="0" anchor="t"/>
          <a:lstStyle/>
          <a:p>
            <a:pPr indent="0" marL="0">
              <a:buNone/>
            </a:pPr>
            <a:r>
              <a:rPr lang="en-US" sz="1300" i="1" dirty="0">
                <a:solidFill>
                  <a:schemeClr val="tx2"/>
                </a:solidFill>
              </a:rPr>
              <a:t>The reason for a failure is logged as an exception class only. No response or log line ever contains a JWT.</a:t>
            </a:r>
            <a:endParaRPr lang="en-US" sz="13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274320"/>
          </a:xfrm>
          <a:prstGeom prst="rect">
            <a:avLst/>
          </a:prstGeom>
          <a:noFill/>
          <a:ln/>
        </p:spPr>
        <p:txBody>
          <a:bodyPr wrap="square" lIns="0" tIns="0" rIns="0" bIns="0" rtlCol="0"/>
          <a:lstStyle/>
          <a:p>
            <a:pPr indent="0" marL="0">
              <a:buNone/>
            </a:pPr>
            <a:r>
              <a:rPr lang="en-US" sz="1200" b="1" dirty="0">
                <a:solidFill>
                  <a:schemeClr val="accent1"/>
                </a:solidFill>
                <a:latin typeface="Courier New" pitchFamily="34" charset="0"/>
                <a:ea typeface="Courier New" pitchFamily="34" charset="-122"/>
                <a:cs typeface="Courier New" pitchFamily="34" charset="-120"/>
              </a:rPr>
              <a:t>06.09A · EXPERIMENT: FORWARD THE NAME</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ctr" indent="0" marL="0">
              <a:buNone/>
            </a:pPr>
            <a:r>
              <a:rPr lang="en-US" sz="3200" b="1" dirty="0">
                <a:solidFill>
                  <a:schemeClr val="tx1"/>
                </a:solidFill>
              </a:rPr>
              <a:t>A forwarded header is a claim, not a proof</a:t>
            </a:r>
            <a:endParaRPr lang="en-US" sz="3200" dirty="0"/>
          </a:p>
        </p:txBody>
      </p:sp>
      <p:sp>
        <p:nvSpPr>
          <p:cNvPr id="4" name="card-203"/>
          <p:cNvSpPr/>
          <p:nvPr/>
        </p:nvSpPr>
        <p:spPr>
          <a:xfrm>
            <a:off x="548640" y="1737360"/>
            <a:ext cx="2286000" cy="1097280"/>
          </a:xfrm>
          <a:prstGeom prst="roundRect">
            <a:avLst>
              <a:gd name="adj" fmla="val 8333"/>
            </a:avLst>
          </a:prstGeom>
          <a:solidFill>
            <a:schemeClr val="bg1"/>
          </a:solidFill>
          <a:ln w="22225">
            <a:solidFill>
              <a:schemeClr val="tx1"/>
            </a:solidFill>
            <a:prstDash val="solid"/>
          </a:ln>
          <a:effectLst>
            <a:outerShdw sx="100000" sy="100000" kx="0" ky="0" algn="bl" rotWithShape="0" blurRad="76200" dist="25400" dir="5400000">
              <a:srgbClr val="14213D">
                <a:alpha val="14000"/>
              </a:srgbClr>
            </a:outerShdw>
          </a:effectLst>
        </p:spPr>
      </p:sp>
      <p:sp>
        <p:nvSpPr>
          <p:cNvPr id="5" name="icon-bg-204"/>
          <p:cNvSpPr/>
          <p:nvPr/>
        </p:nvSpPr>
        <p:spPr>
          <a:xfrm>
            <a:off x="685800" y="1874520"/>
            <a:ext cx="475488" cy="475488"/>
          </a:xfrm>
          <a:prstGeom prst="ellipse">
            <a:avLst/>
          </a:prstGeom>
          <a:solidFill>
            <a:schemeClr val="tx1"/>
          </a:solidFill>
          <a:ln w="12700">
            <a:solidFill>
              <a:schemeClr val="tx1"/>
            </a:solidFill>
            <a:prstDash val="solid"/>
          </a:ln>
        </p:spPr>
      </p:sp>
      <p:pic>
        <p:nvPicPr>
          <p:cNvPr id="6" name="icon-205" descr="preencoded.png">    </p:cNvPr>
          <p:cNvPicPr>
            <a:picLocks noChangeAspect="1"/>
          </p:cNvPicPr>
          <p:nvPr/>
        </p:nvPicPr>
        <p:blipFill>
          <a:blip r:embed="rId1"/>
          <a:stretch>
            <a:fillRect/>
          </a:stretch>
        </p:blipFill>
        <p:spPr>
          <a:xfrm>
            <a:off x="799917" y="1988637"/>
            <a:ext cx="247254" cy="247254"/>
          </a:xfrm>
          <a:prstGeom prst="rect">
            <a:avLst/>
          </a:prstGeom>
        </p:spPr>
      </p:pic>
      <p:sp>
        <p:nvSpPr>
          <p:cNvPr id="7" name="text-206"/>
          <p:cNvSpPr txBox="1"/>
          <p:nvPr/>
        </p:nvSpPr>
        <p:spPr>
          <a:xfrm>
            <a:off x="1261872" y="1828800"/>
            <a:ext cx="1481328" cy="566928"/>
          </a:xfrm>
          <a:prstGeom prst="rect">
            <a:avLst/>
          </a:prstGeom>
          <a:noFill/>
          <a:ln/>
        </p:spPr>
        <p:txBody>
          <a:bodyPr wrap="square" lIns="0" tIns="0" rIns="0" bIns="0" rtlCol="0" anchor="ctr"/>
          <a:lstStyle/>
          <a:p>
            <a:pPr indent="0" marL="0">
              <a:buNone/>
            </a:pPr>
            <a:r>
              <a:rPr lang="en-US" sz="1500" b="1" dirty="0">
                <a:solidFill>
                  <a:schemeClr val="tx1"/>
                </a:solidFill>
              </a:rPr>
              <a:t>Agent</a:t>
            </a:r>
            <a:endParaRPr lang="en-US" sz="1400" dirty="0"/>
          </a:p>
          <a:p>
            <a:pPr indent="0" marL="0">
              <a:buNone/>
            </a:pPr>
            <a:r>
              <a:rPr lang="en-US" sz="1100" dirty="0">
                <a:solidFill>
                  <a:schemeClr val="tx2"/>
                </a:solidFill>
              </a:rPr>
              <a:t>or anyone</a:t>
            </a:r>
            <a:endParaRPr lang="en-US" sz="1400" dirty="0"/>
          </a:p>
        </p:txBody>
      </p:sp>
      <p:sp>
        <p:nvSpPr>
          <p:cNvPr id="8" name="card-207"/>
          <p:cNvSpPr/>
          <p:nvPr/>
        </p:nvSpPr>
        <p:spPr>
          <a:xfrm>
            <a:off x="5669280" y="1737360"/>
            <a:ext cx="2377440" cy="1097280"/>
          </a:xfrm>
          <a:prstGeom prst="roundRect">
            <a:avLst>
              <a:gd name="adj" fmla="val 8333"/>
            </a:avLst>
          </a:prstGeom>
          <a:solidFill>
            <a:schemeClr val="bg1"/>
          </a:solidFill>
          <a:ln w="22225">
            <a:solidFill>
              <a:schemeClr val="tx1"/>
            </a:solidFill>
            <a:prstDash val="solid"/>
          </a:ln>
          <a:effectLst>
            <a:outerShdw sx="100000" sy="100000" kx="0" ky="0" algn="bl" rotWithShape="0" blurRad="76200" dist="25400" dir="5400000">
              <a:srgbClr val="14213D">
                <a:alpha val="14000"/>
              </a:srgbClr>
            </a:outerShdw>
          </a:effectLst>
        </p:spPr>
      </p:sp>
      <p:sp>
        <p:nvSpPr>
          <p:cNvPr id="9" name="icon-bg-208"/>
          <p:cNvSpPr/>
          <p:nvPr/>
        </p:nvSpPr>
        <p:spPr>
          <a:xfrm>
            <a:off x="5806440" y="1874520"/>
            <a:ext cx="475488" cy="475488"/>
          </a:xfrm>
          <a:prstGeom prst="ellipse">
            <a:avLst/>
          </a:prstGeom>
          <a:solidFill>
            <a:schemeClr val="tx1"/>
          </a:solidFill>
          <a:ln w="12700">
            <a:solidFill>
              <a:schemeClr val="tx1"/>
            </a:solidFill>
            <a:prstDash val="solid"/>
          </a:ln>
        </p:spPr>
      </p:sp>
      <p:pic>
        <p:nvPicPr>
          <p:cNvPr id="10" name="icon-209" descr="preencoded.png">    </p:cNvPr>
          <p:cNvPicPr>
            <a:picLocks noChangeAspect="1"/>
          </p:cNvPicPr>
          <p:nvPr/>
        </p:nvPicPr>
        <p:blipFill>
          <a:blip r:embed="rId2"/>
          <a:stretch>
            <a:fillRect/>
          </a:stretch>
        </p:blipFill>
        <p:spPr>
          <a:xfrm>
            <a:off x="5920557" y="1988637"/>
            <a:ext cx="247254" cy="247254"/>
          </a:xfrm>
          <a:prstGeom prst="rect">
            <a:avLst/>
          </a:prstGeom>
        </p:spPr>
      </p:pic>
      <p:sp>
        <p:nvSpPr>
          <p:cNvPr id="11" name="text-210"/>
          <p:cNvSpPr txBox="1"/>
          <p:nvPr/>
        </p:nvSpPr>
        <p:spPr>
          <a:xfrm>
            <a:off x="6382512" y="1828800"/>
            <a:ext cx="1572768" cy="566928"/>
          </a:xfrm>
          <a:prstGeom prst="rect">
            <a:avLst/>
          </a:prstGeom>
          <a:noFill/>
          <a:ln/>
        </p:spPr>
        <p:txBody>
          <a:bodyPr wrap="square" lIns="0" tIns="0" rIns="0" bIns="0" rtlCol="0" anchor="ctr"/>
          <a:lstStyle/>
          <a:p>
            <a:pPr indent="0" marL="0">
              <a:buNone/>
            </a:pPr>
            <a:r>
              <a:rPr lang="en-US" sz="1500" b="1" dirty="0">
                <a:solidFill>
                  <a:schemeClr val="tx1"/>
                </a:solidFill>
              </a:rPr>
              <a:t>Service</a:t>
            </a:r>
            <a:endParaRPr lang="en-US" sz="1400" dirty="0"/>
          </a:p>
          <a:p>
            <a:pPr indent="0" marL="0">
              <a:buNone/>
            </a:pPr>
            <a:r>
              <a:rPr lang="en-US" sz="1100" dirty="0">
                <a:solidFill>
                  <a:schemeClr val="tx2"/>
                </a:solidFill>
              </a:rPr>
              <a:t>:8000</a:t>
            </a:r>
            <a:endParaRPr lang="en-US" sz="1400" dirty="0"/>
          </a:p>
        </p:txBody>
      </p:sp>
      <p:sp>
        <p:nvSpPr>
          <p:cNvPr id="12" name="arrow-211"/>
          <p:cNvSpPr/>
          <p:nvPr/>
        </p:nvSpPr>
        <p:spPr>
          <a:xfrm>
            <a:off x="2834640" y="2286000"/>
            <a:ext cx="2834640" cy="0"/>
          </a:xfrm>
          <a:prstGeom prst="line">
            <a:avLst/>
          </a:prstGeom>
          <a:noFill/>
          <a:ln w="31750">
            <a:solidFill>
              <a:schemeClr val="tx1"/>
            </a:solidFill>
            <a:prstDash val="solid"/>
            <a:tailEnd type="triangle"/>
          </a:ln>
        </p:spPr>
      </p:sp>
      <p:sp>
        <p:nvSpPr>
          <p:cNvPr id="13" name="pill-212"/>
          <p:cNvSpPr txBox="1"/>
          <p:nvPr/>
        </p:nvSpPr>
        <p:spPr>
          <a:xfrm>
            <a:off x="3017520" y="1600200"/>
            <a:ext cx="2468880" cy="274320"/>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Authorization: machine JWT</a:t>
            </a:r>
            <a:endParaRPr lang="en-US" sz="1000" dirty="0"/>
          </a:p>
        </p:txBody>
      </p:sp>
      <p:sp>
        <p:nvSpPr>
          <p:cNvPr id="14" name="pill-213"/>
          <p:cNvSpPr txBox="1"/>
          <p:nvPr/>
        </p:nvSpPr>
        <p:spPr>
          <a:xfrm>
            <a:off x="3017520" y="2514600"/>
            <a:ext cx="2468880" cy="274320"/>
          </a:xfrm>
          <a:prstGeom prst="roundRect">
            <a:avLst>
              <a:gd name="adj" fmla="val 50000"/>
            </a:avLst>
          </a:prstGeom>
          <a:solidFill>
            <a:schemeClr val="accent6"/>
          </a:solidFill>
          <a:ln>
            <a:solidFill>
              <a:schemeClr val="accent6"/>
            </a:solidFill>
          </a:ln>
        </p:spPr>
        <p:txBody>
          <a:bodyPr wrap="square" lIns="0" tIns="0" rIns="0" bIns="0"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X-Human-User: admin</a:t>
            </a:r>
            <a:endParaRPr lang="en-US" sz="1000" dirty="0"/>
          </a:p>
        </p:txBody>
      </p:sp>
      <p:sp>
        <p:nvSpPr>
          <p:cNvPr id="15" name="text-214"/>
          <p:cNvSpPr txBox="1"/>
          <p:nvPr/>
        </p:nvSpPr>
        <p:spPr>
          <a:xfrm>
            <a:off x="3017520" y="2834640"/>
            <a:ext cx="2468880" cy="274320"/>
          </a:xfrm>
          <a:prstGeom prst="rect">
            <a:avLst/>
          </a:prstGeom>
          <a:noFill/>
          <a:ln/>
        </p:spPr>
        <p:txBody>
          <a:bodyPr wrap="square" lIns="0" tIns="0" rIns="0" bIns="0" rtlCol="0" anchor="t"/>
          <a:lstStyle/>
          <a:p>
            <a:pPr algn="ctr" indent="0" marL="0">
              <a:buNone/>
            </a:pPr>
            <a:r>
              <a:rPr lang="en-US" sz="1100" i="1" dirty="0">
                <a:solidFill>
                  <a:schemeClr val="tx2"/>
                </a:solidFill>
              </a:rPr>
              <a:t>anyone can type this</a:t>
            </a:r>
            <a:endParaRPr lang="en-US" sz="1100" dirty="0"/>
          </a:p>
        </p:txBody>
      </p:sp>
      <p:sp>
        <p:nvSpPr>
          <p:cNvPr id="16" name="card-215"/>
          <p:cNvSpPr/>
          <p:nvPr/>
        </p:nvSpPr>
        <p:spPr>
          <a:xfrm>
            <a:off x="548640" y="3429000"/>
            <a:ext cx="7498080" cy="1280160"/>
          </a:xfrm>
          <a:prstGeom prst="roundRect">
            <a:avLst>
              <a:gd name="adj" fmla="val 7143"/>
            </a:avLst>
          </a:prstGeom>
          <a:solidFill>
            <a:schemeClr val="tx1"/>
          </a:solidFill>
          <a:ln w="12700">
            <a:solidFill>
              <a:schemeClr val="tx1"/>
            </a:solidFill>
            <a:prstDash val="solid"/>
          </a:ln>
        </p:spPr>
      </p:sp>
      <p:sp>
        <p:nvSpPr>
          <p:cNvPr id="17" name="code-216"/>
          <p:cNvSpPr txBox="1"/>
          <p:nvPr/>
        </p:nvSpPr>
        <p:spPr>
          <a:xfrm>
            <a:off x="777240" y="3611880"/>
            <a:ext cx="7040880" cy="914400"/>
          </a:xfrm>
          <a:prstGeom prst="rect">
            <a:avLst/>
          </a:prstGeom>
          <a:noFill/>
          <a:ln/>
        </p:spPr>
        <p:txBody>
          <a:bodyPr wrap="square" lIns="0" tIns="0" rIns="0" bIns="0" rtlCol="0" anchor="t"/>
          <a:lstStyle/>
          <a:p>
            <a:pPr indent="0" marL="0">
              <a:buNone/>
            </a:pPr>
            <a:r>
              <a:rPr lang="en-US" sz="1300" dirty="0">
                <a:solidFill>
                  <a:srgbClr val="F2A65A"/>
                </a:solidFill>
                <a:latin typeface="Courier New" pitchFamily="34" charset="0"/>
                <a:ea typeface="Courier New" pitchFamily="34" charset="-122"/>
                <a:cs typeface="Courier New" pitchFamily="34" charset="-120"/>
              </a:rPr>
              <a:t>WARNING DIAGNOSTIC unverified_human_claim='admin'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asserted_by_machine=restricted-agent</a:t>
            </a:r>
            <a:endParaRPr lang="en-US" sz="1300" dirty="0"/>
          </a:p>
          <a:p>
            <a:pPr indent="0" marL="0">
              <a:buNone/>
            </a:pPr>
            <a:r>
              <a:rPr lang="en-US" sz="1300" dirty="0">
                <a:solidFill>
                  <a:srgbClr val="8FC1F0"/>
                </a:solidFill>
                <a:latin typeface="Courier New" pitchFamily="34" charset="0"/>
                <a:ea typeface="Courier New" pitchFamily="34" charset="-122"/>
                <a:cs typeface="Courier New" pitchFamily="34" charset="-120"/>
              </a:rPr>
              <a:t>  (not authenticated; never used for authorization or filtering)</a:t>
            </a:r>
            <a:endParaRPr lang="en-US" sz="1300" dirty="0"/>
          </a:p>
        </p:txBody>
      </p:sp>
      <p:sp>
        <p:nvSpPr>
          <p:cNvPr id="18" name="card-217"/>
          <p:cNvSpPr/>
          <p:nvPr/>
        </p:nvSpPr>
        <p:spPr>
          <a:xfrm>
            <a:off x="8412480" y="1737360"/>
            <a:ext cx="3227832" cy="2971800"/>
          </a:xfrm>
          <a:prstGeom prst="roundRect">
            <a:avLst>
              <a:gd name="adj" fmla="val 3077"/>
            </a:avLst>
          </a:prstGeom>
          <a:solidFill>
            <a:srgbClr val="DEEFE6"/>
          </a:solidFill>
          <a:ln w="12700">
            <a:solidFill>
              <a:srgbClr val="DEEFE6"/>
            </a:solidFill>
            <a:prstDash val="solid"/>
          </a:ln>
        </p:spPr>
      </p:sp>
      <p:sp>
        <p:nvSpPr>
          <p:cNvPr id="19" name="text-218"/>
          <p:cNvSpPr txBox="1"/>
          <p:nvPr/>
        </p:nvSpPr>
        <p:spPr>
          <a:xfrm>
            <a:off x="8641080" y="1920240"/>
            <a:ext cx="2834640" cy="2651760"/>
          </a:xfrm>
          <a:prstGeom prst="rect">
            <a:avLst/>
          </a:prstGeom>
          <a:noFill/>
          <a:ln/>
        </p:spPr>
        <p:txBody>
          <a:bodyPr wrap="square" lIns="0" tIns="0" rIns="0" bIns="0" rtlCol="0" anchor="t"/>
          <a:lstStyle/>
          <a:p>
            <a:pPr indent="0" marL="0">
              <a:buNone/>
            </a:pPr>
            <a:r>
              <a:rPr lang="en-US" sz="1600" b="1" dirty="0">
                <a:solidFill>
                  <a:schemeClr val="accent3"/>
                </a:solidFill>
              </a:rPr>
              <a:t>Decision matrix</a:t>
            </a:r>
            <a:endParaRPr lang="en-US" sz="1400" dirty="0"/>
          </a:p>
          <a:p>
            <a:pPr indent="0" marL="0">
              <a:buNone/>
            </a:pPr>
            <a:r>
              <a:rPr lang="en-US" sz="1400" dirty="0">
                <a:solidFill>
                  <a:schemeClr val="tx1"/>
                </a:solidFill>
              </a:rPr>
              <a:t>no claim · user-001 · admin</a:t>
            </a:r>
            <a:endParaRPr lang="en-US" sz="1400" dirty="0"/>
          </a:p>
          <a:p>
            <a:pPr indent="0" marL="0">
              <a:buNone/>
            </a:pPr>
            <a:r>
              <a:rPr lang="en-US" sz="1400" dirty="0">
                <a:solidFill>
                  <a:schemeClr val="tx1"/>
                </a:solidFill>
              </a:rPr>
              <a:t> </a:t>
            </a:r>
            <a:endParaRPr lang="en-US" sz="1400" dirty="0"/>
          </a:p>
          <a:p>
            <a:pPr indent="0" marL="0">
              <a:buNone/>
            </a:pPr>
            <a:r>
              <a:rPr lang="en-US" sz="1400" b="1" dirty="0">
                <a:solidFill>
                  <a:schemeClr val="tx1"/>
                </a:solidFill>
              </a:rPr>
              <a:t>Every row identical. </a:t>
            </a:r>
            <a:pPr indent="0" marL="0">
              <a:buNone/>
            </a:pPr>
            <a:r>
              <a:rPr lang="en-US" sz="1400" dirty="0">
                <a:solidFill>
                  <a:schemeClr val="tx1"/>
                </a:solidFill>
              </a:rPr>
              <a:t>An admin claim does not lift a restricted machine.</a:t>
            </a:r>
            <a:endParaRPr lang="en-US" sz="1400" dirty="0"/>
          </a:p>
        </p:txBody>
      </p:sp>
      <p:sp>
        <p:nvSpPr>
          <p:cNvPr id="20" name="text-219"/>
          <p:cNvSpPr txBox="1"/>
          <p:nvPr/>
        </p:nvSpPr>
        <p:spPr>
          <a:xfrm>
            <a:off x="548640" y="4983480"/>
            <a:ext cx="11064240" cy="640080"/>
          </a:xfrm>
          <a:prstGeom prst="rect">
            <a:avLst/>
          </a:prstGeom>
          <a:noFill/>
          <a:ln/>
        </p:spPr>
        <p:txBody>
          <a:bodyPr wrap="square" lIns="0" tIns="0" rIns="0" bIns="0" rtlCol="0" anchor="t"/>
          <a:lstStyle/>
          <a:p>
            <a:pPr indent="0" marL="0">
              <a:buNone/>
            </a:pPr>
            <a:r>
              <a:rPr lang="en-US" sz="1400" dirty="0">
                <a:solidFill>
                  <a:schemeClr val="tx2"/>
                </a:solidFill>
              </a:rPr>
              <a:t>Logged quoted and truncated to 64 characters, so a forged header can't inject log lines. A test proves the authorization code never reads it.</a:t>
            </a:r>
            <a:endParaRPr lang="en-US" sz="14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822960" y="1554480"/>
            <a:ext cx="10515600" cy="365760"/>
          </a:xfrm>
          <a:prstGeom prst="rect">
            <a:avLst/>
          </a:prstGeom>
          <a:noFill/>
          <a:ln/>
        </p:spPr>
        <p:txBody>
          <a:bodyPr wrap="square" lIns="0" tIns="0" rIns="0" bIns="0" rtlCol="0"/>
          <a:lstStyle/>
          <a:p>
            <a:pPr indent="0" marL="0">
              <a:buNone/>
            </a:pPr>
            <a:r>
              <a:rPr lang="en-US" sz="1400" b="1" dirty="0">
                <a:solidFill>
                  <a:schemeClr val="bg1"/>
                </a:solidFill>
                <a:latin typeface="Courier New" pitchFamily="34" charset="0"/>
                <a:ea typeface="Courier New" pitchFamily="34" charset="-122"/>
                <a:cs typeface="Courier New" pitchFamily="34" charset="-120"/>
              </a:rPr>
              <a:t>THE CORE LESSON OF 06.09B</a:t>
            </a:r>
            <a:endParaRPr lang="en-US" sz="1400" dirty="0"/>
          </a:p>
        </p:txBody>
      </p:sp>
      <p:sp>
        <p:nvSpPr>
          <p:cNvPr id="3" name="Text 0"/>
          <p:cNvSpPr/>
          <p:nvPr>
            <p:ph idx="101" type="title" hasCustomPrompt="1"/>
          </p:nvPr>
        </p:nvSpPr>
        <p:spPr>
          <a:xfrm>
            <a:off x="822960" y="2103120"/>
            <a:ext cx="10515600" cy="1737360"/>
          </a:xfrm>
          <a:prstGeom prst="rect">
            <a:avLst/>
          </a:prstGeom>
          <a:noFill/>
          <a:ln/>
        </p:spPr>
        <p:txBody>
          <a:bodyPr wrap="square" lIns="0" tIns="0" rIns="0" bIns="0" rtlCol="0" anchor="ctr"/>
          <a:lstStyle/>
          <a:p>
            <a:pPr algn="ctr" indent="0" marL="0">
              <a:buNone/>
            </a:pPr>
            <a:r>
              <a:rPr lang="en-US" sz="4000" b="1" dirty="0">
                <a:solidFill>
                  <a:schemeClr val="bg1"/>
                </a:solidFill>
              </a:rPr>
              <a:t>The authority never signs an identity the agent merely names</a:t>
            </a:r>
            <a:endParaRPr lang="en-US" sz="4000" dirty="0"/>
          </a:p>
        </p:txBody>
      </p:sp>
      <p:sp>
        <p:nvSpPr>
          <p:cNvPr id="4" name="Text 0"/>
          <p:cNvSpPr/>
          <p:nvPr>
            <p:ph idx="102" type="body" hasCustomPrompt="1"/>
          </p:nvPr>
        </p:nvSpPr>
        <p:spPr>
          <a:xfrm>
            <a:off x="822960" y="4114800"/>
            <a:ext cx="10515600" cy="1097280"/>
          </a:xfrm>
          <a:prstGeom prst="rect">
            <a:avLst/>
          </a:prstGeom>
          <a:noFill/>
          <a:ln/>
        </p:spPr>
        <p:txBody>
          <a:bodyPr wrap="square" lIns="0" tIns="0" rIns="0" bIns="0" rtlCol="0" anchor="t"/>
          <a:lstStyle/>
          <a:p>
            <a:pPr algn="ctr" indent="0" marL="0">
              <a:buNone/>
            </a:pPr>
            <a:r>
              <a:rPr lang="en-US" sz="2000" dirty="0">
                <a:solidFill>
                  <a:schemeClr val="bg1"/>
                </a:solidFill>
              </a:rPr>
              <a:t>The human comes only from a verified human token that was issued to this actor. Signing whatever the agent supplies would just launder a claim.</a:t>
            </a:r>
            <a:endParaRPr lang="en-US" sz="20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274320"/>
          </a:xfrm>
          <a:prstGeom prst="rect">
            <a:avLst/>
          </a:prstGeom>
          <a:noFill/>
          <a:ln/>
        </p:spPr>
        <p:txBody>
          <a:bodyPr wrap="square" lIns="0" tIns="0" rIns="0" bIns="0" rtlCol="0"/>
          <a:lstStyle/>
          <a:p>
            <a:pPr indent="0" marL="0">
              <a:buNone/>
            </a:pPr>
            <a:r>
              <a:rPr lang="en-US" sz="1200" b="1" dirty="0">
                <a:solidFill>
                  <a:schemeClr val="accent1"/>
                </a:solidFill>
                <a:latin typeface="Courier New" pitchFamily="34" charset="0"/>
                <a:ea typeface="Courier New" pitchFamily="34" charset="-122"/>
                <a:cs typeface="Courier New" pitchFamily="34" charset="-120"/>
              </a:rPr>
              <a:t>06.09B · THE DELEGATION AUTHORITY</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ctr" indent="0" marL="0">
              <a:buNone/>
            </a:pPr>
            <a:r>
              <a:rPr lang="en-US" sz="3200" b="1" dirty="0">
                <a:solidFill>
                  <a:schemeClr val="tx1"/>
                </a:solidFill>
              </a:rPr>
              <a:t>Four checks before anything is signed</a:t>
            </a:r>
            <a:endParaRPr lang="en-US" sz="3200" dirty="0"/>
          </a:p>
        </p:txBody>
      </p:sp>
      <p:sp>
        <p:nvSpPr>
          <p:cNvPr id="4" name="card-220"/>
          <p:cNvSpPr/>
          <p:nvPr/>
        </p:nvSpPr>
        <p:spPr>
          <a:xfrm>
            <a:off x="548640" y="1600200"/>
            <a:ext cx="2212848" cy="2606040"/>
          </a:xfrm>
          <a:prstGeom prst="roundRect">
            <a:avLst>
              <a:gd name="adj" fmla="val 4132"/>
            </a:avLst>
          </a:prstGeom>
          <a:solidFill>
            <a:schemeClr val="bg2"/>
          </a:solidFill>
          <a:ln w="12700">
            <a:solidFill>
              <a:schemeClr val="bg2"/>
            </a:solidFill>
            <a:prstDash val="solid"/>
          </a:ln>
        </p:spPr>
      </p:sp>
      <p:sp>
        <p:nvSpPr>
          <p:cNvPr id="5" name="badge-221"/>
          <p:cNvSpPr txBox="1"/>
          <p:nvPr/>
        </p:nvSpPr>
        <p:spPr>
          <a:xfrm>
            <a:off x="731520" y="1783080"/>
            <a:ext cx="457200" cy="45720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222"/>
          <p:cNvSpPr txBox="1"/>
          <p:nvPr/>
        </p:nvSpPr>
        <p:spPr>
          <a:xfrm>
            <a:off x="1298448" y="1828800"/>
            <a:ext cx="1344168" cy="365760"/>
          </a:xfrm>
          <a:prstGeom prst="rect">
            <a:avLst/>
          </a:prstGeom>
          <a:noFill/>
          <a:ln/>
        </p:spPr>
        <p:txBody>
          <a:bodyPr wrap="square" lIns="0" tIns="0" rIns="0" bIns="0" rtlCol="0" anchor="t"/>
          <a:lstStyle/>
          <a:p>
            <a:pPr indent="0" marL="0">
              <a:buNone/>
            </a:pPr>
            <a:r>
              <a:rPr lang="en-US" sz="1800" b="1" dirty="0">
                <a:solidFill>
                  <a:schemeClr val="accent2"/>
                </a:solidFill>
              </a:rPr>
              <a:t>Actor</a:t>
            </a:r>
            <a:endParaRPr lang="en-US" sz="1800" dirty="0"/>
          </a:p>
        </p:txBody>
      </p:sp>
      <p:sp>
        <p:nvSpPr>
          <p:cNvPr id="7" name="text-223"/>
          <p:cNvSpPr txBox="1"/>
          <p:nvPr/>
        </p:nvSpPr>
        <p:spPr>
          <a:xfrm>
            <a:off x="731520" y="2377440"/>
            <a:ext cx="1847088" cy="548640"/>
          </a:xfrm>
          <a:prstGeom prst="rect">
            <a:avLst/>
          </a:prstGeom>
          <a:noFill/>
          <a:ln/>
        </p:spPr>
        <p:txBody>
          <a:bodyPr wrap="square" lIns="0" tIns="0" rIns="0" bIns="0" rtlCol="0" anchor="t"/>
          <a:lstStyle/>
          <a:p>
            <a:pPr indent="0" marL="0">
              <a:buNone/>
            </a:pPr>
            <a:r>
              <a:rPr lang="en-US" sz="1400" b="1" dirty="0">
                <a:solidFill>
                  <a:schemeClr val="tx1"/>
                </a:solidFill>
              </a:rPr>
              <a:t>Who is asking?</a:t>
            </a:r>
            <a:endParaRPr lang="en-US" sz="1400" dirty="0"/>
          </a:p>
        </p:txBody>
      </p:sp>
      <p:sp>
        <p:nvSpPr>
          <p:cNvPr id="8" name="text-224"/>
          <p:cNvSpPr txBox="1"/>
          <p:nvPr/>
        </p:nvSpPr>
        <p:spPr>
          <a:xfrm>
            <a:off x="731520" y="2926080"/>
            <a:ext cx="1847088" cy="868680"/>
          </a:xfrm>
          <a:prstGeom prst="rect">
            <a:avLst/>
          </a:prstGeom>
          <a:noFill/>
          <a:ln/>
        </p:spPr>
        <p:txBody>
          <a:bodyPr wrap="square" lIns="0" tIns="0" rIns="0" bIns="0" rtlCol="0" anchor="t"/>
          <a:lstStyle/>
          <a:p>
            <a:pPr indent="0" marL="0">
              <a:buNone/>
            </a:pPr>
            <a:r>
              <a:rPr lang="en-US" sz="1200" dirty="0">
                <a:solidFill>
                  <a:schemeClr val="tx2"/>
                </a:solidFill>
              </a:rPr>
              <a:t>machine JWT verified · aud = authority · scope delegation.request</a:t>
            </a:r>
            <a:endParaRPr lang="en-US" sz="1200" dirty="0"/>
          </a:p>
        </p:txBody>
      </p:sp>
      <p:sp>
        <p:nvSpPr>
          <p:cNvPr id="9" name="pill-225"/>
          <p:cNvSpPr txBox="1"/>
          <p:nvPr/>
        </p:nvSpPr>
        <p:spPr>
          <a:xfrm>
            <a:off x="731520" y="3794760"/>
            <a:ext cx="868680" cy="274320"/>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401 / 403</a:t>
            </a:r>
            <a:endParaRPr lang="en-US" sz="1100" dirty="0"/>
          </a:p>
        </p:txBody>
      </p:sp>
      <p:sp>
        <p:nvSpPr>
          <p:cNvPr id="10" name="arrow-226"/>
          <p:cNvSpPr/>
          <p:nvPr/>
        </p:nvSpPr>
        <p:spPr>
          <a:xfrm>
            <a:off x="2761488" y="2880360"/>
            <a:ext cx="182880" cy="0"/>
          </a:xfrm>
          <a:prstGeom prst="line">
            <a:avLst/>
          </a:prstGeom>
          <a:noFill/>
          <a:ln w="25400">
            <a:solidFill>
              <a:schemeClr val="tx2"/>
            </a:solidFill>
            <a:prstDash val="solid"/>
            <a:tailEnd type="triangle"/>
          </a:ln>
        </p:spPr>
      </p:sp>
      <p:sp>
        <p:nvSpPr>
          <p:cNvPr id="11" name="card-227"/>
          <p:cNvSpPr/>
          <p:nvPr/>
        </p:nvSpPr>
        <p:spPr>
          <a:xfrm>
            <a:off x="2944368" y="1600200"/>
            <a:ext cx="2212848" cy="2606040"/>
          </a:xfrm>
          <a:prstGeom prst="roundRect">
            <a:avLst>
              <a:gd name="adj" fmla="val 4132"/>
            </a:avLst>
          </a:prstGeom>
          <a:solidFill>
            <a:schemeClr val="bg2"/>
          </a:solidFill>
          <a:ln w="12700">
            <a:solidFill>
              <a:schemeClr val="bg2"/>
            </a:solidFill>
            <a:prstDash val="solid"/>
          </a:ln>
        </p:spPr>
      </p:sp>
      <p:sp>
        <p:nvSpPr>
          <p:cNvPr id="12" name="badge-228"/>
          <p:cNvSpPr txBox="1"/>
          <p:nvPr/>
        </p:nvSpPr>
        <p:spPr>
          <a:xfrm>
            <a:off x="3127248" y="178308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229"/>
          <p:cNvSpPr txBox="1"/>
          <p:nvPr/>
        </p:nvSpPr>
        <p:spPr>
          <a:xfrm>
            <a:off x="3694176" y="1828800"/>
            <a:ext cx="1344168" cy="365760"/>
          </a:xfrm>
          <a:prstGeom prst="rect">
            <a:avLst/>
          </a:prstGeom>
          <a:noFill/>
          <a:ln/>
        </p:spPr>
        <p:txBody>
          <a:bodyPr wrap="square" lIns="0" tIns="0" rIns="0" bIns="0" rtlCol="0" anchor="t"/>
          <a:lstStyle/>
          <a:p>
            <a:pPr indent="0" marL="0">
              <a:buNone/>
            </a:pPr>
            <a:r>
              <a:rPr lang="en-US" sz="1800" b="1" dirty="0">
                <a:solidFill>
                  <a:schemeClr val="accent1"/>
                </a:solidFill>
              </a:rPr>
              <a:t>Subject</a:t>
            </a:r>
            <a:endParaRPr lang="en-US" sz="1800" dirty="0"/>
          </a:p>
        </p:txBody>
      </p:sp>
      <p:sp>
        <p:nvSpPr>
          <p:cNvPr id="14" name="text-230"/>
          <p:cNvSpPr txBox="1"/>
          <p:nvPr/>
        </p:nvSpPr>
        <p:spPr>
          <a:xfrm>
            <a:off x="3127248" y="2377440"/>
            <a:ext cx="1847088" cy="548640"/>
          </a:xfrm>
          <a:prstGeom prst="rect">
            <a:avLst/>
          </a:prstGeom>
          <a:noFill/>
          <a:ln/>
        </p:spPr>
        <p:txBody>
          <a:bodyPr wrap="square" lIns="0" tIns="0" rIns="0" bIns="0" rtlCol="0" anchor="t"/>
          <a:lstStyle/>
          <a:p>
            <a:pPr indent="0" marL="0">
              <a:buNone/>
            </a:pPr>
            <a:r>
              <a:rPr lang="en-US" sz="1400" b="1" dirty="0">
                <a:solidFill>
                  <a:schemeClr val="tx1"/>
                </a:solidFill>
              </a:rPr>
              <a:t>Who is it for?</a:t>
            </a:r>
            <a:endParaRPr lang="en-US" sz="1400" dirty="0"/>
          </a:p>
        </p:txBody>
      </p:sp>
      <p:sp>
        <p:nvSpPr>
          <p:cNvPr id="15" name="text-231"/>
          <p:cNvSpPr txBox="1"/>
          <p:nvPr/>
        </p:nvSpPr>
        <p:spPr>
          <a:xfrm>
            <a:off x="3127248" y="2926080"/>
            <a:ext cx="1847088" cy="868680"/>
          </a:xfrm>
          <a:prstGeom prst="rect">
            <a:avLst/>
          </a:prstGeom>
          <a:noFill/>
          <a:ln/>
        </p:spPr>
        <p:txBody>
          <a:bodyPr wrap="square" lIns="0" tIns="0" rIns="0" bIns="0" rtlCol="0" anchor="t"/>
          <a:lstStyle/>
          <a:p>
            <a:pPr indent="0" marL="0">
              <a:buNone/>
            </a:pPr>
            <a:r>
              <a:rPr lang="en-US" sz="1200" dirty="0">
                <a:solidFill>
                  <a:schemeClr val="tx2"/>
                </a:solidFill>
              </a:rPr>
              <a:t>Alice's JWT verified · its aud must equal the actor's sub</a:t>
            </a:r>
            <a:endParaRPr lang="en-US" sz="1200" dirty="0"/>
          </a:p>
        </p:txBody>
      </p:sp>
      <p:sp>
        <p:nvSpPr>
          <p:cNvPr id="16" name="pill-232"/>
          <p:cNvSpPr txBox="1"/>
          <p:nvPr/>
        </p:nvSpPr>
        <p:spPr>
          <a:xfrm>
            <a:off x="3127248" y="3794760"/>
            <a:ext cx="868680" cy="274320"/>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401</a:t>
            </a:r>
            <a:endParaRPr lang="en-US" sz="1100" dirty="0"/>
          </a:p>
        </p:txBody>
      </p:sp>
      <p:sp>
        <p:nvSpPr>
          <p:cNvPr id="17" name="arrow-233"/>
          <p:cNvSpPr/>
          <p:nvPr/>
        </p:nvSpPr>
        <p:spPr>
          <a:xfrm>
            <a:off x="5157216" y="2880360"/>
            <a:ext cx="182880" cy="0"/>
          </a:xfrm>
          <a:prstGeom prst="line">
            <a:avLst/>
          </a:prstGeom>
          <a:noFill/>
          <a:ln w="25400">
            <a:solidFill>
              <a:schemeClr val="tx2"/>
            </a:solidFill>
            <a:prstDash val="solid"/>
            <a:tailEnd type="triangle"/>
          </a:ln>
        </p:spPr>
      </p:sp>
      <p:sp>
        <p:nvSpPr>
          <p:cNvPr id="18" name="card-234"/>
          <p:cNvSpPr/>
          <p:nvPr/>
        </p:nvSpPr>
        <p:spPr>
          <a:xfrm>
            <a:off x="5340096" y="1600200"/>
            <a:ext cx="2212848" cy="2606040"/>
          </a:xfrm>
          <a:prstGeom prst="roundRect">
            <a:avLst>
              <a:gd name="adj" fmla="val 4132"/>
            </a:avLst>
          </a:prstGeom>
          <a:solidFill>
            <a:schemeClr val="bg2"/>
          </a:solidFill>
          <a:ln w="12700">
            <a:solidFill>
              <a:schemeClr val="bg2"/>
            </a:solidFill>
            <a:prstDash val="solid"/>
          </a:ln>
        </p:spPr>
      </p:sp>
      <p:sp>
        <p:nvSpPr>
          <p:cNvPr id="19" name="badge-235"/>
          <p:cNvSpPr txBox="1"/>
          <p:nvPr/>
        </p:nvSpPr>
        <p:spPr>
          <a:xfrm>
            <a:off x="5522976" y="1783080"/>
            <a:ext cx="457200" cy="45720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0" name="text-236"/>
          <p:cNvSpPr txBox="1"/>
          <p:nvPr/>
        </p:nvSpPr>
        <p:spPr>
          <a:xfrm>
            <a:off x="6089904" y="1828800"/>
            <a:ext cx="1344168" cy="365760"/>
          </a:xfrm>
          <a:prstGeom prst="rect">
            <a:avLst/>
          </a:prstGeom>
          <a:noFill/>
          <a:ln/>
        </p:spPr>
        <p:txBody>
          <a:bodyPr wrap="square" lIns="0" tIns="0" rIns="0" bIns="0" rtlCol="0" anchor="t"/>
          <a:lstStyle/>
          <a:p>
            <a:pPr indent="0" marL="0">
              <a:buNone/>
            </a:pPr>
            <a:r>
              <a:rPr lang="en-US" sz="1800" b="1" dirty="0">
                <a:solidFill>
                  <a:schemeClr val="accent3"/>
                </a:solidFill>
              </a:rPr>
              <a:t>Policy</a:t>
            </a:r>
            <a:endParaRPr lang="en-US" sz="1800" dirty="0"/>
          </a:p>
        </p:txBody>
      </p:sp>
      <p:sp>
        <p:nvSpPr>
          <p:cNvPr id="21" name="text-237"/>
          <p:cNvSpPr txBox="1"/>
          <p:nvPr/>
        </p:nvSpPr>
        <p:spPr>
          <a:xfrm>
            <a:off x="5522976" y="2377440"/>
            <a:ext cx="1847088" cy="548640"/>
          </a:xfrm>
          <a:prstGeom prst="rect">
            <a:avLst/>
          </a:prstGeom>
          <a:noFill/>
          <a:ln/>
        </p:spPr>
        <p:txBody>
          <a:bodyPr wrap="square" lIns="0" tIns="0" rIns="0" bIns="0" rtlCol="0" anchor="t"/>
          <a:lstStyle/>
          <a:p>
            <a:pPr indent="0" marL="0">
              <a:buNone/>
            </a:pPr>
            <a:r>
              <a:rPr lang="en-US" sz="1400" b="1" dirty="0">
                <a:solidFill>
                  <a:schemeClr val="tx1"/>
                </a:solidFill>
              </a:rPr>
              <a:t>May this actor act for this human?</a:t>
            </a:r>
            <a:endParaRPr lang="en-US" sz="1400" dirty="0"/>
          </a:p>
        </p:txBody>
      </p:sp>
      <p:sp>
        <p:nvSpPr>
          <p:cNvPr id="22" name="text-238"/>
          <p:cNvSpPr txBox="1"/>
          <p:nvPr/>
        </p:nvSpPr>
        <p:spPr>
          <a:xfrm>
            <a:off x="5522976" y="2926080"/>
            <a:ext cx="1847088" cy="868680"/>
          </a:xfrm>
          <a:prstGeom prst="rect">
            <a:avLst/>
          </a:prstGeom>
          <a:noFill/>
          <a:ln/>
        </p:spPr>
        <p:txBody>
          <a:bodyPr wrap="square" lIns="0" tIns="0" rIns="0" bIns="0" rtlCol="0" anchor="t"/>
          <a:lstStyle/>
          <a:p>
            <a:pPr indent="0" marL="0">
              <a:buNone/>
            </a:pPr>
            <a:r>
              <a:rPr lang="en-US" sz="1200" dirty="0">
                <a:solidFill>
                  <a:schemeClr val="tx2"/>
                </a:solidFill>
              </a:rPr>
              <a:t>may_act_for[inventory-agent] ∋ user-001</a:t>
            </a:r>
            <a:endParaRPr lang="en-US" sz="1200" dirty="0"/>
          </a:p>
        </p:txBody>
      </p:sp>
      <p:sp>
        <p:nvSpPr>
          <p:cNvPr id="23" name="pill-239"/>
          <p:cNvSpPr txBox="1"/>
          <p:nvPr/>
        </p:nvSpPr>
        <p:spPr>
          <a:xfrm>
            <a:off x="5522976" y="3794760"/>
            <a:ext cx="868680" cy="274320"/>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1100" b="1" dirty="0">
                <a:solidFill>
                  <a:schemeClr val="bg1"/>
                </a:solidFill>
              </a:rPr>
              <a:t>403</a:t>
            </a:r>
            <a:endParaRPr lang="en-US" sz="1100" dirty="0"/>
          </a:p>
        </p:txBody>
      </p:sp>
      <p:sp>
        <p:nvSpPr>
          <p:cNvPr id="24" name="arrow-240"/>
          <p:cNvSpPr/>
          <p:nvPr/>
        </p:nvSpPr>
        <p:spPr>
          <a:xfrm>
            <a:off x="7552944" y="2880360"/>
            <a:ext cx="182880" cy="0"/>
          </a:xfrm>
          <a:prstGeom prst="line">
            <a:avLst/>
          </a:prstGeom>
          <a:noFill/>
          <a:ln w="25400">
            <a:solidFill>
              <a:schemeClr val="tx2"/>
            </a:solidFill>
            <a:prstDash val="solid"/>
            <a:tailEnd type="triangle"/>
          </a:ln>
        </p:spPr>
      </p:sp>
      <p:sp>
        <p:nvSpPr>
          <p:cNvPr id="25" name="card-241"/>
          <p:cNvSpPr/>
          <p:nvPr/>
        </p:nvSpPr>
        <p:spPr>
          <a:xfrm>
            <a:off x="7735824" y="1600200"/>
            <a:ext cx="2212848" cy="2606040"/>
          </a:xfrm>
          <a:prstGeom prst="roundRect">
            <a:avLst>
              <a:gd name="adj" fmla="val 4132"/>
            </a:avLst>
          </a:prstGeom>
          <a:solidFill>
            <a:schemeClr val="bg2"/>
          </a:solidFill>
          <a:ln w="12700">
            <a:solidFill>
              <a:schemeClr val="bg2"/>
            </a:solidFill>
            <a:prstDash val="solid"/>
          </a:ln>
        </p:spPr>
      </p:sp>
      <p:sp>
        <p:nvSpPr>
          <p:cNvPr id="26" name="badge-242"/>
          <p:cNvSpPr txBox="1"/>
          <p:nvPr/>
        </p:nvSpPr>
        <p:spPr>
          <a:xfrm>
            <a:off x="7918704" y="1783080"/>
            <a:ext cx="457200" cy="457200"/>
          </a:xfrm>
          <a:prstGeom prst="ellipse">
            <a:avLst/>
          </a:prstGeom>
          <a:solidFill>
            <a:schemeClr val="tx1"/>
          </a:solidFill>
          <a:ln>
            <a:solidFill>
              <a:schemeClr val="tx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7" name="text-243"/>
          <p:cNvSpPr txBox="1"/>
          <p:nvPr/>
        </p:nvSpPr>
        <p:spPr>
          <a:xfrm>
            <a:off x="8485632" y="1828800"/>
            <a:ext cx="1344168" cy="365760"/>
          </a:xfrm>
          <a:prstGeom prst="rect">
            <a:avLst/>
          </a:prstGeom>
          <a:noFill/>
          <a:ln/>
        </p:spPr>
        <p:txBody>
          <a:bodyPr wrap="square" lIns="0" tIns="0" rIns="0" bIns="0" rtlCol="0" anchor="t"/>
          <a:lstStyle/>
          <a:p>
            <a:pPr indent="0" marL="0">
              <a:buNone/>
            </a:pPr>
            <a:r>
              <a:rPr lang="en-US" sz="1800" b="1" dirty="0">
                <a:solidFill>
                  <a:schemeClr val="tx1"/>
                </a:solidFill>
              </a:rPr>
              <a:t>Scope</a:t>
            </a:r>
            <a:endParaRPr lang="en-US" sz="1800" dirty="0"/>
          </a:p>
        </p:txBody>
      </p:sp>
      <p:sp>
        <p:nvSpPr>
          <p:cNvPr id="28" name="text-244"/>
          <p:cNvSpPr txBox="1"/>
          <p:nvPr/>
        </p:nvSpPr>
        <p:spPr>
          <a:xfrm>
            <a:off x="7918704" y="2377440"/>
            <a:ext cx="1847088" cy="548640"/>
          </a:xfrm>
          <a:prstGeom prst="rect">
            <a:avLst/>
          </a:prstGeom>
          <a:noFill/>
          <a:ln/>
        </p:spPr>
        <p:txBody>
          <a:bodyPr wrap="square" lIns="0" tIns="0" rIns="0" bIns="0" rtlCol="0" anchor="t"/>
          <a:lstStyle/>
          <a:p>
            <a:pPr indent="0" marL="0">
              <a:buNone/>
            </a:pPr>
            <a:r>
              <a:rPr lang="en-US" sz="1400" b="1" dirty="0">
                <a:solidFill>
                  <a:schemeClr val="tx1"/>
                </a:solidFill>
              </a:rPr>
              <a:t>For what, exactly?</a:t>
            </a:r>
            <a:endParaRPr lang="en-US" sz="1400" dirty="0"/>
          </a:p>
        </p:txBody>
      </p:sp>
      <p:sp>
        <p:nvSpPr>
          <p:cNvPr id="29" name="text-245"/>
          <p:cNvSpPr txBox="1"/>
          <p:nvPr/>
        </p:nvSpPr>
        <p:spPr>
          <a:xfrm>
            <a:off x="7918704" y="2926080"/>
            <a:ext cx="1847088" cy="868680"/>
          </a:xfrm>
          <a:prstGeom prst="rect">
            <a:avLst/>
          </a:prstGeom>
          <a:noFill/>
          <a:ln/>
        </p:spPr>
        <p:txBody>
          <a:bodyPr wrap="square" lIns="0" tIns="0" rIns="0" bIns="0" rtlCol="0" anchor="t"/>
          <a:lstStyle/>
          <a:p>
            <a:pPr indent="0" marL="0">
              <a:buNone/>
            </a:pPr>
            <a:r>
              <a:rPr lang="en-US" sz="1200" dirty="0">
                <a:solidFill>
                  <a:schemeClr val="tx2"/>
                </a:solidFill>
              </a:rPr>
              <a:t>requested ⊆ human perms ∩ actor perms</a:t>
            </a:r>
            <a:endParaRPr lang="en-US" sz="1200" dirty="0"/>
          </a:p>
        </p:txBody>
      </p:sp>
      <p:sp>
        <p:nvSpPr>
          <p:cNvPr id="30" name="pill-246"/>
          <p:cNvSpPr txBox="1"/>
          <p:nvPr/>
        </p:nvSpPr>
        <p:spPr>
          <a:xfrm>
            <a:off x="7918704" y="3794760"/>
            <a:ext cx="868680" cy="274320"/>
          </a:xfrm>
          <a:prstGeom prst="roundRect">
            <a:avLst>
              <a:gd name="adj" fmla="val 50000"/>
            </a:avLst>
          </a:prstGeom>
          <a:solidFill>
            <a:schemeClr val="tx1"/>
          </a:solidFill>
          <a:ln>
            <a:solidFill>
              <a:schemeClr val="tx1"/>
            </a:solidFill>
          </a:ln>
        </p:spPr>
        <p:txBody>
          <a:bodyPr wrap="square" lIns="0" tIns="0" rIns="0" bIns="0" rtlCol="0" anchor="ctr"/>
          <a:lstStyle/>
          <a:p>
            <a:pPr algn="ctr" indent="0" marL="0">
              <a:buNone/>
            </a:pPr>
            <a:r>
              <a:rPr lang="en-US" sz="1100" b="1" dirty="0">
                <a:solidFill>
                  <a:schemeClr val="bg1"/>
                </a:solidFill>
              </a:rPr>
              <a:t>403</a:t>
            </a:r>
            <a:endParaRPr lang="en-US" sz="1100" dirty="0"/>
          </a:p>
        </p:txBody>
      </p:sp>
      <p:sp>
        <p:nvSpPr>
          <p:cNvPr id="31" name="arrow-247"/>
          <p:cNvSpPr/>
          <p:nvPr/>
        </p:nvSpPr>
        <p:spPr>
          <a:xfrm>
            <a:off x="9948672" y="2880360"/>
            <a:ext cx="384048" cy="0"/>
          </a:xfrm>
          <a:prstGeom prst="line">
            <a:avLst/>
          </a:prstGeom>
          <a:noFill/>
          <a:ln w="31750">
            <a:solidFill>
              <a:schemeClr val="accent3"/>
            </a:solidFill>
            <a:prstDash val="solid"/>
            <a:tailEnd type="triangle"/>
          </a:ln>
        </p:spPr>
      </p:sp>
      <p:sp>
        <p:nvSpPr>
          <p:cNvPr id="32" name="card-248"/>
          <p:cNvSpPr/>
          <p:nvPr/>
        </p:nvSpPr>
        <p:spPr>
          <a:xfrm>
            <a:off x="10332720" y="2286000"/>
            <a:ext cx="1307592" cy="1188720"/>
          </a:xfrm>
          <a:prstGeom prst="roundRect">
            <a:avLst>
              <a:gd name="adj" fmla="val 7692"/>
            </a:avLst>
          </a:prstGeom>
          <a:solidFill>
            <a:schemeClr val="bg1"/>
          </a:solidFill>
          <a:ln w="22225">
            <a:solidFill>
              <a:schemeClr val="accent3"/>
            </a:solidFill>
            <a:prstDash val="solid"/>
          </a:ln>
          <a:effectLst>
            <a:outerShdw sx="100000" sy="100000" kx="0" ky="0" algn="bl" rotWithShape="0" blurRad="76200" dist="25400" dir="5400000">
              <a:srgbClr val="14213D">
                <a:alpha val="14000"/>
              </a:srgbClr>
            </a:outerShdw>
          </a:effectLst>
        </p:spPr>
      </p:sp>
      <p:sp>
        <p:nvSpPr>
          <p:cNvPr id="33" name="icon-bg-249"/>
          <p:cNvSpPr/>
          <p:nvPr/>
        </p:nvSpPr>
        <p:spPr>
          <a:xfrm>
            <a:off x="10469880" y="2423160"/>
            <a:ext cx="475488" cy="475488"/>
          </a:xfrm>
          <a:prstGeom prst="ellipse">
            <a:avLst/>
          </a:prstGeom>
          <a:solidFill>
            <a:schemeClr val="accent3"/>
          </a:solidFill>
          <a:ln w="12700">
            <a:solidFill>
              <a:schemeClr val="accent3"/>
            </a:solidFill>
            <a:prstDash val="solid"/>
          </a:ln>
        </p:spPr>
      </p:sp>
      <p:pic>
        <p:nvPicPr>
          <p:cNvPr id="34" name="icon-250" descr="preencoded.png">    </p:cNvPr>
          <p:cNvPicPr>
            <a:picLocks noChangeAspect="1"/>
          </p:cNvPicPr>
          <p:nvPr/>
        </p:nvPicPr>
        <p:blipFill>
          <a:blip r:embed="rId1"/>
          <a:stretch>
            <a:fillRect/>
          </a:stretch>
        </p:blipFill>
        <p:spPr>
          <a:xfrm>
            <a:off x="10583997" y="2537277"/>
            <a:ext cx="247254" cy="247254"/>
          </a:xfrm>
          <a:prstGeom prst="rect">
            <a:avLst/>
          </a:prstGeom>
        </p:spPr>
      </p:pic>
      <p:sp>
        <p:nvSpPr>
          <p:cNvPr id="35" name="text-251"/>
          <p:cNvSpPr txBox="1"/>
          <p:nvPr/>
        </p:nvSpPr>
        <p:spPr>
          <a:xfrm>
            <a:off x="11045952" y="2377440"/>
            <a:ext cx="502920" cy="566928"/>
          </a:xfrm>
          <a:prstGeom prst="rect">
            <a:avLst/>
          </a:prstGeom>
          <a:noFill/>
          <a:ln/>
        </p:spPr>
        <p:txBody>
          <a:bodyPr wrap="square" lIns="0" tIns="0" rIns="0" bIns="0" rtlCol="0" anchor="ctr"/>
          <a:lstStyle/>
          <a:p>
            <a:pPr indent="0" marL="0">
              <a:buNone/>
            </a:pPr>
            <a:r>
              <a:rPr lang="en-US" sz="1500" b="1" dirty="0">
                <a:solidFill>
                  <a:schemeClr val="tx1"/>
                </a:solidFill>
              </a:rPr>
              <a:t>Sign</a:t>
            </a:r>
            <a:endParaRPr lang="en-US" sz="1400" dirty="0"/>
          </a:p>
          <a:p>
            <a:pPr indent="0" marL="0">
              <a:buNone/>
            </a:pPr>
            <a:endParaRPr lang="en-US" sz="1400" dirty="0"/>
          </a:p>
        </p:txBody>
      </p:sp>
      <p:sp>
        <p:nvSpPr>
          <p:cNvPr id="36" name="card-252"/>
          <p:cNvSpPr/>
          <p:nvPr/>
        </p:nvSpPr>
        <p:spPr>
          <a:xfrm>
            <a:off x="548640" y="4434840"/>
            <a:ext cx="11091672" cy="1280160"/>
          </a:xfrm>
          <a:prstGeom prst="roundRect">
            <a:avLst>
              <a:gd name="adj" fmla="val 7143"/>
            </a:avLst>
          </a:prstGeom>
          <a:solidFill>
            <a:schemeClr val="tx1"/>
          </a:solidFill>
          <a:ln w="12700">
            <a:solidFill>
              <a:schemeClr val="tx1"/>
            </a:solidFill>
            <a:prstDash val="solid"/>
          </a:ln>
        </p:spPr>
      </p:sp>
      <p:sp>
        <p:nvSpPr>
          <p:cNvPr id="37" name="code-253"/>
          <p:cNvSpPr txBox="1"/>
          <p:nvPr/>
        </p:nvSpPr>
        <p:spPr>
          <a:xfrm>
            <a:off x="777240" y="4617720"/>
            <a:ext cx="10634472" cy="914400"/>
          </a:xfrm>
          <a:prstGeom prst="rect">
            <a:avLst/>
          </a:prstGeom>
          <a:noFill/>
          <a:ln/>
        </p:spPr>
        <p:txBody>
          <a:bodyPr wrap="square" lIns="0" tIns="0" rIns="0" bIns="0" rtlCol="0" anchor="t"/>
          <a:lstStyle/>
          <a:p>
            <a:pPr indent="0" marL="0">
              <a:buNone/>
            </a:pPr>
            <a:r>
              <a:rPr lang="en-US" sz="1300" dirty="0">
                <a:solidFill>
                  <a:srgbClr val="8FC1F0"/>
                </a:solidFill>
                <a:latin typeface="Courier New" pitchFamily="34" charset="0"/>
                <a:ea typeface="Courier New" pitchFamily="34" charset="-122"/>
                <a:cs typeface="Courier New" pitchFamily="34" charset="-120"/>
              </a:rPr>
              <a:t>POST /delegate   Authorization: Bearer &lt;actor machine JWT&gt;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"subject_token": "&lt;Alice's human JWT&gt;", "scope": "inventory.read.class_b" }</a:t>
            </a:r>
            <a:endParaRPr lang="en-US" sz="1300" dirty="0"/>
          </a:p>
          <a:p>
            <a:pPr indent="0" marL="0">
              <a:buNone/>
            </a:pPr>
            <a:r>
              <a:rPr lang="en-US" sz="1300" dirty="0">
                <a:solidFill>
                  <a:srgbClr val="9FD8BC"/>
                </a:solidFill>
                <a:latin typeface="Courier New" pitchFamily="34" charset="0"/>
                <a:ea typeface="Courier New" pitchFamily="34" charset="-122"/>
                <a:cs typeface="Courier New" pitchFamily="34" charset="-120"/>
              </a:rPr>
              <a:t>→ 200 { "delegation_token": "&lt;jwt&gt;", "expires_in": 300 }      Cache-Control: no-store</a:t>
            </a:r>
            <a:endParaRPr lang="en-US" sz="13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274320"/>
          </a:xfrm>
          <a:prstGeom prst="rect">
            <a:avLst/>
          </a:prstGeom>
          <a:noFill/>
          <a:ln/>
        </p:spPr>
        <p:txBody>
          <a:bodyPr wrap="square" lIns="0" tIns="0" rIns="0" bIns="0" rtlCol="0"/>
          <a:lstStyle/>
          <a:p>
            <a:pPr indent="0" marL="0">
              <a:buNone/>
            </a:pPr>
            <a:r>
              <a:rPr lang="en-US" sz="1200" b="1" dirty="0">
                <a:solidFill>
                  <a:schemeClr val="accent1"/>
                </a:solidFill>
                <a:latin typeface="Courier New" pitchFamily="34" charset="0"/>
                <a:ea typeface="Courier New" pitchFamily="34" charset="-122"/>
                <a:cs typeface="Courier New" pitchFamily="34" charset="-120"/>
              </a:rPr>
              <a:t>06.09B · THE DELEGATION JWT</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ctr" indent="0" marL="0">
              <a:buNone/>
            </a:pPr>
            <a:r>
              <a:rPr lang="en-US" sz="3200" b="1" dirty="0">
                <a:solidFill>
                  <a:schemeClr val="tx1"/>
                </a:solidFill>
              </a:rPr>
              <a:t>One credential binds human, actor, audience, scope and time</a:t>
            </a:r>
            <a:endParaRPr lang="en-US" sz="3200" dirty="0"/>
          </a:p>
        </p:txBody>
      </p:sp>
      <p:sp>
        <p:nvSpPr>
          <p:cNvPr id="4" name="text-254"/>
          <p:cNvSpPr txBox="1"/>
          <p:nvPr/>
        </p:nvSpPr>
        <p:spPr>
          <a:xfrm>
            <a:off x="548640" y="1508760"/>
            <a:ext cx="4206240" cy="274320"/>
          </a:xfrm>
          <a:prstGeom prst="rect">
            <a:avLst/>
          </a:prstGeom>
          <a:noFill/>
          <a:ln/>
        </p:spPr>
        <p:txBody>
          <a:bodyPr wrap="square" lIns="0" tIns="0" rIns="0" bIns="0" rtlCol="0" anchor="t"/>
          <a:lstStyle/>
          <a:p>
            <a:pPr indent="0" marL="0">
              <a:buNone/>
            </a:pPr>
            <a:r>
              <a:rPr lang="en-US" sz="1100" b="1" dirty="0">
                <a:solidFill>
                  <a:schemeClr val="tx2"/>
                </a:solidFill>
                <a:latin typeface="Courier New" pitchFamily="34" charset="0"/>
                <a:ea typeface="Courier New" pitchFamily="34" charset="-122"/>
                <a:cs typeface="Courier New" pitchFamily="34" charset="-120"/>
              </a:rPr>
              <a:t>WHAT THE BRIEF ASKED FOR</a:t>
            </a:r>
            <a:endParaRPr lang="en-US" sz="1100" dirty="0"/>
          </a:p>
        </p:txBody>
      </p:sp>
      <p:sp>
        <p:nvSpPr>
          <p:cNvPr id="5" name="text-255"/>
          <p:cNvSpPr txBox="1"/>
          <p:nvPr/>
        </p:nvSpPr>
        <p:spPr>
          <a:xfrm>
            <a:off x="5852160" y="1508760"/>
            <a:ext cx="5760720" cy="274320"/>
          </a:xfrm>
          <a:prstGeom prst="rect">
            <a:avLst/>
          </a:prstGeom>
          <a:noFill/>
          <a:ln/>
        </p:spPr>
        <p:txBody>
          <a:bodyPr wrap="square" lIns="0" tIns="0" rIns="0" bIns="0" rtlCol="0" anchor="t"/>
          <a:lstStyle/>
          <a:p>
            <a:pPr indent="0" marL="0">
              <a:buNone/>
            </a:pPr>
            <a:r>
              <a:rPr lang="en-US" sz="1100" b="1" dirty="0">
                <a:solidFill>
                  <a:schemeClr val="tx2"/>
                </a:solidFill>
                <a:latin typeface="Courier New" pitchFamily="34" charset="0"/>
                <a:ea typeface="Courier New" pitchFamily="34" charset="-122"/>
                <a:cs typeface="Courier New" pitchFamily="34" charset="-120"/>
              </a:rPr>
              <a:t>WHAT THE TOKEN CARRIES</a:t>
            </a:r>
            <a:endParaRPr lang="en-US" sz="1100" dirty="0"/>
          </a:p>
        </p:txBody>
      </p:sp>
      <p:sp>
        <p:nvSpPr>
          <p:cNvPr id="6" name="card-256"/>
          <p:cNvSpPr/>
          <p:nvPr/>
        </p:nvSpPr>
        <p:spPr>
          <a:xfrm>
            <a:off x="548640" y="1874520"/>
            <a:ext cx="4206240" cy="566928"/>
          </a:xfrm>
          <a:prstGeom prst="roundRect">
            <a:avLst>
              <a:gd name="adj" fmla="val 16129"/>
            </a:avLst>
          </a:prstGeom>
          <a:solidFill>
            <a:schemeClr val="bg2"/>
          </a:solidFill>
          <a:ln w="12700">
            <a:solidFill>
              <a:schemeClr val="bg2"/>
            </a:solidFill>
            <a:prstDash val="solid"/>
          </a:ln>
        </p:spPr>
      </p:sp>
      <p:sp>
        <p:nvSpPr>
          <p:cNvPr id="7" name="dot-257"/>
          <p:cNvSpPr/>
          <p:nvPr/>
        </p:nvSpPr>
        <p:spPr>
          <a:xfrm>
            <a:off x="713232" y="2057400"/>
            <a:ext cx="201168" cy="201168"/>
          </a:xfrm>
          <a:prstGeom prst="ellipse">
            <a:avLst/>
          </a:prstGeom>
          <a:solidFill>
            <a:schemeClr val="accent1"/>
          </a:solidFill>
          <a:ln w="12700">
            <a:solidFill>
              <a:schemeClr val="accent1"/>
            </a:solidFill>
            <a:prstDash val="solid"/>
          </a:ln>
        </p:spPr>
      </p:sp>
      <p:sp>
        <p:nvSpPr>
          <p:cNvPr id="8" name="text-258"/>
          <p:cNvSpPr txBox="1"/>
          <p:nvPr/>
        </p:nvSpPr>
        <p:spPr>
          <a:xfrm>
            <a:off x="1051560" y="1874520"/>
            <a:ext cx="3611880" cy="566928"/>
          </a:xfrm>
          <a:prstGeom prst="rect">
            <a:avLst/>
          </a:prstGeom>
          <a:noFill/>
          <a:ln/>
        </p:spPr>
        <p:txBody>
          <a:bodyPr wrap="square" lIns="0" tIns="0" rIns="0" bIns="0" rtlCol="0" anchor="ctr"/>
          <a:lstStyle/>
          <a:p>
            <a:pPr indent="0" marL="0">
              <a:buNone/>
            </a:pPr>
            <a:r>
              <a:rPr lang="en-US" sz="1500" b="1" dirty="0">
                <a:solidFill>
                  <a:schemeClr val="tx1"/>
                </a:solidFill>
              </a:rPr>
              <a:t>Human: </a:t>
            </a:r>
            <a:pPr indent="0" marL="0">
              <a:buNone/>
            </a:pPr>
            <a:r>
              <a:rPr lang="en-US" sz="1500" dirty="0">
                <a:solidFill>
                  <a:schemeClr val="tx2"/>
                </a:solidFill>
              </a:rPr>
              <a:t>user-001</a:t>
            </a:r>
            <a:endParaRPr lang="en-US" sz="1500" dirty="0"/>
          </a:p>
        </p:txBody>
      </p:sp>
      <p:sp>
        <p:nvSpPr>
          <p:cNvPr id="9" name="arrow-259"/>
          <p:cNvSpPr/>
          <p:nvPr/>
        </p:nvSpPr>
        <p:spPr>
          <a:xfrm>
            <a:off x="4800600" y="2157984"/>
            <a:ext cx="1005840" cy="0"/>
          </a:xfrm>
          <a:prstGeom prst="line">
            <a:avLst/>
          </a:prstGeom>
          <a:noFill/>
          <a:ln w="25400">
            <a:solidFill>
              <a:schemeClr val="accent1"/>
            </a:solidFill>
            <a:prstDash val="solid"/>
            <a:tailEnd type="triangle"/>
          </a:ln>
        </p:spPr>
      </p:sp>
      <p:sp>
        <p:nvSpPr>
          <p:cNvPr id="10" name="card-260"/>
          <p:cNvSpPr/>
          <p:nvPr/>
        </p:nvSpPr>
        <p:spPr>
          <a:xfrm>
            <a:off x="5852160" y="1874520"/>
            <a:ext cx="5788152" cy="566928"/>
          </a:xfrm>
          <a:prstGeom prst="roundRect">
            <a:avLst>
              <a:gd name="adj" fmla="val 16129"/>
            </a:avLst>
          </a:prstGeom>
          <a:solidFill>
            <a:schemeClr val="tx1"/>
          </a:solidFill>
          <a:ln w="12700">
            <a:solidFill>
              <a:schemeClr val="tx1"/>
            </a:solidFill>
            <a:prstDash val="solid"/>
          </a:ln>
        </p:spPr>
      </p:sp>
      <p:sp>
        <p:nvSpPr>
          <p:cNvPr id="11" name="text-261"/>
          <p:cNvSpPr txBox="1"/>
          <p:nvPr/>
        </p:nvSpPr>
        <p:spPr>
          <a:xfrm>
            <a:off x="6080760" y="1874520"/>
            <a:ext cx="5394960" cy="566928"/>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"sub": "user-001"</a:t>
            </a:r>
            <a:endParaRPr lang="en-US" sz="1400" dirty="0"/>
          </a:p>
        </p:txBody>
      </p:sp>
      <p:sp>
        <p:nvSpPr>
          <p:cNvPr id="12" name="card-262"/>
          <p:cNvSpPr/>
          <p:nvPr/>
        </p:nvSpPr>
        <p:spPr>
          <a:xfrm>
            <a:off x="548640" y="2587752"/>
            <a:ext cx="4206240" cy="566928"/>
          </a:xfrm>
          <a:prstGeom prst="roundRect">
            <a:avLst>
              <a:gd name="adj" fmla="val 16129"/>
            </a:avLst>
          </a:prstGeom>
          <a:solidFill>
            <a:schemeClr val="bg2"/>
          </a:solidFill>
          <a:ln w="12700">
            <a:solidFill>
              <a:schemeClr val="bg2"/>
            </a:solidFill>
            <a:prstDash val="solid"/>
          </a:ln>
        </p:spPr>
      </p:sp>
      <p:sp>
        <p:nvSpPr>
          <p:cNvPr id="13" name="dot-263"/>
          <p:cNvSpPr/>
          <p:nvPr/>
        </p:nvSpPr>
        <p:spPr>
          <a:xfrm>
            <a:off x="713232" y="2770632"/>
            <a:ext cx="201168" cy="201168"/>
          </a:xfrm>
          <a:prstGeom prst="ellipse">
            <a:avLst/>
          </a:prstGeom>
          <a:solidFill>
            <a:schemeClr val="accent2"/>
          </a:solidFill>
          <a:ln w="12700">
            <a:solidFill>
              <a:schemeClr val="accent2"/>
            </a:solidFill>
            <a:prstDash val="solid"/>
          </a:ln>
        </p:spPr>
      </p:sp>
      <p:sp>
        <p:nvSpPr>
          <p:cNvPr id="14" name="text-264"/>
          <p:cNvSpPr txBox="1"/>
          <p:nvPr/>
        </p:nvSpPr>
        <p:spPr>
          <a:xfrm>
            <a:off x="1051560" y="2587752"/>
            <a:ext cx="3611880" cy="566928"/>
          </a:xfrm>
          <a:prstGeom prst="rect">
            <a:avLst/>
          </a:prstGeom>
          <a:noFill/>
          <a:ln/>
        </p:spPr>
        <p:txBody>
          <a:bodyPr wrap="square" lIns="0" tIns="0" rIns="0" bIns="0" rtlCol="0" anchor="ctr"/>
          <a:lstStyle/>
          <a:p>
            <a:pPr indent="0" marL="0">
              <a:buNone/>
            </a:pPr>
            <a:r>
              <a:rPr lang="en-US" sz="1500" b="1" dirty="0">
                <a:solidFill>
                  <a:schemeClr val="tx1"/>
                </a:solidFill>
              </a:rPr>
              <a:t>Authorized actor: </a:t>
            </a:r>
            <a:pPr indent="0" marL="0">
              <a:buNone/>
            </a:pPr>
            <a:r>
              <a:rPr lang="en-US" sz="1500" dirty="0">
                <a:solidFill>
                  <a:schemeClr val="tx2"/>
                </a:solidFill>
              </a:rPr>
              <a:t>inventory-agent</a:t>
            </a:r>
            <a:endParaRPr lang="en-US" sz="1500" dirty="0"/>
          </a:p>
        </p:txBody>
      </p:sp>
      <p:sp>
        <p:nvSpPr>
          <p:cNvPr id="15" name="arrow-265"/>
          <p:cNvSpPr/>
          <p:nvPr/>
        </p:nvSpPr>
        <p:spPr>
          <a:xfrm>
            <a:off x="4800600" y="2871216"/>
            <a:ext cx="1005840" cy="0"/>
          </a:xfrm>
          <a:prstGeom prst="line">
            <a:avLst/>
          </a:prstGeom>
          <a:noFill/>
          <a:ln w="25400">
            <a:solidFill>
              <a:schemeClr val="accent2"/>
            </a:solidFill>
            <a:prstDash val="solid"/>
            <a:tailEnd type="triangle"/>
          </a:ln>
        </p:spPr>
      </p:sp>
      <p:sp>
        <p:nvSpPr>
          <p:cNvPr id="16" name="card-266"/>
          <p:cNvSpPr/>
          <p:nvPr/>
        </p:nvSpPr>
        <p:spPr>
          <a:xfrm>
            <a:off x="5852160" y="2587752"/>
            <a:ext cx="5788152" cy="566928"/>
          </a:xfrm>
          <a:prstGeom prst="roundRect">
            <a:avLst>
              <a:gd name="adj" fmla="val 16129"/>
            </a:avLst>
          </a:prstGeom>
          <a:solidFill>
            <a:schemeClr val="tx1"/>
          </a:solidFill>
          <a:ln w="12700">
            <a:solidFill>
              <a:schemeClr val="tx1"/>
            </a:solidFill>
            <a:prstDash val="solid"/>
          </a:ln>
        </p:spPr>
      </p:sp>
      <p:sp>
        <p:nvSpPr>
          <p:cNvPr id="17" name="text-267"/>
          <p:cNvSpPr txBox="1"/>
          <p:nvPr/>
        </p:nvSpPr>
        <p:spPr>
          <a:xfrm>
            <a:off x="6080760" y="2587752"/>
            <a:ext cx="5394960" cy="566928"/>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"act": { "sub": "inventory-agent" }</a:t>
            </a:r>
            <a:endParaRPr lang="en-US" sz="1400" dirty="0"/>
          </a:p>
        </p:txBody>
      </p:sp>
      <p:sp>
        <p:nvSpPr>
          <p:cNvPr id="18" name="card-268"/>
          <p:cNvSpPr/>
          <p:nvPr/>
        </p:nvSpPr>
        <p:spPr>
          <a:xfrm>
            <a:off x="548640" y="3300984"/>
            <a:ext cx="4206240" cy="566928"/>
          </a:xfrm>
          <a:prstGeom prst="roundRect">
            <a:avLst>
              <a:gd name="adj" fmla="val 16129"/>
            </a:avLst>
          </a:prstGeom>
          <a:solidFill>
            <a:schemeClr val="bg2"/>
          </a:solidFill>
          <a:ln w="12700">
            <a:solidFill>
              <a:schemeClr val="bg2"/>
            </a:solidFill>
            <a:prstDash val="solid"/>
          </a:ln>
        </p:spPr>
      </p:sp>
      <p:sp>
        <p:nvSpPr>
          <p:cNvPr id="19" name="dot-269"/>
          <p:cNvSpPr/>
          <p:nvPr/>
        </p:nvSpPr>
        <p:spPr>
          <a:xfrm>
            <a:off x="713232" y="3483864"/>
            <a:ext cx="201168" cy="201168"/>
          </a:xfrm>
          <a:prstGeom prst="ellipse">
            <a:avLst/>
          </a:prstGeom>
          <a:solidFill>
            <a:schemeClr val="tx1"/>
          </a:solidFill>
          <a:ln w="12700">
            <a:solidFill>
              <a:schemeClr val="tx1"/>
            </a:solidFill>
            <a:prstDash val="solid"/>
          </a:ln>
        </p:spPr>
      </p:sp>
      <p:sp>
        <p:nvSpPr>
          <p:cNvPr id="20" name="text-270"/>
          <p:cNvSpPr txBox="1"/>
          <p:nvPr/>
        </p:nvSpPr>
        <p:spPr>
          <a:xfrm>
            <a:off x="1051560" y="3300984"/>
            <a:ext cx="3611880" cy="566928"/>
          </a:xfrm>
          <a:prstGeom prst="rect">
            <a:avLst/>
          </a:prstGeom>
          <a:noFill/>
          <a:ln/>
        </p:spPr>
        <p:txBody>
          <a:bodyPr wrap="square" lIns="0" tIns="0" rIns="0" bIns="0" rtlCol="0" anchor="ctr"/>
          <a:lstStyle/>
          <a:p>
            <a:pPr indent="0" marL="0">
              <a:buNone/>
            </a:pPr>
            <a:r>
              <a:rPr lang="en-US" sz="1500" b="1" dirty="0">
                <a:solidFill>
                  <a:schemeClr val="tx1"/>
                </a:solidFill>
              </a:rPr>
              <a:t>Audience: </a:t>
            </a:r>
            <a:pPr indent="0" marL="0">
              <a:buNone/>
            </a:pPr>
            <a:r>
              <a:rPr lang="en-US" sz="1500" dirty="0">
                <a:solidFill>
                  <a:schemeClr val="tx2"/>
                </a:solidFill>
              </a:rPr>
              <a:t>inventory-service</a:t>
            </a:r>
            <a:endParaRPr lang="en-US" sz="1500" dirty="0"/>
          </a:p>
        </p:txBody>
      </p:sp>
      <p:sp>
        <p:nvSpPr>
          <p:cNvPr id="21" name="arrow-271"/>
          <p:cNvSpPr/>
          <p:nvPr/>
        </p:nvSpPr>
        <p:spPr>
          <a:xfrm>
            <a:off x="4800600" y="3584448"/>
            <a:ext cx="1005840" cy="0"/>
          </a:xfrm>
          <a:prstGeom prst="line">
            <a:avLst/>
          </a:prstGeom>
          <a:noFill/>
          <a:ln w="25400">
            <a:solidFill>
              <a:schemeClr val="tx1"/>
            </a:solidFill>
            <a:prstDash val="solid"/>
            <a:tailEnd type="triangle"/>
          </a:ln>
        </p:spPr>
      </p:sp>
      <p:sp>
        <p:nvSpPr>
          <p:cNvPr id="22" name="card-272"/>
          <p:cNvSpPr/>
          <p:nvPr/>
        </p:nvSpPr>
        <p:spPr>
          <a:xfrm>
            <a:off x="5852160" y="3300984"/>
            <a:ext cx="5788152" cy="566928"/>
          </a:xfrm>
          <a:prstGeom prst="roundRect">
            <a:avLst>
              <a:gd name="adj" fmla="val 16129"/>
            </a:avLst>
          </a:prstGeom>
          <a:solidFill>
            <a:schemeClr val="tx1"/>
          </a:solidFill>
          <a:ln w="12700">
            <a:solidFill>
              <a:schemeClr val="tx1"/>
            </a:solidFill>
            <a:prstDash val="solid"/>
          </a:ln>
        </p:spPr>
      </p:sp>
      <p:sp>
        <p:nvSpPr>
          <p:cNvPr id="23" name="text-273"/>
          <p:cNvSpPr txBox="1"/>
          <p:nvPr/>
        </p:nvSpPr>
        <p:spPr>
          <a:xfrm>
            <a:off x="6080760" y="3300984"/>
            <a:ext cx="5394960" cy="566928"/>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"aud": "inventory-service"</a:t>
            </a:r>
            <a:endParaRPr lang="en-US" sz="1400" dirty="0"/>
          </a:p>
        </p:txBody>
      </p:sp>
      <p:sp>
        <p:nvSpPr>
          <p:cNvPr id="24" name="card-274"/>
          <p:cNvSpPr/>
          <p:nvPr/>
        </p:nvSpPr>
        <p:spPr>
          <a:xfrm>
            <a:off x="548640" y="4014216"/>
            <a:ext cx="4206240" cy="566928"/>
          </a:xfrm>
          <a:prstGeom prst="roundRect">
            <a:avLst>
              <a:gd name="adj" fmla="val 16129"/>
            </a:avLst>
          </a:prstGeom>
          <a:solidFill>
            <a:schemeClr val="bg2"/>
          </a:solidFill>
          <a:ln w="12700">
            <a:solidFill>
              <a:schemeClr val="bg2"/>
            </a:solidFill>
            <a:prstDash val="solid"/>
          </a:ln>
        </p:spPr>
      </p:sp>
      <p:sp>
        <p:nvSpPr>
          <p:cNvPr id="25" name="dot-275"/>
          <p:cNvSpPr/>
          <p:nvPr/>
        </p:nvSpPr>
        <p:spPr>
          <a:xfrm>
            <a:off x="713232" y="4197096"/>
            <a:ext cx="201168" cy="201168"/>
          </a:xfrm>
          <a:prstGeom prst="ellipse">
            <a:avLst/>
          </a:prstGeom>
          <a:solidFill>
            <a:schemeClr val="accent3"/>
          </a:solidFill>
          <a:ln w="12700">
            <a:solidFill>
              <a:schemeClr val="accent3"/>
            </a:solidFill>
            <a:prstDash val="solid"/>
          </a:ln>
        </p:spPr>
      </p:sp>
      <p:sp>
        <p:nvSpPr>
          <p:cNvPr id="26" name="text-276"/>
          <p:cNvSpPr txBox="1"/>
          <p:nvPr/>
        </p:nvSpPr>
        <p:spPr>
          <a:xfrm>
            <a:off x="1051560" y="4014216"/>
            <a:ext cx="3611880" cy="566928"/>
          </a:xfrm>
          <a:prstGeom prst="rect">
            <a:avLst/>
          </a:prstGeom>
          <a:noFill/>
          <a:ln/>
        </p:spPr>
        <p:txBody>
          <a:bodyPr wrap="square" lIns="0" tIns="0" rIns="0" bIns="0" rtlCol="0" anchor="ctr"/>
          <a:lstStyle/>
          <a:p>
            <a:pPr indent="0" marL="0">
              <a:buNone/>
            </a:pPr>
            <a:r>
              <a:rPr lang="en-US" sz="1500" b="1" dirty="0">
                <a:solidFill>
                  <a:schemeClr val="tx1"/>
                </a:solidFill>
              </a:rPr>
              <a:t>Permitted operation: </a:t>
            </a:r>
            <a:pPr indent="0" marL="0">
              <a:buNone/>
            </a:pPr>
            <a:r>
              <a:rPr lang="en-US" sz="1500" dirty="0">
                <a:solidFill>
                  <a:schemeClr val="tx2"/>
                </a:solidFill>
              </a:rPr>
              <a:t>inventory.read</a:t>
            </a:r>
            <a:endParaRPr lang="en-US" sz="1500" dirty="0"/>
          </a:p>
        </p:txBody>
      </p:sp>
      <p:sp>
        <p:nvSpPr>
          <p:cNvPr id="27" name="arrow-277"/>
          <p:cNvSpPr/>
          <p:nvPr/>
        </p:nvSpPr>
        <p:spPr>
          <a:xfrm>
            <a:off x="4800600" y="4297680"/>
            <a:ext cx="1005840" cy="0"/>
          </a:xfrm>
          <a:prstGeom prst="line">
            <a:avLst/>
          </a:prstGeom>
          <a:noFill/>
          <a:ln w="25400">
            <a:solidFill>
              <a:schemeClr val="accent3"/>
            </a:solidFill>
            <a:prstDash val="solid"/>
            <a:tailEnd type="triangle"/>
          </a:ln>
        </p:spPr>
      </p:sp>
      <p:sp>
        <p:nvSpPr>
          <p:cNvPr id="28" name="card-278"/>
          <p:cNvSpPr/>
          <p:nvPr/>
        </p:nvSpPr>
        <p:spPr>
          <a:xfrm>
            <a:off x="5852160" y="4014216"/>
            <a:ext cx="5788152" cy="566928"/>
          </a:xfrm>
          <a:prstGeom prst="roundRect">
            <a:avLst>
              <a:gd name="adj" fmla="val 16129"/>
            </a:avLst>
          </a:prstGeom>
          <a:solidFill>
            <a:schemeClr val="tx1"/>
          </a:solidFill>
          <a:ln w="12700">
            <a:solidFill>
              <a:schemeClr val="tx1"/>
            </a:solidFill>
            <a:prstDash val="solid"/>
          </a:ln>
        </p:spPr>
      </p:sp>
      <p:sp>
        <p:nvSpPr>
          <p:cNvPr id="29" name="text-279"/>
          <p:cNvSpPr txBox="1"/>
          <p:nvPr/>
        </p:nvSpPr>
        <p:spPr>
          <a:xfrm>
            <a:off x="6080760" y="4014216"/>
            <a:ext cx="5394960" cy="566928"/>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"scope": "inventory.read.class_b"</a:t>
            </a:r>
            <a:endParaRPr lang="en-US" sz="1400" dirty="0"/>
          </a:p>
        </p:txBody>
      </p:sp>
      <p:sp>
        <p:nvSpPr>
          <p:cNvPr id="30" name="card-280"/>
          <p:cNvSpPr/>
          <p:nvPr/>
        </p:nvSpPr>
        <p:spPr>
          <a:xfrm>
            <a:off x="548640" y="4727448"/>
            <a:ext cx="4206240" cy="566928"/>
          </a:xfrm>
          <a:prstGeom prst="roundRect">
            <a:avLst>
              <a:gd name="adj" fmla="val 16129"/>
            </a:avLst>
          </a:prstGeom>
          <a:solidFill>
            <a:schemeClr val="bg2"/>
          </a:solidFill>
          <a:ln w="12700">
            <a:solidFill>
              <a:schemeClr val="bg2"/>
            </a:solidFill>
            <a:prstDash val="solid"/>
          </a:ln>
        </p:spPr>
      </p:sp>
      <p:sp>
        <p:nvSpPr>
          <p:cNvPr id="31" name="dot-281"/>
          <p:cNvSpPr/>
          <p:nvPr/>
        </p:nvSpPr>
        <p:spPr>
          <a:xfrm>
            <a:off x="713232" y="4910328"/>
            <a:ext cx="201168" cy="201168"/>
          </a:xfrm>
          <a:prstGeom prst="ellipse">
            <a:avLst/>
          </a:prstGeom>
          <a:solidFill>
            <a:schemeClr val="accent6"/>
          </a:solidFill>
          <a:ln w="12700">
            <a:solidFill>
              <a:schemeClr val="accent6"/>
            </a:solidFill>
            <a:prstDash val="solid"/>
          </a:ln>
        </p:spPr>
      </p:sp>
      <p:sp>
        <p:nvSpPr>
          <p:cNvPr id="32" name="text-282"/>
          <p:cNvSpPr txBox="1"/>
          <p:nvPr/>
        </p:nvSpPr>
        <p:spPr>
          <a:xfrm>
            <a:off x="1051560" y="4727448"/>
            <a:ext cx="3611880" cy="566928"/>
          </a:xfrm>
          <a:prstGeom prst="rect">
            <a:avLst/>
          </a:prstGeom>
          <a:noFill/>
          <a:ln/>
        </p:spPr>
        <p:txBody>
          <a:bodyPr wrap="square" lIns="0" tIns="0" rIns="0" bIns="0" rtlCol="0" anchor="ctr"/>
          <a:lstStyle/>
          <a:p>
            <a:pPr indent="0" marL="0">
              <a:buNone/>
            </a:pPr>
            <a:r>
              <a:rPr lang="en-US" sz="1500" b="1" dirty="0">
                <a:solidFill>
                  <a:schemeClr val="tx1"/>
                </a:solidFill>
              </a:rPr>
              <a:t>Expiration: </a:t>
            </a:r>
            <a:pPr indent="0" marL="0">
              <a:buNone/>
            </a:pPr>
            <a:r>
              <a:rPr lang="en-US" sz="1500" dirty="0">
                <a:solidFill>
                  <a:schemeClr val="tx2"/>
                </a:solidFill>
              </a:rPr>
              <a:t>short-lived</a:t>
            </a:r>
            <a:endParaRPr lang="en-US" sz="1500" dirty="0"/>
          </a:p>
        </p:txBody>
      </p:sp>
      <p:sp>
        <p:nvSpPr>
          <p:cNvPr id="33" name="arrow-283"/>
          <p:cNvSpPr/>
          <p:nvPr/>
        </p:nvSpPr>
        <p:spPr>
          <a:xfrm>
            <a:off x="4800600" y="5010912"/>
            <a:ext cx="1005840" cy="0"/>
          </a:xfrm>
          <a:prstGeom prst="line">
            <a:avLst/>
          </a:prstGeom>
          <a:noFill/>
          <a:ln w="25400">
            <a:solidFill>
              <a:schemeClr val="accent6"/>
            </a:solidFill>
            <a:prstDash val="solid"/>
            <a:tailEnd type="triangle"/>
          </a:ln>
        </p:spPr>
      </p:sp>
      <p:sp>
        <p:nvSpPr>
          <p:cNvPr id="34" name="card-284"/>
          <p:cNvSpPr/>
          <p:nvPr/>
        </p:nvSpPr>
        <p:spPr>
          <a:xfrm>
            <a:off x="5852160" y="4727448"/>
            <a:ext cx="5788152" cy="566928"/>
          </a:xfrm>
          <a:prstGeom prst="roundRect">
            <a:avLst>
              <a:gd name="adj" fmla="val 16129"/>
            </a:avLst>
          </a:prstGeom>
          <a:solidFill>
            <a:schemeClr val="tx1"/>
          </a:solidFill>
          <a:ln w="12700">
            <a:solidFill>
              <a:schemeClr val="tx1"/>
            </a:solidFill>
            <a:prstDash val="solid"/>
          </a:ln>
        </p:spPr>
      </p:sp>
      <p:sp>
        <p:nvSpPr>
          <p:cNvPr id="35" name="text-285"/>
          <p:cNvSpPr txBox="1"/>
          <p:nvPr/>
        </p:nvSpPr>
        <p:spPr>
          <a:xfrm>
            <a:off x="6080760" y="4727448"/>
            <a:ext cx="5394960" cy="566928"/>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"exp": min(now + 300 s, human exp)</a:t>
            </a:r>
            <a:endParaRPr lang="en-US" sz="1400" dirty="0"/>
          </a:p>
        </p:txBody>
      </p:sp>
      <p:sp>
        <p:nvSpPr>
          <p:cNvPr id="36" name="text-286"/>
          <p:cNvSpPr txBox="1"/>
          <p:nvPr/>
        </p:nvSpPr>
        <p:spPr>
          <a:xfrm>
            <a:off x="548640" y="5486400"/>
            <a:ext cx="11064240" cy="685800"/>
          </a:xfrm>
          <a:prstGeom prst="rect">
            <a:avLst/>
          </a:prstGeom>
          <a:noFill/>
          <a:ln/>
        </p:spPr>
        <p:txBody>
          <a:bodyPr wrap="square" lIns="0" tIns="0" rIns="0" bIns="0" rtlCol="0" anchor="t"/>
          <a:lstStyle/>
          <a:p>
            <a:pPr indent="0" marL="0">
              <a:buNone/>
            </a:pPr>
            <a:r>
              <a:rPr lang="en-US" sz="1300" dirty="0">
                <a:solidFill>
                  <a:schemeClr val="tx2"/>
                </a:solidFill>
              </a:rPr>
              <a:t>Signed by the authority's own key </a:t>
            </a:r>
            <a:pPr indent="0" marL="0">
              <a:buNone/>
            </a:pPr>
            <a:r>
              <a:rPr lang="en-US" sz="1300" b="1" dirty="0">
                <a:solidFill>
                  <a:schemeClr val="tx2"/>
                </a:solidFill>
                <a:latin typeface="Courier New" pitchFamily="34" charset="0"/>
                <a:ea typeface="Courier New" pitchFamily="34" charset="-122"/>
                <a:cs typeface="Courier New" pitchFamily="34" charset="-120"/>
              </a:rPr>
              <a:t>delegation-key-1</a:t>
            </a:r>
            <a:pPr indent="0" marL="0">
              <a:buNone/>
            </a:pPr>
            <a:r>
              <a:rPr lang="en-US" sz="1300" dirty="0">
                <a:solidFill>
                  <a:schemeClr val="tx2"/>
                </a:solidFill>
              </a:rPr>
              <a:t>, iss a2a-delegation-authority. The service trusts that key for delegation only. The brief's inventory.read becomes the class-specific inventory.read.class_b.</a:t>
            </a:r>
            <a:endParaRPr lang="en-US" sz="13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274320"/>
          </a:xfrm>
          <a:prstGeom prst="rect">
            <a:avLst/>
          </a:prstGeom>
          <a:noFill/>
          <a:ln/>
        </p:spPr>
        <p:txBody>
          <a:bodyPr wrap="square" lIns="0" tIns="0" rIns="0" bIns="0" rtlCol="0"/>
          <a:lstStyle/>
          <a:p>
            <a:pPr indent="0" marL="0">
              <a:buNone/>
            </a:pPr>
            <a:r>
              <a:rPr lang="en-US" sz="1200" b="1" dirty="0">
                <a:solidFill>
                  <a:schemeClr val="accent1"/>
                </a:solidFill>
                <a:latin typeface="Courier New" pitchFamily="34" charset="0"/>
                <a:ea typeface="Courier New" pitchFamily="34" charset="-122"/>
                <a:cs typeface="Courier New" pitchFamily="34" charset="-120"/>
              </a:rPr>
              <a:t>THE DECISION RULE</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ctr" indent="0" marL="0">
              <a:buNone/>
            </a:pPr>
            <a:r>
              <a:rPr lang="en-US" sz="3200" b="1" dirty="0">
                <a:solidFill>
                  <a:schemeClr val="tx1"/>
                </a:solidFill>
              </a:rPr>
              <a:t>Five facts, all required</a:t>
            </a:r>
            <a:endParaRPr lang="en-US" sz="3200" dirty="0"/>
          </a:p>
        </p:txBody>
      </p:sp>
      <p:sp>
        <p:nvSpPr>
          <p:cNvPr id="4" name="card-287"/>
          <p:cNvSpPr/>
          <p:nvPr/>
        </p:nvSpPr>
        <p:spPr>
          <a:xfrm>
            <a:off x="1527048" y="1508760"/>
            <a:ext cx="9144000" cy="1051560"/>
          </a:xfrm>
          <a:prstGeom prst="roundRect">
            <a:avLst>
              <a:gd name="adj" fmla="val 8696"/>
            </a:avLst>
          </a:prstGeom>
          <a:solidFill>
            <a:schemeClr val="bg1"/>
          </a:solidFill>
          <a:ln w="31750">
            <a:solidFill>
              <a:schemeClr val="tx1"/>
            </a:solidFill>
            <a:prstDash val="solid"/>
          </a:ln>
        </p:spPr>
      </p:sp>
      <p:sp>
        <p:nvSpPr>
          <p:cNvPr id="5" name="text-288"/>
          <p:cNvSpPr txBox="1"/>
          <p:nvPr/>
        </p:nvSpPr>
        <p:spPr>
          <a:xfrm>
            <a:off x="1527048" y="1508760"/>
            <a:ext cx="9144000" cy="1051560"/>
          </a:xfrm>
          <a:prstGeom prst="rect">
            <a:avLst/>
          </a:prstGeom>
          <a:noFill/>
          <a:ln/>
        </p:spPr>
        <p:txBody>
          <a:bodyPr wrap="square" lIns="0" tIns="0" rIns="0" bIns="0" rtlCol="0" anchor="ctr"/>
          <a:lstStyle/>
          <a:p>
            <a:pPr algn="ctr" indent="0" marL="0">
              <a:buNone/>
            </a:pPr>
            <a:r>
              <a:rPr lang="en-US" sz="3600" b="1" dirty="0">
                <a:solidFill>
                  <a:schemeClr val="tx1"/>
                </a:solidFill>
                <a:latin typeface="Cambria Math" pitchFamily="34" charset="0"/>
                <a:ea typeface="Cambria Math" pitchFamily="34" charset="-122"/>
                <a:cs typeface="Cambria Math" pitchFamily="34" charset="-120"/>
              </a:rPr>
              <a:t>ALLOW</a:t>
            </a:r>
            <a:pPr algn="ctr" indent="0" marL="0">
              <a:buNone/>
            </a:pPr>
            <a:r>
              <a:rPr lang="en-US" sz="3600" dirty="0">
                <a:solidFill>
                  <a:schemeClr val="tx1"/>
                </a:solidFill>
                <a:latin typeface="Cambria Math" pitchFamily="34" charset="0"/>
                <a:ea typeface="Cambria Math" pitchFamily="34" charset="-122"/>
                <a:cs typeface="Cambria Math" pitchFamily="34" charset="-120"/>
              </a:rPr>
              <a:t>  =  </a:t>
            </a:r>
            <a:pPr algn="ctr" indent="0" marL="0">
              <a:buNone/>
            </a:pPr>
            <a:r>
              <a:rPr lang="en-US" sz="3600" b="1" dirty="0">
                <a:solidFill>
                  <a:schemeClr val="accent2"/>
                </a:solidFill>
                <a:latin typeface="Cambria Math" pitchFamily="34" charset="0"/>
                <a:ea typeface="Cambria Math" pitchFamily="34" charset="-122"/>
                <a:cs typeface="Cambria Math" pitchFamily="34" charset="-120"/>
              </a:rPr>
              <a:t>M</a:t>
            </a:r>
            <a:pPr algn="ctr" indent="0" marL="0">
              <a:buNone/>
            </a:pPr>
            <a:r>
              <a:rPr lang="en-US" sz="3600" dirty="0">
                <a:solidFill>
                  <a:schemeClr val="tx1"/>
                </a:solidFill>
                <a:latin typeface="Cambria Math" pitchFamily="34" charset="0"/>
                <a:ea typeface="Cambria Math" pitchFamily="34" charset="-122"/>
                <a:cs typeface="Cambria Math" pitchFamily="34" charset="-120"/>
              </a:rPr>
              <a:t>  ∧  </a:t>
            </a:r>
            <a:pPr algn="ctr" indent="0" marL="0">
              <a:buNone/>
            </a:pPr>
            <a:r>
              <a:rPr lang="en-US" sz="3600" b="1" dirty="0">
                <a:solidFill>
                  <a:schemeClr val="accent3"/>
                </a:solidFill>
                <a:latin typeface="Cambria Math" pitchFamily="34" charset="0"/>
                <a:ea typeface="Cambria Math" pitchFamily="34" charset="-122"/>
                <a:cs typeface="Cambria Math" pitchFamily="34" charset="-120"/>
              </a:rPr>
              <a:t>D</a:t>
            </a:r>
            <a:pPr algn="ctr" indent="0" marL="0">
              <a:buNone/>
            </a:pPr>
            <a:r>
              <a:rPr lang="en-US" sz="3600" dirty="0">
                <a:solidFill>
                  <a:schemeClr val="tx1"/>
                </a:solidFill>
                <a:latin typeface="Cambria Math" pitchFamily="34" charset="0"/>
                <a:ea typeface="Cambria Math" pitchFamily="34" charset="-122"/>
                <a:cs typeface="Cambria Math" pitchFamily="34" charset="-120"/>
              </a:rPr>
              <a:t>  ∧  </a:t>
            </a:r>
            <a:pPr algn="ctr" indent="0" marL="0">
              <a:buNone/>
            </a:pPr>
            <a:r>
              <a:rPr lang="en-US" sz="3600" b="1" dirty="0">
                <a:solidFill>
                  <a:schemeClr val="accent3"/>
                </a:solidFill>
                <a:latin typeface="Cambria Math" pitchFamily="34" charset="0"/>
                <a:ea typeface="Cambria Math" pitchFamily="34" charset="-122"/>
                <a:cs typeface="Cambria Math" pitchFamily="34" charset="-120"/>
              </a:rPr>
              <a:t>A</a:t>
            </a:r>
            <a:pPr algn="ctr" indent="0" marL="0">
              <a:buNone/>
            </a:pPr>
            <a:r>
              <a:rPr lang="en-US" sz="3600" dirty="0">
                <a:solidFill>
                  <a:schemeClr val="tx1"/>
                </a:solidFill>
                <a:latin typeface="Cambria Math" pitchFamily="34" charset="0"/>
                <a:ea typeface="Cambria Math" pitchFamily="34" charset="-122"/>
                <a:cs typeface="Cambria Math" pitchFamily="34" charset="-120"/>
              </a:rPr>
              <a:t>  ∧  </a:t>
            </a:r>
            <a:pPr algn="ctr" indent="0" marL="0">
              <a:buNone/>
            </a:pPr>
            <a:r>
              <a:rPr lang="en-US" sz="3600" b="1" dirty="0">
                <a:solidFill>
                  <a:schemeClr val="accent1"/>
                </a:solidFill>
                <a:latin typeface="Cambria Math" pitchFamily="34" charset="0"/>
                <a:ea typeface="Cambria Math" pitchFamily="34" charset="-122"/>
                <a:cs typeface="Cambria Math" pitchFamily="34" charset="-120"/>
              </a:rPr>
              <a:t>H</a:t>
            </a:r>
            <a:pPr algn="ctr" indent="0" marL="0">
              <a:buNone/>
            </a:pPr>
            <a:r>
              <a:rPr lang="en-US" sz="3600" dirty="0">
                <a:solidFill>
                  <a:schemeClr val="tx1"/>
                </a:solidFill>
                <a:latin typeface="Cambria Math" pitchFamily="34" charset="0"/>
                <a:ea typeface="Cambria Math" pitchFamily="34" charset="-122"/>
                <a:cs typeface="Cambria Math" pitchFamily="34" charset="-120"/>
              </a:rPr>
              <a:t>  ∧  </a:t>
            </a:r>
            <a:pPr algn="ctr" indent="0" marL="0">
              <a:buNone/>
            </a:pPr>
            <a:r>
              <a:rPr lang="en-US" sz="3600" b="1" dirty="0">
                <a:solidFill>
                  <a:schemeClr val="tx1"/>
                </a:solidFill>
                <a:latin typeface="Cambria Math" pitchFamily="34" charset="0"/>
                <a:ea typeface="Cambria Math" pitchFamily="34" charset="-122"/>
                <a:cs typeface="Cambria Math" pitchFamily="34" charset="-120"/>
              </a:rPr>
              <a:t>S</a:t>
            </a:r>
            <a:endParaRPr lang="en-US" sz="3600" dirty="0"/>
          </a:p>
        </p:txBody>
      </p:sp>
      <p:sp>
        <p:nvSpPr>
          <p:cNvPr id="6" name="card-289"/>
          <p:cNvSpPr/>
          <p:nvPr/>
        </p:nvSpPr>
        <p:spPr>
          <a:xfrm>
            <a:off x="548640" y="2880360"/>
            <a:ext cx="2103120" cy="2834640"/>
          </a:xfrm>
          <a:prstGeom prst="roundRect">
            <a:avLst>
              <a:gd name="adj" fmla="val 4348"/>
            </a:avLst>
          </a:prstGeom>
          <a:solidFill>
            <a:srgbClr val="E1ECF7"/>
          </a:solidFill>
          <a:ln w="12700">
            <a:solidFill>
              <a:srgbClr val="E1ECF7"/>
            </a:solidFill>
            <a:prstDash val="solid"/>
          </a:ln>
        </p:spPr>
      </p:sp>
      <p:sp>
        <p:nvSpPr>
          <p:cNvPr id="7" name="badge-290"/>
          <p:cNvSpPr txBox="1"/>
          <p:nvPr/>
        </p:nvSpPr>
        <p:spPr>
          <a:xfrm>
            <a:off x="731520" y="3063240"/>
            <a:ext cx="621792" cy="621792"/>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600" b="1" dirty="0">
                <a:solidFill>
                  <a:schemeClr val="bg1"/>
                </a:solidFill>
              </a:rPr>
              <a:t>M</a:t>
            </a:r>
            <a:endParaRPr lang="en-US" sz="2600" dirty="0"/>
          </a:p>
        </p:txBody>
      </p:sp>
      <p:sp>
        <p:nvSpPr>
          <p:cNvPr id="8" name="text-291"/>
          <p:cNvSpPr txBox="1"/>
          <p:nvPr/>
        </p:nvSpPr>
        <p:spPr>
          <a:xfrm>
            <a:off x="1463040" y="3063240"/>
            <a:ext cx="1097280" cy="621792"/>
          </a:xfrm>
          <a:prstGeom prst="rect">
            <a:avLst/>
          </a:prstGeom>
          <a:noFill/>
          <a:ln/>
        </p:spPr>
        <p:txBody>
          <a:bodyPr wrap="square" lIns="0" tIns="0" rIns="0" bIns="0" rtlCol="0" anchor="ctr"/>
          <a:lstStyle/>
          <a:p>
            <a:pPr indent="0" marL="0">
              <a:buNone/>
            </a:pPr>
            <a:r>
              <a:rPr lang="en-US" sz="1600" b="1" dirty="0">
                <a:solidFill>
                  <a:schemeClr val="accent2"/>
                </a:solidFill>
              </a:rPr>
              <a:t>Machine</a:t>
            </a:r>
            <a:endParaRPr lang="en-US" sz="1600" dirty="0"/>
          </a:p>
        </p:txBody>
      </p:sp>
      <p:sp>
        <p:nvSpPr>
          <p:cNvPr id="9" name="text-292"/>
          <p:cNvSpPr txBox="1"/>
          <p:nvPr/>
        </p:nvSpPr>
        <p:spPr>
          <a:xfrm>
            <a:off x="731520" y="3840480"/>
            <a:ext cx="1737360" cy="1371600"/>
          </a:xfrm>
          <a:prstGeom prst="rect">
            <a:avLst/>
          </a:prstGeom>
          <a:noFill/>
          <a:ln/>
        </p:spPr>
        <p:txBody>
          <a:bodyPr wrap="square" lIns="0" tIns="0" rIns="0" bIns="0" rtlCol="0" anchor="t"/>
          <a:lstStyle/>
          <a:p>
            <a:pPr indent="0" marL="0">
              <a:buNone/>
            </a:pPr>
            <a:r>
              <a:rPr lang="en-US" sz="1300" dirty="0">
                <a:solidFill>
                  <a:schemeClr val="tx1"/>
                </a:solidFill>
              </a:rPr>
              <a:t>The agent's JWT verifies: trusted kid, RS256, issuer, aud inventory-service, unexpired.</a:t>
            </a:r>
            <a:endParaRPr lang="en-US" sz="1300" dirty="0"/>
          </a:p>
        </p:txBody>
      </p:sp>
      <p:sp>
        <p:nvSpPr>
          <p:cNvPr id="10" name="pill-293"/>
          <p:cNvSpPr txBox="1"/>
          <p:nvPr/>
        </p:nvSpPr>
        <p:spPr>
          <a:xfrm>
            <a:off x="731520" y="5285232"/>
            <a:ext cx="640080" cy="274320"/>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200" b="1" dirty="0">
                <a:solidFill>
                  <a:schemeClr val="bg1"/>
                </a:solidFill>
              </a:rPr>
              <a:t>401</a:t>
            </a:r>
            <a:endParaRPr lang="en-US" sz="1200" dirty="0"/>
          </a:p>
        </p:txBody>
      </p:sp>
      <p:sp>
        <p:nvSpPr>
          <p:cNvPr id="11" name="card-294"/>
          <p:cNvSpPr/>
          <p:nvPr/>
        </p:nvSpPr>
        <p:spPr>
          <a:xfrm>
            <a:off x="2798064" y="2880360"/>
            <a:ext cx="2103120" cy="2834640"/>
          </a:xfrm>
          <a:prstGeom prst="roundRect">
            <a:avLst>
              <a:gd name="adj" fmla="val 4348"/>
            </a:avLst>
          </a:prstGeom>
          <a:solidFill>
            <a:srgbClr val="DEEFE6"/>
          </a:solidFill>
          <a:ln w="12700">
            <a:solidFill>
              <a:srgbClr val="DEEFE6"/>
            </a:solidFill>
            <a:prstDash val="solid"/>
          </a:ln>
        </p:spPr>
      </p:sp>
      <p:sp>
        <p:nvSpPr>
          <p:cNvPr id="12" name="badge-295"/>
          <p:cNvSpPr txBox="1"/>
          <p:nvPr/>
        </p:nvSpPr>
        <p:spPr>
          <a:xfrm>
            <a:off x="2980944" y="3063240"/>
            <a:ext cx="621792" cy="621792"/>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2600" b="1" dirty="0">
                <a:solidFill>
                  <a:schemeClr val="bg1"/>
                </a:solidFill>
              </a:rPr>
              <a:t>D</a:t>
            </a:r>
            <a:endParaRPr lang="en-US" sz="2600" dirty="0"/>
          </a:p>
        </p:txBody>
      </p:sp>
      <p:sp>
        <p:nvSpPr>
          <p:cNvPr id="13" name="text-296"/>
          <p:cNvSpPr txBox="1"/>
          <p:nvPr/>
        </p:nvSpPr>
        <p:spPr>
          <a:xfrm>
            <a:off x="3712464" y="3063240"/>
            <a:ext cx="1097280" cy="621792"/>
          </a:xfrm>
          <a:prstGeom prst="rect">
            <a:avLst/>
          </a:prstGeom>
          <a:noFill/>
          <a:ln/>
        </p:spPr>
        <p:txBody>
          <a:bodyPr wrap="square" lIns="0" tIns="0" rIns="0" bIns="0" rtlCol="0" anchor="ctr"/>
          <a:lstStyle/>
          <a:p>
            <a:pPr indent="0" marL="0">
              <a:buNone/>
            </a:pPr>
            <a:r>
              <a:rPr lang="en-US" sz="1600" b="1" dirty="0">
                <a:solidFill>
                  <a:schemeClr val="accent3"/>
                </a:solidFill>
              </a:rPr>
              <a:t>Delegation</a:t>
            </a:r>
            <a:endParaRPr lang="en-US" sz="1600" dirty="0"/>
          </a:p>
        </p:txBody>
      </p:sp>
      <p:sp>
        <p:nvSpPr>
          <p:cNvPr id="14" name="text-297"/>
          <p:cNvSpPr txBox="1"/>
          <p:nvPr/>
        </p:nvSpPr>
        <p:spPr>
          <a:xfrm>
            <a:off x="2980944" y="3840480"/>
            <a:ext cx="1737360" cy="1371600"/>
          </a:xfrm>
          <a:prstGeom prst="rect">
            <a:avLst/>
          </a:prstGeom>
          <a:noFill/>
          <a:ln/>
        </p:spPr>
        <p:txBody>
          <a:bodyPr wrap="square" lIns="0" tIns="0" rIns="0" bIns="0" rtlCol="0" anchor="t"/>
          <a:lstStyle/>
          <a:p>
            <a:pPr indent="0" marL="0">
              <a:buNone/>
            </a:pPr>
            <a:r>
              <a:rPr lang="en-US" sz="1300" dirty="0">
                <a:solidFill>
                  <a:schemeClr val="tx1"/>
                </a:solidFill>
              </a:rPr>
              <a:t>The grant verifies: delegation-key-1, iss authority, aud inventory-service, unexpired.</a:t>
            </a:r>
            <a:endParaRPr lang="en-US" sz="1300" dirty="0"/>
          </a:p>
        </p:txBody>
      </p:sp>
      <p:sp>
        <p:nvSpPr>
          <p:cNvPr id="15" name="pill-298"/>
          <p:cNvSpPr txBox="1"/>
          <p:nvPr/>
        </p:nvSpPr>
        <p:spPr>
          <a:xfrm>
            <a:off x="2980944" y="5285232"/>
            <a:ext cx="640080" cy="274320"/>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1200" b="1" dirty="0">
                <a:solidFill>
                  <a:schemeClr val="bg1"/>
                </a:solidFill>
              </a:rPr>
              <a:t>401</a:t>
            </a:r>
            <a:endParaRPr lang="en-US" sz="1200" dirty="0"/>
          </a:p>
        </p:txBody>
      </p:sp>
      <p:sp>
        <p:nvSpPr>
          <p:cNvPr id="16" name="card-299"/>
          <p:cNvSpPr/>
          <p:nvPr/>
        </p:nvSpPr>
        <p:spPr>
          <a:xfrm>
            <a:off x="5047488" y="2880360"/>
            <a:ext cx="2103120" cy="2834640"/>
          </a:xfrm>
          <a:prstGeom prst="roundRect">
            <a:avLst>
              <a:gd name="adj" fmla="val 4348"/>
            </a:avLst>
          </a:prstGeom>
          <a:solidFill>
            <a:srgbClr val="DEEFE6"/>
          </a:solidFill>
          <a:ln w="12700">
            <a:solidFill>
              <a:srgbClr val="DEEFE6"/>
            </a:solidFill>
            <a:prstDash val="solid"/>
          </a:ln>
        </p:spPr>
      </p:sp>
      <p:sp>
        <p:nvSpPr>
          <p:cNvPr id="17" name="badge-300"/>
          <p:cNvSpPr txBox="1"/>
          <p:nvPr/>
        </p:nvSpPr>
        <p:spPr>
          <a:xfrm>
            <a:off x="5230368" y="3063240"/>
            <a:ext cx="621792" cy="621792"/>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2600" b="1" dirty="0">
                <a:solidFill>
                  <a:schemeClr val="bg1"/>
                </a:solidFill>
              </a:rPr>
              <a:t>A</a:t>
            </a:r>
            <a:endParaRPr lang="en-US" sz="2600" dirty="0"/>
          </a:p>
        </p:txBody>
      </p:sp>
      <p:sp>
        <p:nvSpPr>
          <p:cNvPr id="18" name="text-301"/>
          <p:cNvSpPr txBox="1"/>
          <p:nvPr/>
        </p:nvSpPr>
        <p:spPr>
          <a:xfrm>
            <a:off x="5961888" y="3063240"/>
            <a:ext cx="1097280" cy="621792"/>
          </a:xfrm>
          <a:prstGeom prst="rect">
            <a:avLst/>
          </a:prstGeom>
          <a:noFill/>
          <a:ln/>
        </p:spPr>
        <p:txBody>
          <a:bodyPr wrap="square" lIns="0" tIns="0" rIns="0" bIns="0" rtlCol="0" anchor="ctr"/>
          <a:lstStyle/>
          <a:p>
            <a:pPr indent="0" marL="0">
              <a:buNone/>
            </a:pPr>
            <a:r>
              <a:rPr lang="en-US" sz="1600" b="1" dirty="0">
                <a:solidFill>
                  <a:schemeClr val="accent3"/>
                </a:solidFill>
              </a:rPr>
              <a:t>Actor binding</a:t>
            </a:r>
            <a:endParaRPr lang="en-US" sz="1600" dirty="0"/>
          </a:p>
        </p:txBody>
      </p:sp>
      <p:sp>
        <p:nvSpPr>
          <p:cNvPr id="19" name="text-302"/>
          <p:cNvSpPr txBox="1"/>
          <p:nvPr/>
        </p:nvSpPr>
        <p:spPr>
          <a:xfrm>
            <a:off x="5230368" y="3840480"/>
            <a:ext cx="1737360" cy="1371600"/>
          </a:xfrm>
          <a:prstGeom prst="rect">
            <a:avLst/>
          </a:prstGeom>
          <a:noFill/>
          <a:ln/>
        </p:spPr>
        <p:txBody>
          <a:bodyPr wrap="square" lIns="0" tIns="0" rIns="0" bIns="0" rtlCol="0" anchor="t"/>
          <a:lstStyle/>
          <a:p>
            <a:pPr indent="0" marL="0">
              <a:buNone/>
            </a:pPr>
            <a:r>
              <a:rPr lang="en-US" sz="1300" dirty="0">
                <a:solidFill>
                  <a:schemeClr val="tx1"/>
                </a:solidFill>
              </a:rPr>
              <a:t>act.sub equals the machine's sub. A grant for another agent is not yours.</a:t>
            </a:r>
            <a:endParaRPr lang="en-US" sz="1300" dirty="0"/>
          </a:p>
        </p:txBody>
      </p:sp>
      <p:sp>
        <p:nvSpPr>
          <p:cNvPr id="20" name="pill-303"/>
          <p:cNvSpPr txBox="1"/>
          <p:nvPr/>
        </p:nvSpPr>
        <p:spPr>
          <a:xfrm>
            <a:off x="5230368" y="5285232"/>
            <a:ext cx="640080" cy="274320"/>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1200" b="1" dirty="0">
                <a:solidFill>
                  <a:schemeClr val="bg1"/>
                </a:solidFill>
              </a:rPr>
              <a:t>401</a:t>
            </a:r>
            <a:endParaRPr lang="en-US" sz="1200" dirty="0"/>
          </a:p>
        </p:txBody>
      </p:sp>
      <p:sp>
        <p:nvSpPr>
          <p:cNvPr id="21" name="card-304"/>
          <p:cNvSpPr/>
          <p:nvPr/>
        </p:nvSpPr>
        <p:spPr>
          <a:xfrm>
            <a:off x="7296912" y="2880360"/>
            <a:ext cx="2103120" cy="2834640"/>
          </a:xfrm>
          <a:prstGeom prst="roundRect">
            <a:avLst>
              <a:gd name="adj" fmla="val 4348"/>
            </a:avLst>
          </a:prstGeom>
          <a:solidFill>
            <a:srgbClr val="F6E7DD"/>
          </a:solidFill>
          <a:ln w="12700">
            <a:solidFill>
              <a:srgbClr val="F6E7DD"/>
            </a:solidFill>
            <a:prstDash val="solid"/>
          </a:ln>
        </p:spPr>
      </p:sp>
      <p:sp>
        <p:nvSpPr>
          <p:cNvPr id="22" name="badge-305"/>
          <p:cNvSpPr txBox="1"/>
          <p:nvPr/>
        </p:nvSpPr>
        <p:spPr>
          <a:xfrm>
            <a:off x="7479792" y="3063240"/>
            <a:ext cx="621792" cy="621792"/>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600" b="1" dirty="0">
                <a:solidFill>
                  <a:schemeClr val="bg1"/>
                </a:solidFill>
              </a:rPr>
              <a:t>H</a:t>
            </a:r>
            <a:endParaRPr lang="en-US" sz="2600" dirty="0"/>
          </a:p>
        </p:txBody>
      </p:sp>
      <p:sp>
        <p:nvSpPr>
          <p:cNvPr id="23" name="text-306"/>
          <p:cNvSpPr txBox="1"/>
          <p:nvPr/>
        </p:nvSpPr>
        <p:spPr>
          <a:xfrm>
            <a:off x="8211312" y="3063240"/>
            <a:ext cx="1097280" cy="621792"/>
          </a:xfrm>
          <a:prstGeom prst="rect">
            <a:avLst/>
          </a:prstGeom>
          <a:noFill/>
          <a:ln/>
        </p:spPr>
        <p:txBody>
          <a:bodyPr wrap="square" lIns="0" tIns="0" rIns="0" bIns="0" rtlCol="0" anchor="ctr"/>
          <a:lstStyle/>
          <a:p>
            <a:pPr indent="0" marL="0">
              <a:buNone/>
            </a:pPr>
            <a:r>
              <a:rPr lang="en-US" sz="1600" b="1" dirty="0">
                <a:solidFill>
                  <a:schemeClr val="accent1"/>
                </a:solidFill>
              </a:rPr>
              <a:t>Human's grant</a:t>
            </a:r>
            <a:endParaRPr lang="en-US" sz="1600" dirty="0"/>
          </a:p>
        </p:txBody>
      </p:sp>
      <p:sp>
        <p:nvSpPr>
          <p:cNvPr id="24" name="text-307"/>
          <p:cNvSpPr txBox="1"/>
          <p:nvPr/>
        </p:nvSpPr>
        <p:spPr>
          <a:xfrm>
            <a:off x="7479792" y="3840480"/>
            <a:ext cx="1737360" cy="1371600"/>
          </a:xfrm>
          <a:prstGeom prst="rect">
            <a:avLst/>
          </a:prstGeom>
          <a:noFill/>
          <a:ln/>
        </p:spPr>
        <p:txBody>
          <a:bodyPr wrap="square" lIns="0" tIns="0" rIns="0" bIns="0" rtlCol="0" anchor="t"/>
          <a:lstStyle/>
          <a:p>
            <a:pPr indent="0" marL="0">
              <a:buNone/>
            </a:pPr>
            <a:r>
              <a:rPr lang="en-US" sz="1300" dirty="0">
                <a:solidFill>
                  <a:schemeClr val="tx1"/>
                </a:solidFill>
              </a:rPr>
              <a:t>The permission this item needs is inside the delegated scope.</a:t>
            </a:r>
            <a:endParaRPr lang="en-US" sz="1300" dirty="0"/>
          </a:p>
        </p:txBody>
      </p:sp>
      <p:sp>
        <p:nvSpPr>
          <p:cNvPr id="25" name="pill-308"/>
          <p:cNvSpPr txBox="1"/>
          <p:nvPr/>
        </p:nvSpPr>
        <p:spPr>
          <a:xfrm>
            <a:off x="7479792" y="5285232"/>
            <a:ext cx="640080" cy="274320"/>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bg1"/>
                </a:solidFill>
              </a:rPr>
              <a:t>403</a:t>
            </a:r>
            <a:endParaRPr lang="en-US" sz="1200" dirty="0"/>
          </a:p>
        </p:txBody>
      </p:sp>
      <p:sp>
        <p:nvSpPr>
          <p:cNvPr id="26" name="card-309"/>
          <p:cNvSpPr/>
          <p:nvPr/>
        </p:nvSpPr>
        <p:spPr>
          <a:xfrm>
            <a:off x="9546336" y="2880360"/>
            <a:ext cx="2103120" cy="2834640"/>
          </a:xfrm>
          <a:prstGeom prst="roundRect">
            <a:avLst>
              <a:gd name="adj" fmla="val 4348"/>
            </a:avLst>
          </a:prstGeom>
          <a:solidFill>
            <a:schemeClr val="bg2"/>
          </a:solidFill>
          <a:ln w="12700">
            <a:solidFill>
              <a:schemeClr val="bg2"/>
            </a:solidFill>
            <a:prstDash val="solid"/>
          </a:ln>
        </p:spPr>
      </p:sp>
      <p:sp>
        <p:nvSpPr>
          <p:cNvPr id="27" name="badge-310"/>
          <p:cNvSpPr txBox="1"/>
          <p:nvPr/>
        </p:nvSpPr>
        <p:spPr>
          <a:xfrm>
            <a:off x="9729216" y="3063240"/>
            <a:ext cx="621792" cy="621792"/>
          </a:xfrm>
          <a:prstGeom prst="ellipse">
            <a:avLst/>
          </a:prstGeom>
          <a:solidFill>
            <a:schemeClr val="tx1"/>
          </a:solidFill>
          <a:ln>
            <a:solidFill>
              <a:schemeClr val="tx1"/>
            </a:solidFill>
          </a:ln>
        </p:spPr>
        <p:txBody>
          <a:bodyPr wrap="square" lIns="0" tIns="0" rIns="0" bIns="0" rtlCol="0" anchor="ctr"/>
          <a:lstStyle/>
          <a:p>
            <a:pPr algn="ctr" indent="0" marL="0">
              <a:buNone/>
            </a:pPr>
            <a:r>
              <a:rPr lang="en-US" sz="2600" b="1" dirty="0">
                <a:solidFill>
                  <a:schemeClr val="bg1"/>
                </a:solidFill>
              </a:rPr>
              <a:t>S</a:t>
            </a:r>
            <a:endParaRPr lang="en-US" sz="2600" dirty="0"/>
          </a:p>
        </p:txBody>
      </p:sp>
      <p:sp>
        <p:nvSpPr>
          <p:cNvPr id="28" name="text-311"/>
          <p:cNvSpPr txBox="1"/>
          <p:nvPr/>
        </p:nvSpPr>
        <p:spPr>
          <a:xfrm>
            <a:off x="10460736" y="3063240"/>
            <a:ext cx="1097280" cy="621792"/>
          </a:xfrm>
          <a:prstGeom prst="rect">
            <a:avLst/>
          </a:prstGeom>
          <a:noFill/>
          <a:ln/>
        </p:spPr>
        <p:txBody>
          <a:bodyPr wrap="square" lIns="0" tIns="0" rIns="0" bIns="0" rtlCol="0" anchor="ctr"/>
          <a:lstStyle/>
          <a:p>
            <a:pPr indent="0" marL="0">
              <a:buNone/>
            </a:pPr>
            <a:r>
              <a:rPr lang="en-US" sz="1600" b="1" dirty="0">
                <a:solidFill>
                  <a:schemeClr val="tx1"/>
                </a:solidFill>
              </a:rPr>
              <a:t>Service policy</a:t>
            </a:r>
            <a:endParaRPr lang="en-US" sz="1600" dirty="0"/>
          </a:p>
        </p:txBody>
      </p:sp>
      <p:sp>
        <p:nvSpPr>
          <p:cNvPr id="29" name="text-312"/>
          <p:cNvSpPr txBox="1"/>
          <p:nvPr/>
        </p:nvSpPr>
        <p:spPr>
          <a:xfrm>
            <a:off x="9729216" y="3840480"/>
            <a:ext cx="1737360" cy="1371600"/>
          </a:xfrm>
          <a:prstGeom prst="rect">
            <a:avLst/>
          </a:prstGeom>
          <a:noFill/>
          <a:ln/>
        </p:spPr>
        <p:txBody>
          <a:bodyPr wrap="square" lIns="0" tIns="0" rIns="0" bIns="0" rtlCol="0" anchor="t"/>
          <a:lstStyle/>
          <a:p>
            <a:pPr indent="0" marL="0">
              <a:buNone/>
            </a:pPr>
            <a:r>
              <a:rPr lang="en-US" sz="1300" dirty="0">
                <a:solidFill>
                  <a:schemeClr val="tx1"/>
                </a:solidFill>
              </a:rPr>
              <a:t>Machine scope has it and the role grants it for the item's class.</a:t>
            </a:r>
            <a:endParaRPr lang="en-US" sz="1300" dirty="0"/>
          </a:p>
        </p:txBody>
      </p:sp>
      <p:sp>
        <p:nvSpPr>
          <p:cNvPr id="30" name="pill-313"/>
          <p:cNvSpPr txBox="1"/>
          <p:nvPr/>
        </p:nvSpPr>
        <p:spPr>
          <a:xfrm>
            <a:off x="9729216" y="5285232"/>
            <a:ext cx="640080" cy="274320"/>
          </a:xfrm>
          <a:prstGeom prst="roundRect">
            <a:avLst>
              <a:gd name="adj" fmla="val 50000"/>
            </a:avLst>
          </a:prstGeom>
          <a:solidFill>
            <a:schemeClr val="tx1"/>
          </a:solidFill>
          <a:ln>
            <a:solidFill>
              <a:schemeClr val="tx1"/>
            </a:solidFill>
          </a:ln>
        </p:spPr>
        <p:txBody>
          <a:bodyPr wrap="square" lIns="0" tIns="0" rIns="0" bIns="0" rtlCol="0" anchor="ctr"/>
          <a:lstStyle/>
          <a:p>
            <a:pPr algn="ctr" indent="0" marL="0">
              <a:buNone/>
            </a:pPr>
            <a:r>
              <a:rPr lang="en-US" sz="1200" b="1" dirty="0">
                <a:solidFill>
                  <a:schemeClr val="bg1"/>
                </a:solidFill>
              </a:rPr>
              <a:t>403</a:t>
            </a:r>
            <a:endParaRPr lang="en-US" sz="1200" dirty="0"/>
          </a:p>
        </p:txBody>
      </p:sp>
      <p:sp>
        <p:nvSpPr>
          <p:cNvPr id="31" name="text-314"/>
          <p:cNvSpPr txBox="1"/>
          <p:nvPr/>
        </p:nvSpPr>
        <p:spPr>
          <a:xfrm>
            <a:off x="548640" y="5833872"/>
            <a:ext cx="11064240" cy="365760"/>
          </a:xfrm>
          <a:prstGeom prst="rect">
            <a:avLst/>
          </a:prstGeom>
          <a:noFill/>
          <a:ln/>
        </p:spPr>
        <p:txBody>
          <a:bodyPr wrap="square" lIns="0" tIns="0" rIns="0" bIns="0" rtlCol="0" anchor="ctr"/>
          <a:lstStyle/>
          <a:p>
            <a:pPr algn="ctr" indent="0" marL="0">
              <a:buNone/>
            </a:pPr>
            <a:r>
              <a:rPr lang="en-US" sz="1400" i="1" dirty="0">
                <a:solidFill>
                  <a:schemeClr val="tx2"/>
                </a:solidFill>
              </a:rPr>
              <a:t>∧ means every term must be true. Any false term denies the request before stock details are read.</a:t>
            </a:r>
            <a:endParaRPr lang="en-US" sz="14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274320"/>
          </a:xfrm>
          <a:prstGeom prst="rect">
            <a:avLst/>
          </a:prstGeom>
          <a:noFill/>
          <a:ln/>
        </p:spPr>
        <p:txBody>
          <a:bodyPr wrap="square" lIns="0" tIns="0" rIns="0" bIns="0" rtlCol="0"/>
          <a:lstStyle/>
          <a:p>
            <a:pPr indent="0" marL="0">
              <a:buNone/>
            </a:pPr>
            <a:r>
              <a:rPr lang="en-US" sz="1200" b="1" dirty="0">
                <a:solidFill>
                  <a:schemeClr val="accent1"/>
                </a:solidFill>
                <a:latin typeface="Courier New" pitchFamily="34" charset="0"/>
                <a:ea typeface="Courier New" pitchFamily="34" charset="-122"/>
                <a:cs typeface="Courier New" pitchFamily="34" charset="-120"/>
              </a:rPr>
              <a:t>HOW EACH TERM IS ACHIEVED</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ctr" indent="0" marL="0">
              <a:buNone/>
            </a:pPr>
            <a:r>
              <a:rPr lang="en-US" sz="3200" b="1" dirty="0">
                <a:solidFill>
                  <a:schemeClr val="tx1"/>
                </a:solidFill>
              </a:rPr>
              <a:t>Signed once by the authority, checked on every request</a:t>
            </a:r>
            <a:endParaRPr lang="en-US" sz="3200" dirty="0"/>
          </a:p>
        </p:txBody>
      </p:sp>
      <p:sp>
        <p:nvSpPr>
          <p:cNvPr id="4" name="card-315"/>
          <p:cNvSpPr/>
          <p:nvPr/>
        </p:nvSpPr>
        <p:spPr>
          <a:xfrm>
            <a:off x="548640" y="1463040"/>
            <a:ext cx="11091672" cy="1417320"/>
          </a:xfrm>
          <a:prstGeom prst="roundRect">
            <a:avLst>
              <a:gd name="adj" fmla="val 6452"/>
            </a:avLst>
          </a:prstGeom>
          <a:solidFill>
            <a:srgbClr val="DEEFE6"/>
          </a:solidFill>
          <a:ln w="12700">
            <a:solidFill>
              <a:srgbClr val="DEEFE6"/>
            </a:solidFill>
            <a:prstDash val="solid"/>
          </a:ln>
        </p:spPr>
      </p:sp>
      <p:sp>
        <p:nvSpPr>
          <p:cNvPr id="5" name="text-316"/>
          <p:cNvSpPr txBox="1"/>
          <p:nvPr/>
        </p:nvSpPr>
        <p:spPr>
          <a:xfrm>
            <a:off x="777240" y="1554480"/>
            <a:ext cx="7315200" cy="274320"/>
          </a:xfrm>
          <a:prstGeom prst="rect">
            <a:avLst/>
          </a:prstGeom>
          <a:noFill/>
          <a:ln/>
        </p:spPr>
        <p:txBody>
          <a:bodyPr wrap="square" lIns="0" tIns="0" rIns="0" bIns="0" rtlCol="0" anchor="t"/>
          <a:lstStyle/>
          <a:p>
            <a:pPr indent="0" marL="0">
              <a:buNone/>
            </a:pPr>
            <a:r>
              <a:rPr lang="en-US" sz="1100" b="1" dirty="0">
                <a:solidFill>
                  <a:schemeClr val="accent3"/>
                </a:solidFill>
                <a:latin typeface="Courier New" pitchFamily="34" charset="0"/>
                <a:ea typeface="Courier New" pitchFamily="34" charset="-122"/>
                <a:cs typeface="Courier New" pitchFamily="34" charset="-120"/>
              </a:rPr>
              <a:t>AT SIGNING TIME · DELEGATION AUTHORITY :8004</a:t>
            </a:r>
            <a:endParaRPr lang="en-US" sz="1100" dirty="0"/>
          </a:p>
        </p:txBody>
      </p:sp>
      <p:sp>
        <p:nvSpPr>
          <p:cNvPr id="6" name="card-317"/>
          <p:cNvSpPr/>
          <p:nvPr/>
        </p:nvSpPr>
        <p:spPr>
          <a:xfrm>
            <a:off x="777240" y="1920240"/>
            <a:ext cx="1993392" cy="749808"/>
          </a:xfrm>
          <a:prstGeom prst="roundRect">
            <a:avLst>
              <a:gd name="adj" fmla="val 12195"/>
            </a:avLst>
          </a:prstGeom>
          <a:solidFill>
            <a:schemeClr val="bg1"/>
          </a:solidFill>
          <a:ln w="15875">
            <a:solidFill>
              <a:schemeClr val="accent3"/>
            </a:solidFill>
            <a:prstDash val="solid"/>
          </a:ln>
        </p:spPr>
      </p:sp>
      <p:sp>
        <p:nvSpPr>
          <p:cNvPr id="7" name="text-318"/>
          <p:cNvSpPr txBox="1"/>
          <p:nvPr/>
        </p:nvSpPr>
        <p:spPr>
          <a:xfrm>
            <a:off x="868680" y="1920240"/>
            <a:ext cx="1810512" cy="749808"/>
          </a:xfrm>
          <a:prstGeom prst="rect">
            <a:avLst/>
          </a:prstGeom>
          <a:noFill/>
          <a:ln/>
        </p:spPr>
        <p:txBody>
          <a:bodyPr wrap="square" lIns="0" tIns="0" rIns="0" bIns="0" rtlCol="0" anchor="ctr"/>
          <a:lstStyle/>
          <a:p>
            <a:pPr algn="ctr" indent="0" marL="0">
              <a:buNone/>
            </a:pPr>
            <a:r>
              <a:rPr lang="en-US" sz="1300" b="1" dirty="0">
                <a:solidFill>
                  <a:schemeClr val="tx1"/>
                </a:solidFill>
              </a:rPr>
              <a:t>actor proven</a:t>
            </a:r>
            <a:endParaRPr lang="en-US" sz="1300" dirty="0"/>
          </a:p>
        </p:txBody>
      </p:sp>
      <p:sp>
        <p:nvSpPr>
          <p:cNvPr id="8" name="card-319"/>
          <p:cNvSpPr/>
          <p:nvPr/>
        </p:nvSpPr>
        <p:spPr>
          <a:xfrm>
            <a:off x="2953512" y="1920240"/>
            <a:ext cx="1993392" cy="749808"/>
          </a:xfrm>
          <a:prstGeom prst="roundRect">
            <a:avLst>
              <a:gd name="adj" fmla="val 12195"/>
            </a:avLst>
          </a:prstGeom>
          <a:solidFill>
            <a:schemeClr val="bg1"/>
          </a:solidFill>
          <a:ln w="15875">
            <a:solidFill>
              <a:schemeClr val="accent3"/>
            </a:solidFill>
            <a:prstDash val="solid"/>
          </a:ln>
        </p:spPr>
      </p:sp>
      <p:sp>
        <p:nvSpPr>
          <p:cNvPr id="9" name="text-320"/>
          <p:cNvSpPr txBox="1"/>
          <p:nvPr/>
        </p:nvSpPr>
        <p:spPr>
          <a:xfrm>
            <a:off x="3044952" y="1920240"/>
            <a:ext cx="1810512" cy="749808"/>
          </a:xfrm>
          <a:prstGeom prst="rect">
            <a:avLst/>
          </a:prstGeom>
          <a:noFill/>
          <a:ln/>
        </p:spPr>
        <p:txBody>
          <a:bodyPr wrap="square" lIns="0" tIns="0" rIns="0" bIns="0" rtlCol="0" anchor="ctr"/>
          <a:lstStyle/>
          <a:p>
            <a:pPr algn="ctr" indent="0" marL="0">
              <a:buNone/>
            </a:pPr>
            <a:r>
              <a:rPr lang="en-US" sz="1300" b="1" dirty="0">
                <a:solidFill>
                  <a:schemeClr val="tx1"/>
                </a:solidFill>
              </a:rPr>
              <a:t>Alice's token, aud = actor</a:t>
            </a:r>
            <a:endParaRPr lang="en-US" sz="1300" dirty="0"/>
          </a:p>
        </p:txBody>
      </p:sp>
      <p:sp>
        <p:nvSpPr>
          <p:cNvPr id="10" name="card-321"/>
          <p:cNvSpPr/>
          <p:nvPr/>
        </p:nvSpPr>
        <p:spPr>
          <a:xfrm>
            <a:off x="5129784" y="1920240"/>
            <a:ext cx="1993392" cy="749808"/>
          </a:xfrm>
          <a:prstGeom prst="roundRect">
            <a:avLst>
              <a:gd name="adj" fmla="val 12195"/>
            </a:avLst>
          </a:prstGeom>
          <a:solidFill>
            <a:schemeClr val="bg1"/>
          </a:solidFill>
          <a:ln w="15875">
            <a:solidFill>
              <a:schemeClr val="accent3"/>
            </a:solidFill>
            <a:prstDash val="solid"/>
          </a:ln>
        </p:spPr>
      </p:sp>
      <p:sp>
        <p:nvSpPr>
          <p:cNvPr id="11" name="text-322"/>
          <p:cNvSpPr txBox="1"/>
          <p:nvPr/>
        </p:nvSpPr>
        <p:spPr>
          <a:xfrm>
            <a:off x="5221224" y="1920240"/>
            <a:ext cx="1810512" cy="749808"/>
          </a:xfrm>
          <a:prstGeom prst="rect">
            <a:avLst/>
          </a:prstGeom>
          <a:noFill/>
          <a:ln/>
        </p:spPr>
        <p:txBody>
          <a:bodyPr wrap="square" lIns="0" tIns="0" rIns="0" bIns="0" rtlCol="0" anchor="ctr"/>
          <a:lstStyle/>
          <a:p>
            <a:pPr algn="ctr" indent="0" marL="0">
              <a:buNone/>
            </a:pPr>
            <a:r>
              <a:rPr lang="en-US" sz="1300" b="1" dirty="0">
                <a:solidFill>
                  <a:schemeClr val="tx1"/>
                </a:solidFill>
              </a:rPr>
              <a:t>may_act_for policy</a:t>
            </a:r>
            <a:endParaRPr lang="en-US" sz="1300" dirty="0"/>
          </a:p>
        </p:txBody>
      </p:sp>
      <p:sp>
        <p:nvSpPr>
          <p:cNvPr id="12" name="card-323"/>
          <p:cNvSpPr/>
          <p:nvPr/>
        </p:nvSpPr>
        <p:spPr>
          <a:xfrm>
            <a:off x="7306056" y="1920240"/>
            <a:ext cx="1993392" cy="749808"/>
          </a:xfrm>
          <a:prstGeom prst="roundRect">
            <a:avLst>
              <a:gd name="adj" fmla="val 12195"/>
            </a:avLst>
          </a:prstGeom>
          <a:solidFill>
            <a:schemeClr val="bg1"/>
          </a:solidFill>
          <a:ln w="15875">
            <a:solidFill>
              <a:schemeClr val="accent3"/>
            </a:solidFill>
            <a:prstDash val="solid"/>
          </a:ln>
        </p:spPr>
      </p:sp>
      <p:sp>
        <p:nvSpPr>
          <p:cNvPr id="13" name="text-324"/>
          <p:cNvSpPr txBox="1"/>
          <p:nvPr/>
        </p:nvSpPr>
        <p:spPr>
          <a:xfrm>
            <a:off x="7397496" y="1920240"/>
            <a:ext cx="1810512" cy="749808"/>
          </a:xfrm>
          <a:prstGeom prst="rect">
            <a:avLst/>
          </a:prstGeom>
          <a:noFill/>
          <a:ln/>
        </p:spPr>
        <p:txBody>
          <a:bodyPr wrap="square" lIns="0" tIns="0" rIns="0" bIns="0" rtlCol="0" anchor="ctr"/>
          <a:lstStyle/>
          <a:p>
            <a:pPr algn="ctr" indent="0" marL="0">
              <a:buNone/>
            </a:pPr>
            <a:r>
              <a:rPr lang="en-US" sz="1300" b="1" dirty="0">
                <a:solidFill>
                  <a:schemeClr val="tx1"/>
                </a:solidFill>
              </a:rPr>
              <a:t>scope ⊆ human ∩ actor</a:t>
            </a:r>
            <a:endParaRPr lang="en-US" sz="1300" dirty="0"/>
          </a:p>
        </p:txBody>
      </p:sp>
      <p:sp>
        <p:nvSpPr>
          <p:cNvPr id="14" name="card-325"/>
          <p:cNvSpPr/>
          <p:nvPr/>
        </p:nvSpPr>
        <p:spPr>
          <a:xfrm>
            <a:off x="9482328" y="1920240"/>
            <a:ext cx="1993392" cy="749808"/>
          </a:xfrm>
          <a:prstGeom prst="roundRect">
            <a:avLst>
              <a:gd name="adj" fmla="val 12195"/>
            </a:avLst>
          </a:prstGeom>
          <a:solidFill>
            <a:schemeClr val="bg1"/>
          </a:solidFill>
          <a:ln w="15875">
            <a:solidFill>
              <a:schemeClr val="accent3"/>
            </a:solidFill>
            <a:prstDash val="solid"/>
          </a:ln>
        </p:spPr>
      </p:sp>
      <p:sp>
        <p:nvSpPr>
          <p:cNvPr id="15" name="text-326"/>
          <p:cNvSpPr txBox="1"/>
          <p:nvPr/>
        </p:nvSpPr>
        <p:spPr>
          <a:xfrm>
            <a:off x="9573768" y="1920240"/>
            <a:ext cx="1810512" cy="749808"/>
          </a:xfrm>
          <a:prstGeom prst="rect">
            <a:avLst/>
          </a:prstGeom>
          <a:noFill/>
          <a:ln/>
        </p:spPr>
        <p:txBody>
          <a:bodyPr wrap="square" lIns="0" tIns="0" rIns="0" bIns="0" rtlCol="0" anchor="ctr"/>
          <a:lstStyle/>
          <a:p>
            <a:pPr algn="ctr" indent="0" marL="0">
              <a:buNone/>
            </a:pPr>
            <a:r>
              <a:rPr lang="en-US" sz="1300" b="1" dirty="0">
                <a:solidFill>
                  <a:schemeClr val="tx1"/>
                </a:solidFill>
              </a:rPr>
              <a:t>exp ≤ human exp</a:t>
            </a:r>
            <a:endParaRPr lang="en-US" sz="1300" dirty="0"/>
          </a:p>
        </p:txBody>
      </p:sp>
      <p:sp>
        <p:nvSpPr>
          <p:cNvPr id="16" name="arrow-327"/>
          <p:cNvSpPr/>
          <p:nvPr/>
        </p:nvSpPr>
        <p:spPr>
          <a:xfrm>
            <a:off x="6099048" y="2880360"/>
            <a:ext cx="0" cy="457200"/>
          </a:xfrm>
          <a:prstGeom prst="line">
            <a:avLst/>
          </a:prstGeom>
          <a:noFill/>
          <a:ln w="31750">
            <a:solidFill>
              <a:schemeClr val="accent3"/>
            </a:solidFill>
            <a:prstDash val="solid"/>
            <a:tailEnd type="triangle"/>
          </a:ln>
        </p:spPr>
      </p:sp>
      <p:sp>
        <p:nvSpPr>
          <p:cNvPr id="17" name="pill-328"/>
          <p:cNvSpPr txBox="1"/>
          <p:nvPr/>
        </p:nvSpPr>
        <p:spPr>
          <a:xfrm>
            <a:off x="6263640" y="2971800"/>
            <a:ext cx="2194560" cy="274320"/>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1100" b="1" dirty="0">
                <a:solidFill>
                  <a:schemeClr val="bg1"/>
                </a:solidFill>
              </a:rPr>
              <a:t>delegation JWT carries it</a:t>
            </a:r>
            <a:endParaRPr lang="en-US" sz="1100" dirty="0"/>
          </a:p>
        </p:txBody>
      </p:sp>
      <p:sp>
        <p:nvSpPr>
          <p:cNvPr id="18" name="text-329"/>
          <p:cNvSpPr txBox="1"/>
          <p:nvPr/>
        </p:nvSpPr>
        <p:spPr>
          <a:xfrm>
            <a:off x="548640" y="3401568"/>
            <a:ext cx="8229600" cy="27432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AT REQUEST TIME · INVENTORY SERVICE :8000 · GET /stock/{sku}</a:t>
            </a:r>
            <a:endParaRPr lang="en-US" sz="1100" dirty="0"/>
          </a:p>
        </p:txBody>
      </p:sp>
      <p:sp>
        <p:nvSpPr>
          <p:cNvPr id="19" name="card-330"/>
          <p:cNvSpPr/>
          <p:nvPr/>
        </p:nvSpPr>
        <p:spPr>
          <a:xfrm>
            <a:off x="548640" y="3767328"/>
            <a:ext cx="1261872" cy="1417320"/>
          </a:xfrm>
          <a:prstGeom prst="roundRect">
            <a:avLst>
              <a:gd name="adj" fmla="val 7246"/>
            </a:avLst>
          </a:prstGeom>
          <a:solidFill>
            <a:schemeClr val="bg2"/>
          </a:solidFill>
          <a:ln w="12700">
            <a:solidFill>
              <a:schemeClr val="bg2"/>
            </a:solidFill>
            <a:prstDash val="solid"/>
          </a:ln>
        </p:spPr>
      </p:sp>
      <p:sp>
        <p:nvSpPr>
          <p:cNvPr id="20" name="badge-331"/>
          <p:cNvSpPr txBox="1"/>
          <p:nvPr/>
        </p:nvSpPr>
        <p:spPr>
          <a:xfrm>
            <a:off x="950976" y="3877056"/>
            <a:ext cx="457200" cy="45720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800" b="1" dirty="0">
                <a:solidFill>
                  <a:schemeClr val="bg1"/>
                </a:solidFill>
              </a:rPr>
              <a:t>M</a:t>
            </a:r>
            <a:endParaRPr lang="en-US" sz="1800" dirty="0"/>
          </a:p>
        </p:txBody>
      </p:sp>
      <p:sp>
        <p:nvSpPr>
          <p:cNvPr id="21" name="text-332"/>
          <p:cNvSpPr txBox="1"/>
          <p:nvPr/>
        </p:nvSpPr>
        <p:spPr>
          <a:xfrm>
            <a:off x="594360" y="4407408"/>
            <a:ext cx="1170432" cy="384048"/>
          </a:xfrm>
          <a:prstGeom prst="rect">
            <a:avLst/>
          </a:prstGeom>
          <a:noFill/>
          <a:ln/>
        </p:spPr>
        <p:txBody>
          <a:bodyPr wrap="square" lIns="0" tIns="0" rIns="0" bIns="0" rtlCol="0" anchor="ctr"/>
          <a:lstStyle/>
          <a:p>
            <a:pPr algn="ctr" indent="0" marL="0">
              <a:buNone/>
            </a:pPr>
            <a:r>
              <a:rPr lang="en-US" sz="1200" b="1" dirty="0">
                <a:solidFill>
                  <a:schemeClr val="tx1"/>
                </a:solidFill>
              </a:rPr>
              <a:t>machine JWT</a:t>
            </a:r>
            <a:endParaRPr lang="en-US" sz="1200" dirty="0"/>
          </a:p>
        </p:txBody>
      </p:sp>
      <p:sp>
        <p:nvSpPr>
          <p:cNvPr id="22" name="pill-333"/>
          <p:cNvSpPr txBox="1"/>
          <p:nvPr/>
        </p:nvSpPr>
        <p:spPr>
          <a:xfrm>
            <a:off x="859536" y="4828032"/>
            <a:ext cx="640080" cy="246888"/>
          </a:xfrm>
          <a:prstGeom prst="roundRect">
            <a:avLst>
              <a:gd name="adj" fmla="val 55556"/>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401</a:t>
            </a:r>
            <a:endParaRPr lang="en-US" sz="1100" dirty="0"/>
          </a:p>
        </p:txBody>
      </p:sp>
      <p:sp>
        <p:nvSpPr>
          <p:cNvPr id="23" name="arrow-334"/>
          <p:cNvSpPr/>
          <p:nvPr/>
        </p:nvSpPr>
        <p:spPr>
          <a:xfrm>
            <a:off x="1810512" y="4480560"/>
            <a:ext cx="141732" cy="0"/>
          </a:xfrm>
          <a:prstGeom prst="line">
            <a:avLst/>
          </a:prstGeom>
          <a:noFill/>
          <a:ln w="19050">
            <a:solidFill>
              <a:schemeClr val="tx2"/>
            </a:solidFill>
            <a:prstDash val="solid"/>
            <a:tailEnd type="triangle"/>
          </a:ln>
        </p:spPr>
      </p:sp>
      <p:sp>
        <p:nvSpPr>
          <p:cNvPr id="24" name="card-335"/>
          <p:cNvSpPr/>
          <p:nvPr/>
        </p:nvSpPr>
        <p:spPr>
          <a:xfrm>
            <a:off x="1952244" y="3767328"/>
            <a:ext cx="1261872" cy="1417320"/>
          </a:xfrm>
          <a:prstGeom prst="roundRect">
            <a:avLst>
              <a:gd name="adj" fmla="val 7246"/>
            </a:avLst>
          </a:prstGeom>
          <a:solidFill>
            <a:schemeClr val="bg2"/>
          </a:solidFill>
          <a:ln w="12700">
            <a:solidFill>
              <a:schemeClr val="bg2"/>
            </a:solidFill>
            <a:prstDash val="solid"/>
          </a:ln>
        </p:spPr>
      </p:sp>
      <p:sp>
        <p:nvSpPr>
          <p:cNvPr id="25" name="badge-336"/>
          <p:cNvSpPr txBox="1"/>
          <p:nvPr/>
        </p:nvSpPr>
        <p:spPr>
          <a:xfrm>
            <a:off x="2354580" y="3877056"/>
            <a:ext cx="457200" cy="45720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26" name="text-337"/>
          <p:cNvSpPr txBox="1"/>
          <p:nvPr/>
        </p:nvSpPr>
        <p:spPr>
          <a:xfrm>
            <a:off x="1997964" y="4407408"/>
            <a:ext cx="1170432" cy="384048"/>
          </a:xfrm>
          <a:prstGeom prst="rect">
            <a:avLst/>
          </a:prstGeom>
          <a:noFill/>
          <a:ln/>
        </p:spPr>
        <p:txBody>
          <a:bodyPr wrap="square" lIns="0" tIns="0" rIns="0" bIns="0" rtlCol="0" anchor="ctr"/>
          <a:lstStyle/>
          <a:p>
            <a:pPr algn="ctr" indent="0" marL="0">
              <a:buNone/>
            </a:pPr>
            <a:r>
              <a:rPr lang="en-US" sz="1200" b="1" dirty="0">
                <a:solidFill>
                  <a:schemeClr val="tx1"/>
                </a:solidFill>
              </a:rPr>
              <a:t>delegation JWT</a:t>
            </a:r>
            <a:endParaRPr lang="en-US" sz="1200" dirty="0"/>
          </a:p>
        </p:txBody>
      </p:sp>
      <p:sp>
        <p:nvSpPr>
          <p:cNvPr id="27" name="pill-338"/>
          <p:cNvSpPr txBox="1"/>
          <p:nvPr/>
        </p:nvSpPr>
        <p:spPr>
          <a:xfrm>
            <a:off x="2263140" y="4828032"/>
            <a:ext cx="640080" cy="246888"/>
          </a:xfrm>
          <a:prstGeom prst="roundRect">
            <a:avLst>
              <a:gd name="adj" fmla="val 55556"/>
            </a:avLst>
          </a:prstGeom>
          <a:solidFill>
            <a:schemeClr val="accent3"/>
          </a:solidFill>
          <a:ln>
            <a:solidFill>
              <a:schemeClr val="accent3"/>
            </a:solidFill>
          </a:ln>
        </p:spPr>
        <p:txBody>
          <a:bodyPr wrap="square" lIns="0" tIns="0" rIns="0" bIns="0" rtlCol="0" anchor="ctr"/>
          <a:lstStyle/>
          <a:p>
            <a:pPr algn="ctr" indent="0" marL="0">
              <a:buNone/>
            </a:pPr>
            <a:r>
              <a:rPr lang="en-US" sz="1100" b="1" dirty="0">
                <a:solidFill>
                  <a:schemeClr val="bg1"/>
                </a:solidFill>
              </a:rPr>
              <a:t>401</a:t>
            </a:r>
            <a:endParaRPr lang="en-US" sz="1100" dirty="0"/>
          </a:p>
        </p:txBody>
      </p:sp>
      <p:sp>
        <p:nvSpPr>
          <p:cNvPr id="28" name="arrow-339"/>
          <p:cNvSpPr/>
          <p:nvPr/>
        </p:nvSpPr>
        <p:spPr>
          <a:xfrm>
            <a:off x="3214116" y="4480560"/>
            <a:ext cx="141732" cy="0"/>
          </a:xfrm>
          <a:prstGeom prst="line">
            <a:avLst/>
          </a:prstGeom>
          <a:noFill/>
          <a:ln w="19050">
            <a:solidFill>
              <a:schemeClr val="tx2"/>
            </a:solidFill>
            <a:prstDash val="solid"/>
            <a:tailEnd type="triangle"/>
          </a:ln>
        </p:spPr>
      </p:sp>
      <p:sp>
        <p:nvSpPr>
          <p:cNvPr id="29" name="card-340"/>
          <p:cNvSpPr/>
          <p:nvPr/>
        </p:nvSpPr>
        <p:spPr>
          <a:xfrm>
            <a:off x="3355848" y="3767328"/>
            <a:ext cx="1261872" cy="1417320"/>
          </a:xfrm>
          <a:prstGeom prst="roundRect">
            <a:avLst>
              <a:gd name="adj" fmla="val 7246"/>
            </a:avLst>
          </a:prstGeom>
          <a:solidFill>
            <a:schemeClr val="bg2"/>
          </a:solidFill>
          <a:ln w="12700">
            <a:solidFill>
              <a:schemeClr val="bg2"/>
            </a:solidFill>
            <a:prstDash val="solid"/>
          </a:ln>
        </p:spPr>
      </p:sp>
      <p:sp>
        <p:nvSpPr>
          <p:cNvPr id="30" name="badge-341"/>
          <p:cNvSpPr txBox="1"/>
          <p:nvPr/>
        </p:nvSpPr>
        <p:spPr>
          <a:xfrm>
            <a:off x="3758184" y="3877056"/>
            <a:ext cx="457200" cy="45720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31" name="text-342"/>
          <p:cNvSpPr txBox="1"/>
          <p:nvPr/>
        </p:nvSpPr>
        <p:spPr>
          <a:xfrm>
            <a:off x="3401568" y="4407408"/>
            <a:ext cx="1170432" cy="384048"/>
          </a:xfrm>
          <a:prstGeom prst="rect">
            <a:avLst/>
          </a:prstGeom>
          <a:noFill/>
          <a:ln/>
        </p:spPr>
        <p:txBody>
          <a:bodyPr wrap="square" lIns="0" tIns="0" rIns="0" bIns="0" rtlCol="0" anchor="ctr"/>
          <a:lstStyle/>
          <a:p>
            <a:pPr algn="ctr" indent="0" marL="0">
              <a:buNone/>
            </a:pPr>
            <a:r>
              <a:rPr lang="en-US" sz="1200" b="1" dirty="0">
                <a:solidFill>
                  <a:schemeClr val="tx1"/>
                </a:solidFill>
              </a:rPr>
              <a:t>act.sub = sub</a:t>
            </a:r>
            <a:endParaRPr lang="en-US" sz="1200" dirty="0"/>
          </a:p>
        </p:txBody>
      </p:sp>
      <p:sp>
        <p:nvSpPr>
          <p:cNvPr id="32" name="pill-343"/>
          <p:cNvSpPr txBox="1"/>
          <p:nvPr/>
        </p:nvSpPr>
        <p:spPr>
          <a:xfrm>
            <a:off x="3666744" y="4828032"/>
            <a:ext cx="640080" cy="246888"/>
          </a:xfrm>
          <a:prstGeom prst="roundRect">
            <a:avLst>
              <a:gd name="adj" fmla="val 55556"/>
            </a:avLst>
          </a:prstGeom>
          <a:solidFill>
            <a:schemeClr val="accent3"/>
          </a:solidFill>
          <a:ln>
            <a:solidFill>
              <a:schemeClr val="accent3"/>
            </a:solidFill>
          </a:ln>
        </p:spPr>
        <p:txBody>
          <a:bodyPr wrap="square" lIns="0" tIns="0" rIns="0" bIns="0" rtlCol="0" anchor="ctr"/>
          <a:lstStyle/>
          <a:p>
            <a:pPr algn="ctr" indent="0" marL="0">
              <a:buNone/>
            </a:pPr>
            <a:r>
              <a:rPr lang="en-US" sz="1100" b="1" dirty="0">
                <a:solidFill>
                  <a:schemeClr val="bg1"/>
                </a:solidFill>
              </a:rPr>
              <a:t>401</a:t>
            </a:r>
            <a:endParaRPr lang="en-US" sz="1100" dirty="0"/>
          </a:p>
        </p:txBody>
      </p:sp>
      <p:sp>
        <p:nvSpPr>
          <p:cNvPr id="33" name="arrow-344"/>
          <p:cNvSpPr/>
          <p:nvPr/>
        </p:nvSpPr>
        <p:spPr>
          <a:xfrm>
            <a:off x="4617720" y="4480560"/>
            <a:ext cx="141732" cy="0"/>
          </a:xfrm>
          <a:prstGeom prst="line">
            <a:avLst/>
          </a:prstGeom>
          <a:noFill/>
          <a:ln w="19050">
            <a:solidFill>
              <a:schemeClr val="tx2"/>
            </a:solidFill>
            <a:prstDash val="solid"/>
            <a:tailEnd type="triangle"/>
          </a:ln>
        </p:spPr>
      </p:sp>
      <p:sp>
        <p:nvSpPr>
          <p:cNvPr id="34" name="card-345"/>
          <p:cNvSpPr/>
          <p:nvPr/>
        </p:nvSpPr>
        <p:spPr>
          <a:xfrm>
            <a:off x="4759452" y="3767328"/>
            <a:ext cx="1261872" cy="1417320"/>
          </a:xfrm>
          <a:prstGeom prst="roundRect">
            <a:avLst>
              <a:gd name="adj" fmla="val 7246"/>
            </a:avLst>
          </a:prstGeom>
          <a:solidFill>
            <a:schemeClr val="bg2"/>
          </a:solidFill>
          <a:ln w="12700">
            <a:solidFill>
              <a:schemeClr val="bg2"/>
            </a:solidFill>
            <a:prstDash val="solid"/>
          </a:ln>
        </p:spPr>
      </p:sp>
      <p:sp>
        <p:nvSpPr>
          <p:cNvPr id="35" name="badge-346"/>
          <p:cNvSpPr txBox="1"/>
          <p:nvPr/>
        </p:nvSpPr>
        <p:spPr>
          <a:xfrm>
            <a:off x="5161788" y="3877056"/>
            <a:ext cx="457200" cy="457200"/>
          </a:xfrm>
          <a:prstGeom prst="ellipse">
            <a:avLst/>
          </a:prstGeom>
          <a:solidFill>
            <a:schemeClr val="accent6"/>
          </a:solidFill>
          <a:ln>
            <a:solidFill>
              <a:schemeClr val="accent6"/>
            </a:solid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36" name="text-347"/>
          <p:cNvSpPr txBox="1"/>
          <p:nvPr/>
        </p:nvSpPr>
        <p:spPr>
          <a:xfrm>
            <a:off x="4805172" y="4407408"/>
            <a:ext cx="1170432" cy="384048"/>
          </a:xfrm>
          <a:prstGeom prst="rect">
            <a:avLst/>
          </a:prstGeom>
          <a:noFill/>
          <a:ln/>
        </p:spPr>
        <p:txBody>
          <a:bodyPr wrap="square" lIns="0" tIns="0" rIns="0" bIns="0" rtlCol="0" anchor="ctr"/>
          <a:lstStyle/>
          <a:p>
            <a:pPr algn="ctr" indent="0" marL="0">
              <a:buNone/>
            </a:pPr>
            <a:r>
              <a:rPr lang="en-US" sz="1200" b="1" dirty="0">
                <a:solidFill>
                  <a:schemeClr val="tx1"/>
                </a:solidFill>
              </a:rPr>
              <a:t>classify SKU</a:t>
            </a:r>
            <a:endParaRPr lang="en-US" sz="1200" dirty="0"/>
          </a:p>
        </p:txBody>
      </p:sp>
      <p:sp>
        <p:nvSpPr>
          <p:cNvPr id="37" name="pill-348"/>
          <p:cNvSpPr txBox="1"/>
          <p:nvPr/>
        </p:nvSpPr>
        <p:spPr>
          <a:xfrm>
            <a:off x="5070348" y="4828032"/>
            <a:ext cx="640080" cy="246888"/>
          </a:xfrm>
          <a:prstGeom prst="roundRect">
            <a:avLst>
              <a:gd name="adj" fmla="val 55556"/>
            </a:avLst>
          </a:prstGeom>
          <a:solidFill>
            <a:schemeClr val="accent6"/>
          </a:solidFill>
          <a:ln>
            <a:solidFill>
              <a:schemeClr val="accent6"/>
            </a:solidFill>
          </a:ln>
        </p:spPr>
        <p:txBody>
          <a:bodyPr wrap="square" lIns="0" tIns="0" rIns="0" bIns="0" rtlCol="0" anchor="ctr"/>
          <a:lstStyle/>
          <a:p>
            <a:pPr algn="ctr" indent="0" marL="0">
              <a:buNone/>
            </a:pPr>
            <a:r>
              <a:rPr lang="en-US" sz="1100" b="1" dirty="0">
                <a:solidFill>
                  <a:schemeClr val="bg1"/>
                </a:solidFill>
              </a:rPr>
              <a:t>404</a:t>
            </a:r>
            <a:endParaRPr lang="en-US" sz="1100" dirty="0"/>
          </a:p>
        </p:txBody>
      </p:sp>
      <p:sp>
        <p:nvSpPr>
          <p:cNvPr id="38" name="arrow-349"/>
          <p:cNvSpPr/>
          <p:nvPr/>
        </p:nvSpPr>
        <p:spPr>
          <a:xfrm>
            <a:off x="6021324" y="4480560"/>
            <a:ext cx="141732" cy="0"/>
          </a:xfrm>
          <a:prstGeom prst="line">
            <a:avLst/>
          </a:prstGeom>
          <a:noFill/>
          <a:ln w="19050">
            <a:solidFill>
              <a:schemeClr val="tx2"/>
            </a:solidFill>
            <a:prstDash val="solid"/>
            <a:tailEnd type="triangle"/>
          </a:ln>
        </p:spPr>
      </p:sp>
      <p:sp>
        <p:nvSpPr>
          <p:cNvPr id="39" name="card-350"/>
          <p:cNvSpPr/>
          <p:nvPr/>
        </p:nvSpPr>
        <p:spPr>
          <a:xfrm>
            <a:off x="6163056" y="3767328"/>
            <a:ext cx="1261872" cy="1417320"/>
          </a:xfrm>
          <a:prstGeom prst="roundRect">
            <a:avLst>
              <a:gd name="adj" fmla="val 7246"/>
            </a:avLst>
          </a:prstGeom>
          <a:solidFill>
            <a:schemeClr val="bg2"/>
          </a:solidFill>
          <a:ln w="12700">
            <a:solidFill>
              <a:schemeClr val="bg2"/>
            </a:solidFill>
            <a:prstDash val="solid"/>
          </a:ln>
        </p:spPr>
      </p:sp>
      <p:sp>
        <p:nvSpPr>
          <p:cNvPr id="40" name="badge-351"/>
          <p:cNvSpPr txBox="1"/>
          <p:nvPr/>
        </p:nvSpPr>
        <p:spPr>
          <a:xfrm>
            <a:off x="6565392" y="3877056"/>
            <a:ext cx="457200" cy="457200"/>
          </a:xfrm>
          <a:prstGeom prst="ellipse">
            <a:avLst/>
          </a:prstGeom>
          <a:solidFill>
            <a:schemeClr val="tx1"/>
          </a:solidFill>
          <a:ln>
            <a:solidFill>
              <a:schemeClr val="tx1"/>
            </a:solidFill>
          </a:ln>
        </p:spPr>
        <p:txBody>
          <a:bodyPr wrap="square" lIns="0" tIns="0" rIns="0" bIns="0" rtlCol="0" anchor="ctr"/>
          <a:lstStyle/>
          <a:p>
            <a:pPr algn="ctr" indent="0" marL="0">
              <a:buNone/>
            </a:pPr>
            <a:r>
              <a:rPr lang="en-US" sz="1800" b="1" dirty="0">
                <a:solidFill>
                  <a:schemeClr val="bg1"/>
                </a:solidFill>
              </a:rPr>
              <a:t>S</a:t>
            </a:r>
            <a:endParaRPr lang="en-US" sz="1800" dirty="0"/>
          </a:p>
        </p:txBody>
      </p:sp>
      <p:sp>
        <p:nvSpPr>
          <p:cNvPr id="41" name="text-352"/>
          <p:cNvSpPr txBox="1"/>
          <p:nvPr/>
        </p:nvSpPr>
        <p:spPr>
          <a:xfrm>
            <a:off x="6208776" y="4407408"/>
            <a:ext cx="1170432" cy="384048"/>
          </a:xfrm>
          <a:prstGeom prst="rect">
            <a:avLst/>
          </a:prstGeom>
          <a:noFill/>
          <a:ln/>
        </p:spPr>
        <p:txBody>
          <a:bodyPr wrap="square" lIns="0" tIns="0" rIns="0" bIns="0" rtlCol="0" anchor="ctr"/>
          <a:lstStyle/>
          <a:p>
            <a:pPr algn="ctr" indent="0" marL="0">
              <a:buNone/>
            </a:pPr>
            <a:r>
              <a:rPr lang="en-US" sz="1200" b="1" dirty="0">
                <a:solidFill>
                  <a:schemeClr val="tx1"/>
                </a:solidFill>
              </a:rPr>
              <a:t>machine scope</a:t>
            </a:r>
            <a:endParaRPr lang="en-US" sz="1200" dirty="0"/>
          </a:p>
        </p:txBody>
      </p:sp>
      <p:sp>
        <p:nvSpPr>
          <p:cNvPr id="42" name="pill-353"/>
          <p:cNvSpPr txBox="1"/>
          <p:nvPr/>
        </p:nvSpPr>
        <p:spPr>
          <a:xfrm>
            <a:off x="6473952" y="4828032"/>
            <a:ext cx="640080" cy="246888"/>
          </a:xfrm>
          <a:prstGeom prst="roundRect">
            <a:avLst>
              <a:gd name="adj" fmla="val 55556"/>
            </a:avLst>
          </a:prstGeom>
          <a:solidFill>
            <a:schemeClr val="tx1"/>
          </a:solidFill>
          <a:ln>
            <a:solidFill>
              <a:schemeClr val="tx1"/>
            </a:solidFill>
          </a:ln>
        </p:spPr>
        <p:txBody>
          <a:bodyPr wrap="square" lIns="0" tIns="0" rIns="0" bIns="0" rtlCol="0" anchor="ctr"/>
          <a:lstStyle/>
          <a:p>
            <a:pPr algn="ctr" indent="0" marL="0">
              <a:buNone/>
            </a:pPr>
            <a:r>
              <a:rPr lang="en-US" sz="1100" b="1" dirty="0">
                <a:solidFill>
                  <a:schemeClr val="bg1"/>
                </a:solidFill>
              </a:rPr>
              <a:t>403</a:t>
            </a:r>
            <a:endParaRPr lang="en-US" sz="1100" dirty="0"/>
          </a:p>
        </p:txBody>
      </p:sp>
      <p:sp>
        <p:nvSpPr>
          <p:cNvPr id="43" name="arrow-354"/>
          <p:cNvSpPr/>
          <p:nvPr/>
        </p:nvSpPr>
        <p:spPr>
          <a:xfrm>
            <a:off x="7424928" y="4480560"/>
            <a:ext cx="141732" cy="0"/>
          </a:xfrm>
          <a:prstGeom prst="line">
            <a:avLst/>
          </a:prstGeom>
          <a:noFill/>
          <a:ln w="19050">
            <a:solidFill>
              <a:schemeClr val="tx2"/>
            </a:solidFill>
            <a:prstDash val="solid"/>
            <a:tailEnd type="triangle"/>
          </a:ln>
        </p:spPr>
      </p:sp>
      <p:sp>
        <p:nvSpPr>
          <p:cNvPr id="44" name="card-355"/>
          <p:cNvSpPr/>
          <p:nvPr/>
        </p:nvSpPr>
        <p:spPr>
          <a:xfrm>
            <a:off x="7566660" y="3767328"/>
            <a:ext cx="1261872" cy="1417320"/>
          </a:xfrm>
          <a:prstGeom prst="roundRect">
            <a:avLst>
              <a:gd name="adj" fmla="val 7246"/>
            </a:avLst>
          </a:prstGeom>
          <a:solidFill>
            <a:schemeClr val="bg2"/>
          </a:solidFill>
          <a:ln w="12700">
            <a:solidFill>
              <a:schemeClr val="bg2"/>
            </a:solidFill>
            <a:prstDash val="solid"/>
          </a:ln>
        </p:spPr>
      </p:sp>
      <p:sp>
        <p:nvSpPr>
          <p:cNvPr id="45" name="badge-356"/>
          <p:cNvSpPr txBox="1"/>
          <p:nvPr/>
        </p:nvSpPr>
        <p:spPr>
          <a:xfrm>
            <a:off x="7968996" y="3877056"/>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H</a:t>
            </a:r>
            <a:endParaRPr lang="en-US" sz="1800" dirty="0"/>
          </a:p>
        </p:txBody>
      </p:sp>
      <p:sp>
        <p:nvSpPr>
          <p:cNvPr id="46" name="text-357"/>
          <p:cNvSpPr txBox="1"/>
          <p:nvPr/>
        </p:nvSpPr>
        <p:spPr>
          <a:xfrm>
            <a:off x="7612380" y="4407408"/>
            <a:ext cx="1170432" cy="384048"/>
          </a:xfrm>
          <a:prstGeom prst="rect">
            <a:avLst/>
          </a:prstGeom>
          <a:noFill/>
          <a:ln/>
        </p:spPr>
        <p:txBody>
          <a:bodyPr wrap="square" lIns="0" tIns="0" rIns="0" bIns="0" rtlCol="0" anchor="ctr"/>
          <a:lstStyle/>
          <a:p>
            <a:pPr algn="ctr" indent="0" marL="0">
              <a:buNone/>
            </a:pPr>
            <a:r>
              <a:rPr lang="en-US" sz="1200" b="1" dirty="0">
                <a:solidFill>
                  <a:schemeClr val="tx1"/>
                </a:solidFill>
              </a:rPr>
              <a:t>delegated scope</a:t>
            </a:r>
            <a:endParaRPr lang="en-US" sz="1200" dirty="0"/>
          </a:p>
        </p:txBody>
      </p:sp>
      <p:sp>
        <p:nvSpPr>
          <p:cNvPr id="47" name="pill-358"/>
          <p:cNvSpPr txBox="1"/>
          <p:nvPr/>
        </p:nvSpPr>
        <p:spPr>
          <a:xfrm>
            <a:off x="7877556" y="4828032"/>
            <a:ext cx="640080" cy="246888"/>
          </a:xfrm>
          <a:prstGeom prst="roundRect">
            <a:avLst>
              <a:gd name="adj" fmla="val 55556"/>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403</a:t>
            </a:r>
            <a:endParaRPr lang="en-US" sz="1100" dirty="0"/>
          </a:p>
        </p:txBody>
      </p:sp>
      <p:sp>
        <p:nvSpPr>
          <p:cNvPr id="48" name="arrow-359"/>
          <p:cNvSpPr/>
          <p:nvPr/>
        </p:nvSpPr>
        <p:spPr>
          <a:xfrm>
            <a:off x="8828532" y="4480560"/>
            <a:ext cx="141732" cy="0"/>
          </a:xfrm>
          <a:prstGeom prst="line">
            <a:avLst/>
          </a:prstGeom>
          <a:noFill/>
          <a:ln w="19050">
            <a:solidFill>
              <a:schemeClr val="tx2"/>
            </a:solidFill>
            <a:prstDash val="solid"/>
            <a:tailEnd type="triangle"/>
          </a:ln>
        </p:spPr>
      </p:sp>
      <p:sp>
        <p:nvSpPr>
          <p:cNvPr id="49" name="card-360"/>
          <p:cNvSpPr/>
          <p:nvPr/>
        </p:nvSpPr>
        <p:spPr>
          <a:xfrm>
            <a:off x="8970264" y="3767328"/>
            <a:ext cx="1261872" cy="1417320"/>
          </a:xfrm>
          <a:prstGeom prst="roundRect">
            <a:avLst>
              <a:gd name="adj" fmla="val 7246"/>
            </a:avLst>
          </a:prstGeom>
          <a:solidFill>
            <a:schemeClr val="bg2"/>
          </a:solidFill>
          <a:ln w="12700">
            <a:solidFill>
              <a:schemeClr val="bg2"/>
            </a:solidFill>
            <a:prstDash val="solid"/>
          </a:ln>
        </p:spPr>
      </p:sp>
      <p:sp>
        <p:nvSpPr>
          <p:cNvPr id="50" name="badge-361"/>
          <p:cNvSpPr txBox="1"/>
          <p:nvPr/>
        </p:nvSpPr>
        <p:spPr>
          <a:xfrm>
            <a:off x="9372600" y="3877056"/>
            <a:ext cx="457200" cy="457200"/>
          </a:xfrm>
          <a:prstGeom prst="ellipse">
            <a:avLst/>
          </a:prstGeom>
          <a:solidFill>
            <a:schemeClr val="tx1"/>
          </a:solidFill>
          <a:ln>
            <a:solidFill>
              <a:schemeClr val="tx1"/>
            </a:solidFill>
          </a:ln>
        </p:spPr>
        <p:txBody>
          <a:bodyPr wrap="square" lIns="0" tIns="0" rIns="0" bIns="0" rtlCol="0" anchor="ctr"/>
          <a:lstStyle/>
          <a:p>
            <a:pPr algn="ctr" indent="0" marL="0">
              <a:buNone/>
            </a:pPr>
            <a:r>
              <a:rPr lang="en-US" sz="1800" b="1" dirty="0">
                <a:solidFill>
                  <a:schemeClr val="bg1"/>
                </a:solidFill>
              </a:rPr>
              <a:t>S</a:t>
            </a:r>
            <a:endParaRPr lang="en-US" sz="1800" dirty="0"/>
          </a:p>
        </p:txBody>
      </p:sp>
      <p:sp>
        <p:nvSpPr>
          <p:cNvPr id="51" name="text-362"/>
          <p:cNvSpPr txBox="1"/>
          <p:nvPr/>
        </p:nvSpPr>
        <p:spPr>
          <a:xfrm>
            <a:off x="9015984" y="4407408"/>
            <a:ext cx="1170432" cy="384048"/>
          </a:xfrm>
          <a:prstGeom prst="rect">
            <a:avLst/>
          </a:prstGeom>
          <a:noFill/>
          <a:ln/>
        </p:spPr>
        <p:txBody>
          <a:bodyPr wrap="square" lIns="0" tIns="0" rIns="0" bIns="0" rtlCol="0" anchor="ctr"/>
          <a:lstStyle/>
          <a:p>
            <a:pPr algn="ctr" indent="0" marL="0">
              <a:buNone/>
            </a:pPr>
            <a:r>
              <a:rPr lang="en-US" sz="1200" b="1" dirty="0">
                <a:solidFill>
                  <a:schemeClr val="tx1"/>
                </a:solidFill>
              </a:rPr>
              <a:t>role policy</a:t>
            </a:r>
            <a:endParaRPr lang="en-US" sz="1200" dirty="0"/>
          </a:p>
        </p:txBody>
      </p:sp>
      <p:sp>
        <p:nvSpPr>
          <p:cNvPr id="52" name="pill-363"/>
          <p:cNvSpPr txBox="1"/>
          <p:nvPr/>
        </p:nvSpPr>
        <p:spPr>
          <a:xfrm>
            <a:off x="9281160" y="4828032"/>
            <a:ext cx="640080" cy="246888"/>
          </a:xfrm>
          <a:prstGeom prst="roundRect">
            <a:avLst>
              <a:gd name="adj" fmla="val 55556"/>
            </a:avLst>
          </a:prstGeom>
          <a:solidFill>
            <a:schemeClr val="tx1"/>
          </a:solidFill>
          <a:ln>
            <a:solidFill>
              <a:schemeClr val="tx1"/>
            </a:solidFill>
          </a:ln>
        </p:spPr>
        <p:txBody>
          <a:bodyPr wrap="square" lIns="0" tIns="0" rIns="0" bIns="0" rtlCol="0" anchor="ctr"/>
          <a:lstStyle/>
          <a:p>
            <a:pPr algn="ctr" indent="0" marL="0">
              <a:buNone/>
            </a:pPr>
            <a:r>
              <a:rPr lang="en-US" sz="1100" b="1" dirty="0">
                <a:solidFill>
                  <a:schemeClr val="bg1"/>
                </a:solidFill>
              </a:rPr>
              <a:t>403</a:t>
            </a:r>
            <a:endParaRPr lang="en-US" sz="1100" dirty="0"/>
          </a:p>
        </p:txBody>
      </p:sp>
      <p:sp>
        <p:nvSpPr>
          <p:cNvPr id="53" name="arrow-364"/>
          <p:cNvSpPr/>
          <p:nvPr/>
        </p:nvSpPr>
        <p:spPr>
          <a:xfrm>
            <a:off x="10232136" y="4480560"/>
            <a:ext cx="141732" cy="0"/>
          </a:xfrm>
          <a:prstGeom prst="line">
            <a:avLst/>
          </a:prstGeom>
          <a:noFill/>
          <a:ln w="19050">
            <a:solidFill>
              <a:schemeClr val="tx2"/>
            </a:solidFill>
            <a:prstDash val="solid"/>
            <a:tailEnd type="triangle"/>
          </a:ln>
        </p:spPr>
      </p:sp>
      <p:sp>
        <p:nvSpPr>
          <p:cNvPr id="54" name="card-365"/>
          <p:cNvSpPr/>
          <p:nvPr/>
        </p:nvSpPr>
        <p:spPr>
          <a:xfrm>
            <a:off x="10373868" y="3767328"/>
            <a:ext cx="1261872" cy="1417320"/>
          </a:xfrm>
          <a:prstGeom prst="roundRect">
            <a:avLst>
              <a:gd name="adj" fmla="val 7246"/>
            </a:avLst>
          </a:prstGeom>
          <a:solidFill>
            <a:schemeClr val="bg2"/>
          </a:solidFill>
          <a:ln w="12700">
            <a:solidFill>
              <a:schemeClr val="bg2"/>
            </a:solidFill>
            <a:prstDash val="solid"/>
          </a:ln>
        </p:spPr>
      </p:sp>
      <p:sp>
        <p:nvSpPr>
          <p:cNvPr id="55" name="badge-366"/>
          <p:cNvSpPr txBox="1"/>
          <p:nvPr/>
        </p:nvSpPr>
        <p:spPr>
          <a:xfrm>
            <a:off x="10776204" y="3877056"/>
            <a:ext cx="457200" cy="457200"/>
          </a:xfrm>
          <a:prstGeom prst="ellipse">
            <a:avLst/>
          </a:prstGeom>
          <a:solidFill>
            <a:schemeClr val="accent6"/>
          </a:solidFill>
          <a:ln>
            <a:solidFill>
              <a:schemeClr val="accent6"/>
            </a:solid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56" name="text-367"/>
          <p:cNvSpPr txBox="1"/>
          <p:nvPr/>
        </p:nvSpPr>
        <p:spPr>
          <a:xfrm>
            <a:off x="10419588" y="4407408"/>
            <a:ext cx="1170432" cy="384048"/>
          </a:xfrm>
          <a:prstGeom prst="rect">
            <a:avLst/>
          </a:prstGeom>
          <a:noFill/>
          <a:ln/>
        </p:spPr>
        <p:txBody>
          <a:bodyPr wrap="square" lIns="0" tIns="0" rIns="0" bIns="0" rtlCol="0" anchor="ctr"/>
          <a:lstStyle/>
          <a:p>
            <a:pPr algn="ctr" indent="0" marL="0">
              <a:buNone/>
            </a:pPr>
            <a:r>
              <a:rPr lang="en-US" sz="1200" b="1" dirty="0">
                <a:solidFill>
                  <a:schemeClr val="tx1"/>
                </a:solidFill>
              </a:rPr>
              <a:t>SQLite read</a:t>
            </a:r>
            <a:endParaRPr lang="en-US" sz="1200" dirty="0"/>
          </a:p>
        </p:txBody>
      </p:sp>
      <p:sp>
        <p:nvSpPr>
          <p:cNvPr id="57" name="pill-368"/>
          <p:cNvSpPr txBox="1"/>
          <p:nvPr/>
        </p:nvSpPr>
        <p:spPr>
          <a:xfrm>
            <a:off x="10684764" y="4828032"/>
            <a:ext cx="640080" cy="246888"/>
          </a:xfrm>
          <a:prstGeom prst="roundRect">
            <a:avLst>
              <a:gd name="adj" fmla="val 55556"/>
            </a:avLst>
          </a:prstGeom>
          <a:solidFill>
            <a:schemeClr val="accent6"/>
          </a:solidFill>
          <a:ln>
            <a:solidFill>
              <a:schemeClr val="accent6"/>
            </a:solidFill>
          </a:ln>
        </p:spPr>
        <p:txBody>
          <a:bodyPr wrap="square" lIns="0" tIns="0" rIns="0" bIns="0" rtlCol="0" anchor="ctr"/>
          <a:lstStyle/>
          <a:p>
            <a:pPr algn="ctr" indent="0" marL="0">
              <a:buNone/>
            </a:pPr>
            <a:r>
              <a:rPr lang="en-US" sz="1100" b="1" dirty="0">
                <a:solidFill>
                  <a:schemeClr val="bg1"/>
                </a:solidFill>
              </a:rPr>
              <a:t>200</a:t>
            </a:r>
            <a:endParaRPr lang="en-US" sz="1100" dirty="0"/>
          </a:p>
        </p:txBody>
      </p:sp>
      <p:sp>
        <p:nvSpPr>
          <p:cNvPr id="58" name="text-369"/>
          <p:cNvSpPr txBox="1"/>
          <p:nvPr/>
        </p:nvSpPr>
        <p:spPr>
          <a:xfrm>
            <a:off x="548640" y="5349240"/>
            <a:ext cx="11064240" cy="777240"/>
          </a:xfrm>
          <a:prstGeom prst="rect">
            <a:avLst/>
          </a:prstGeom>
          <a:noFill/>
          <a:ln/>
        </p:spPr>
        <p:txBody>
          <a:bodyPr wrap="square" lIns="0" tIns="0" rIns="0" bIns="0" rtlCol="0" anchor="t"/>
          <a:lstStyle/>
          <a:p>
            <a:pPr indent="0" marL="0">
              <a:buNone/>
            </a:pPr>
            <a:r>
              <a:rPr lang="en-US" sz="1400" b="1" dirty="0">
                <a:solidFill>
                  <a:schemeClr val="tx2"/>
                </a:solidFill>
              </a:rPr>
              <a:t>Fail fast, in order: </a:t>
            </a:r>
            <a:pPr indent="0" marL="0">
              <a:buNone/>
            </a:pPr>
            <a:r>
              <a:rPr lang="en-US" sz="1400" dirty="0">
                <a:solidFill>
                  <a:schemeClr val="tx2"/>
                </a:solidFill>
              </a:rPr>
              <a:t>identity failures are 401 and never classify the SKU; permission failures are 403 and never read details. The required permission is computed from the record's class, never from the request.</a:t>
            </a:r>
            <a:endParaRPr lang="en-US" sz="14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274320"/>
          </a:xfrm>
          <a:prstGeom prst="rect">
            <a:avLst/>
          </a:prstGeom>
          <a:noFill/>
          <a:ln/>
        </p:spPr>
        <p:txBody>
          <a:bodyPr wrap="square" lIns="0" tIns="0" rIns="0" bIns="0" rtlCol="0"/>
          <a:lstStyle/>
          <a:p>
            <a:pPr indent="0" marL="0">
              <a:buNone/>
            </a:pPr>
            <a:r>
              <a:rPr lang="en-US" sz="1200" b="1" dirty="0">
                <a:solidFill>
                  <a:schemeClr val="accent1"/>
                </a:solidFill>
                <a:latin typeface="Courier New" pitchFamily="34" charset="0"/>
                <a:ea typeface="Courier New" pitchFamily="34" charset="-122"/>
                <a:cs typeface="Courier New" pitchFamily="34" charset="-120"/>
              </a:rPr>
              <a:t>SCOPE: NARROW, NEVER WIDEN</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ctr" indent="0" marL="0">
              <a:buNone/>
            </a:pPr>
            <a:r>
              <a:rPr lang="en-US" sz="3200" b="1" dirty="0">
                <a:solidFill>
                  <a:schemeClr val="tx1"/>
                </a:solidFill>
              </a:rPr>
              <a:t>The grant can only shrink what the agent may do</a:t>
            </a:r>
            <a:endParaRPr lang="en-US" sz="3200" dirty="0"/>
          </a:p>
        </p:txBody>
      </p:sp>
      <p:sp>
        <p:nvSpPr>
          <p:cNvPr id="4" name="card-370"/>
          <p:cNvSpPr/>
          <p:nvPr/>
        </p:nvSpPr>
        <p:spPr>
          <a:xfrm>
            <a:off x="548640" y="1600200"/>
            <a:ext cx="2926080" cy="1965960"/>
          </a:xfrm>
          <a:prstGeom prst="roundRect">
            <a:avLst>
              <a:gd name="adj" fmla="val 4651"/>
            </a:avLst>
          </a:prstGeom>
          <a:solidFill>
            <a:srgbClr val="F6E7DD"/>
          </a:solidFill>
          <a:ln w="12700">
            <a:solidFill>
              <a:srgbClr val="F6E7DD"/>
            </a:solidFill>
            <a:prstDash val="solid"/>
          </a:ln>
        </p:spPr>
      </p:sp>
      <p:sp>
        <p:nvSpPr>
          <p:cNvPr id="5" name="text-371"/>
          <p:cNvSpPr txBox="1"/>
          <p:nvPr/>
        </p:nvSpPr>
        <p:spPr>
          <a:xfrm>
            <a:off x="731520" y="1737360"/>
            <a:ext cx="2560320" cy="365760"/>
          </a:xfrm>
          <a:prstGeom prst="rect">
            <a:avLst/>
          </a:prstGeom>
          <a:noFill/>
          <a:ln/>
        </p:spPr>
        <p:txBody>
          <a:bodyPr wrap="square" lIns="0" tIns="0" rIns="0" bIns="0" rtlCol="0" anchor="t"/>
          <a:lstStyle/>
          <a:p>
            <a:pPr indent="0" marL="0">
              <a:buNone/>
            </a:pPr>
            <a:r>
              <a:rPr lang="en-US" sz="1500" b="1" dirty="0">
                <a:solidFill>
                  <a:schemeClr val="accent1"/>
                </a:solidFill>
              </a:rPr>
              <a:t>Alice may read</a:t>
            </a:r>
            <a:endParaRPr lang="en-US" sz="1500" dirty="0"/>
          </a:p>
        </p:txBody>
      </p:sp>
      <p:sp>
        <p:nvSpPr>
          <p:cNvPr id="6" name="pill-372"/>
          <p:cNvSpPr txBox="1"/>
          <p:nvPr/>
        </p:nvSpPr>
        <p:spPr>
          <a:xfrm>
            <a:off x="731520" y="2377440"/>
            <a:ext cx="749808" cy="411480"/>
          </a:xfrm>
          <a:prstGeom prst="roundRect">
            <a:avLst>
              <a:gd name="adj" fmla="val 33333"/>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7" name="pill-373"/>
          <p:cNvSpPr txBox="1"/>
          <p:nvPr/>
        </p:nvSpPr>
        <p:spPr>
          <a:xfrm>
            <a:off x="1600200" y="2377440"/>
            <a:ext cx="749808" cy="411480"/>
          </a:xfrm>
          <a:prstGeom prst="roundRect">
            <a:avLst>
              <a:gd name="adj" fmla="val 33333"/>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8" name="pill-374"/>
          <p:cNvSpPr txBox="1"/>
          <p:nvPr/>
        </p:nvSpPr>
        <p:spPr>
          <a:xfrm>
            <a:off x="2468880" y="2377440"/>
            <a:ext cx="749808" cy="411480"/>
          </a:xfrm>
          <a:prstGeom prst="roundRect">
            <a:avLst>
              <a:gd name="adj" fmla="val 33333"/>
            </a:avLst>
          </a:prstGeom>
          <a:solidFill>
            <a:schemeClr val="accent5"/>
          </a:solidFill>
          <a:ln>
            <a:solidFill>
              <a:schemeClr val="accent5"/>
            </a:solidFill>
          </a:ln>
        </p:spPr>
        <p:txBody>
          <a:bodyPr wrap="square" lIns="0" tIns="0" rIns="0" bIns="0" rtlCol="0" anchor="ctr"/>
          <a:lstStyle/>
          <a:p>
            <a:pPr algn="ctr" indent="0" marL="0">
              <a:buNone/>
            </a:pPr>
            <a:r>
              <a:rPr lang="en-US" sz="1400" b="1" dirty="0">
                <a:solidFill>
                  <a:schemeClr val="tx2"/>
                </a:solidFill>
              </a:rPr>
              <a:t>C</a:t>
            </a:r>
            <a:endParaRPr lang="en-US" sz="1400" dirty="0"/>
          </a:p>
        </p:txBody>
      </p:sp>
      <p:sp>
        <p:nvSpPr>
          <p:cNvPr id="9" name="text-375"/>
          <p:cNvSpPr txBox="1"/>
          <p:nvPr/>
        </p:nvSpPr>
        <p:spPr>
          <a:xfrm>
            <a:off x="3520440" y="2103120"/>
            <a:ext cx="548640" cy="822960"/>
          </a:xfrm>
          <a:prstGeom prst="rect">
            <a:avLst/>
          </a:prstGeom>
          <a:noFill/>
          <a:ln/>
        </p:spPr>
        <p:txBody>
          <a:bodyPr wrap="square" lIns="0" tIns="0" rIns="0" bIns="0" rtlCol="0" anchor="ctr"/>
          <a:lstStyle/>
          <a:p>
            <a:pPr algn="ctr" indent="0" marL="0">
              <a:buNone/>
            </a:pPr>
            <a:r>
              <a:rPr lang="en-US" sz="4000" b="1" dirty="0">
                <a:solidFill>
                  <a:schemeClr val="tx1"/>
                </a:solidFill>
                <a:latin typeface="Cambria Math" pitchFamily="34" charset="0"/>
                <a:ea typeface="Cambria Math" pitchFamily="34" charset="-122"/>
                <a:cs typeface="Cambria Math" pitchFamily="34" charset="-120"/>
              </a:rPr>
              <a:t>∩</a:t>
            </a:r>
            <a:endParaRPr lang="en-US" sz="4000" dirty="0"/>
          </a:p>
        </p:txBody>
      </p:sp>
      <p:sp>
        <p:nvSpPr>
          <p:cNvPr id="10" name="card-376"/>
          <p:cNvSpPr/>
          <p:nvPr/>
        </p:nvSpPr>
        <p:spPr>
          <a:xfrm>
            <a:off x="4114800" y="1600200"/>
            <a:ext cx="2926080" cy="1965960"/>
          </a:xfrm>
          <a:prstGeom prst="roundRect">
            <a:avLst>
              <a:gd name="adj" fmla="val 4651"/>
            </a:avLst>
          </a:prstGeom>
          <a:solidFill>
            <a:srgbClr val="E1ECF7"/>
          </a:solidFill>
          <a:ln w="12700">
            <a:solidFill>
              <a:srgbClr val="E1ECF7"/>
            </a:solidFill>
            <a:prstDash val="solid"/>
          </a:ln>
        </p:spPr>
      </p:sp>
      <p:sp>
        <p:nvSpPr>
          <p:cNvPr id="11" name="text-377"/>
          <p:cNvSpPr txBox="1"/>
          <p:nvPr/>
        </p:nvSpPr>
        <p:spPr>
          <a:xfrm>
            <a:off x="4297680" y="1737360"/>
            <a:ext cx="2560320" cy="365760"/>
          </a:xfrm>
          <a:prstGeom prst="rect">
            <a:avLst/>
          </a:prstGeom>
          <a:noFill/>
          <a:ln/>
        </p:spPr>
        <p:txBody>
          <a:bodyPr wrap="square" lIns="0" tIns="0" rIns="0" bIns="0" rtlCol="0" anchor="t"/>
          <a:lstStyle/>
          <a:p>
            <a:pPr indent="0" marL="0">
              <a:buNone/>
            </a:pPr>
            <a:r>
              <a:rPr lang="en-US" sz="1500" b="1" dirty="0">
                <a:solidFill>
                  <a:schemeClr val="accent2"/>
                </a:solidFill>
              </a:rPr>
              <a:t>inventory-agent may read</a:t>
            </a:r>
            <a:endParaRPr lang="en-US" sz="1500" dirty="0"/>
          </a:p>
        </p:txBody>
      </p:sp>
      <p:sp>
        <p:nvSpPr>
          <p:cNvPr id="12" name="pill-378"/>
          <p:cNvSpPr txBox="1"/>
          <p:nvPr/>
        </p:nvSpPr>
        <p:spPr>
          <a:xfrm>
            <a:off x="4297680" y="2377440"/>
            <a:ext cx="749808" cy="411480"/>
          </a:xfrm>
          <a:prstGeom prst="roundRect">
            <a:avLst>
              <a:gd name="adj" fmla="val 33333"/>
            </a:avLst>
          </a:prstGeom>
          <a:solidFill>
            <a:schemeClr val="accent2"/>
          </a:solidFill>
          <a:ln>
            <a:solidFill>
              <a:schemeClr val="accent2"/>
            </a:solid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13" name="pill-379"/>
          <p:cNvSpPr txBox="1"/>
          <p:nvPr/>
        </p:nvSpPr>
        <p:spPr>
          <a:xfrm>
            <a:off x="5166360" y="2377440"/>
            <a:ext cx="749808" cy="411480"/>
          </a:xfrm>
          <a:prstGeom prst="roundRect">
            <a:avLst>
              <a:gd name="adj" fmla="val 33333"/>
            </a:avLst>
          </a:prstGeom>
          <a:solidFill>
            <a:schemeClr val="accent2"/>
          </a:solidFill>
          <a:ln>
            <a:solidFill>
              <a:schemeClr val="accent2"/>
            </a:solid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4" name="pill-380"/>
          <p:cNvSpPr txBox="1"/>
          <p:nvPr/>
        </p:nvSpPr>
        <p:spPr>
          <a:xfrm>
            <a:off x="6035040" y="2377440"/>
            <a:ext cx="749808" cy="411480"/>
          </a:xfrm>
          <a:prstGeom prst="roundRect">
            <a:avLst>
              <a:gd name="adj" fmla="val 33333"/>
            </a:avLst>
          </a:prstGeom>
          <a:solidFill>
            <a:schemeClr val="accent2"/>
          </a:solidFill>
          <a:ln>
            <a:solidFill>
              <a:schemeClr val="accent2"/>
            </a:solid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5" name="text-381"/>
          <p:cNvSpPr txBox="1"/>
          <p:nvPr/>
        </p:nvSpPr>
        <p:spPr>
          <a:xfrm>
            <a:off x="7086600" y="2103120"/>
            <a:ext cx="548640" cy="822960"/>
          </a:xfrm>
          <a:prstGeom prst="rect">
            <a:avLst/>
          </a:prstGeom>
          <a:noFill/>
          <a:ln/>
        </p:spPr>
        <p:txBody>
          <a:bodyPr wrap="square" lIns="0" tIns="0" rIns="0" bIns="0" rtlCol="0" anchor="ctr"/>
          <a:lstStyle/>
          <a:p>
            <a:pPr algn="ctr" indent="0" marL="0">
              <a:buNone/>
            </a:pPr>
            <a:r>
              <a:rPr lang="en-US" sz="4000" b="1" dirty="0">
                <a:solidFill>
                  <a:schemeClr val="tx1"/>
                </a:solidFill>
                <a:latin typeface="Cambria Math" pitchFamily="34" charset="0"/>
                <a:ea typeface="Cambria Math" pitchFamily="34" charset="-122"/>
                <a:cs typeface="Cambria Math" pitchFamily="34" charset="-120"/>
              </a:rPr>
              <a:t>=</a:t>
            </a:r>
            <a:endParaRPr lang="en-US" sz="4000" dirty="0"/>
          </a:p>
        </p:txBody>
      </p:sp>
      <p:sp>
        <p:nvSpPr>
          <p:cNvPr id="16" name="card-382"/>
          <p:cNvSpPr/>
          <p:nvPr/>
        </p:nvSpPr>
        <p:spPr>
          <a:xfrm>
            <a:off x="7680960" y="1600200"/>
            <a:ext cx="2926080" cy="1965960"/>
          </a:xfrm>
          <a:prstGeom prst="roundRect">
            <a:avLst>
              <a:gd name="adj" fmla="val 4651"/>
            </a:avLst>
          </a:prstGeom>
          <a:solidFill>
            <a:srgbClr val="DEEFE6"/>
          </a:solidFill>
          <a:ln w="12700">
            <a:solidFill>
              <a:srgbClr val="DEEFE6"/>
            </a:solidFill>
            <a:prstDash val="solid"/>
          </a:ln>
        </p:spPr>
      </p:sp>
      <p:sp>
        <p:nvSpPr>
          <p:cNvPr id="17" name="text-383"/>
          <p:cNvSpPr txBox="1"/>
          <p:nvPr/>
        </p:nvSpPr>
        <p:spPr>
          <a:xfrm>
            <a:off x="7863840" y="1737360"/>
            <a:ext cx="2560320" cy="365760"/>
          </a:xfrm>
          <a:prstGeom prst="rect">
            <a:avLst/>
          </a:prstGeom>
          <a:noFill/>
          <a:ln/>
        </p:spPr>
        <p:txBody>
          <a:bodyPr wrap="square" lIns="0" tIns="0" rIns="0" bIns="0" rtlCol="0" anchor="t"/>
          <a:lstStyle/>
          <a:p>
            <a:pPr indent="0" marL="0">
              <a:buNone/>
            </a:pPr>
            <a:r>
              <a:rPr lang="en-US" sz="1500" b="1" dirty="0">
                <a:solidFill>
                  <a:schemeClr val="accent3"/>
                </a:solidFill>
              </a:rPr>
              <a:t>Grantable to Alice's agent</a:t>
            </a:r>
            <a:endParaRPr lang="en-US" sz="1500" dirty="0"/>
          </a:p>
        </p:txBody>
      </p:sp>
      <p:sp>
        <p:nvSpPr>
          <p:cNvPr id="18" name="pill-384"/>
          <p:cNvSpPr txBox="1"/>
          <p:nvPr/>
        </p:nvSpPr>
        <p:spPr>
          <a:xfrm>
            <a:off x="7863840" y="2377440"/>
            <a:ext cx="749808" cy="411480"/>
          </a:xfrm>
          <a:prstGeom prst="roundRect">
            <a:avLst>
              <a:gd name="adj" fmla="val 33333"/>
            </a:avLst>
          </a:prstGeom>
          <a:solidFill>
            <a:schemeClr val="accent3"/>
          </a:solidFill>
          <a:ln>
            <a:solidFill>
              <a:schemeClr val="accent3"/>
            </a:solid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19" name="pill-385"/>
          <p:cNvSpPr txBox="1"/>
          <p:nvPr/>
        </p:nvSpPr>
        <p:spPr>
          <a:xfrm>
            <a:off x="8732520" y="2377440"/>
            <a:ext cx="749808" cy="411480"/>
          </a:xfrm>
          <a:prstGeom prst="roundRect">
            <a:avLst>
              <a:gd name="adj" fmla="val 33333"/>
            </a:avLst>
          </a:prstGeom>
          <a:solidFill>
            <a:schemeClr val="accent3"/>
          </a:solidFill>
          <a:ln>
            <a:solidFill>
              <a:schemeClr val="accent3"/>
            </a:solid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20" name="pill-386"/>
          <p:cNvSpPr txBox="1"/>
          <p:nvPr/>
        </p:nvSpPr>
        <p:spPr>
          <a:xfrm>
            <a:off x="9601200" y="2377440"/>
            <a:ext cx="749808" cy="411480"/>
          </a:xfrm>
          <a:prstGeom prst="roundRect">
            <a:avLst>
              <a:gd name="adj" fmla="val 33333"/>
            </a:avLst>
          </a:prstGeom>
          <a:solidFill>
            <a:schemeClr val="accent5"/>
          </a:solidFill>
          <a:ln>
            <a:solidFill>
              <a:schemeClr val="accent5"/>
            </a:solidFill>
          </a:ln>
        </p:spPr>
        <p:txBody>
          <a:bodyPr wrap="square" lIns="0" tIns="0" rIns="0" bIns="0" rtlCol="0" anchor="ctr"/>
          <a:lstStyle/>
          <a:p>
            <a:pPr algn="ctr" indent="0" marL="0">
              <a:buNone/>
            </a:pPr>
            <a:r>
              <a:rPr lang="en-US" sz="1400" b="1" dirty="0">
                <a:solidFill>
                  <a:schemeClr val="tx2"/>
                </a:solidFill>
              </a:rPr>
              <a:t>C</a:t>
            </a:r>
            <a:endParaRPr lang="en-US" sz="1400" dirty="0"/>
          </a:p>
        </p:txBody>
      </p:sp>
      <p:sp>
        <p:nvSpPr>
          <p:cNvPr id="21" name="text-387"/>
          <p:cNvSpPr txBox="1"/>
          <p:nvPr/>
        </p:nvSpPr>
        <p:spPr>
          <a:xfrm>
            <a:off x="548640" y="3657600"/>
            <a:ext cx="11064240" cy="365760"/>
          </a:xfrm>
          <a:prstGeom prst="rect">
            <a:avLst/>
          </a:prstGeom>
          <a:noFill/>
          <a:ln/>
        </p:spPr>
        <p:txBody>
          <a:bodyPr wrap="square" lIns="0" tIns="0" rIns="0" bIns="0" rtlCol="0" anchor="t"/>
          <a:lstStyle/>
          <a:p>
            <a:pPr indent="0" marL="0">
              <a:buNone/>
            </a:pPr>
            <a:r>
              <a:rPr lang="en-US" sz="1400" dirty="0">
                <a:solidFill>
                  <a:schemeClr val="tx2"/>
                </a:solidFill>
              </a:rPr>
              <a:t>Julie (user-002) may read only B, so a class A grant for her is refused with 403 at the authority.</a:t>
            </a:r>
            <a:endParaRPr lang="en-US" sz="1400" dirty="0"/>
          </a:p>
        </p:txBody>
      </p:sp>
      <p:sp>
        <p:nvSpPr>
          <p:cNvPr id="22" name="card-388"/>
          <p:cNvSpPr/>
          <p:nvPr/>
        </p:nvSpPr>
        <p:spPr>
          <a:xfrm>
            <a:off x="548640" y="4160520"/>
            <a:ext cx="11091672" cy="512064"/>
          </a:xfrm>
          <a:prstGeom prst="roundRect">
            <a:avLst>
              <a:gd name="adj" fmla="val 17857"/>
            </a:avLst>
          </a:prstGeom>
          <a:solidFill>
            <a:schemeClr val="bg2"/>
          </a:solidFill>
          <a:ln w="12700">
            <a:solidFill>
              <a:schemeClr val="bg2"/>
            </a:solidFill>
            <a:prstDash val="solid"/>
          </a:ln>
        </p:spPr>
      </p:sp>
      <p:sp>
        <p:nvSpPr>
          <p:cNvPr id="23" name="text-389"/>
          <p:cNvSpPr txBox="1"/>
          <p:nvPr/>
        </p:nvSpPr>
        <p:spPr>
          <a:xfrm>
            <a:off x="777240" y="4160520"/>
            <a:ext cx="5669280" cy="512064"/>
          </a:xfrm>
          <a:prstGeom prst="rect">
            <a:avLst/>
          </a:prstGeom>
          <a:noFill/>
          <a:ln/>
        </p:spPr>
        <p:txBody>
          <a:bodyPr wrap="square" lIns="0" tIns="0" rIns="0" bIns="0" rtlCol="0" anchor="ctr"/>
          <a:lstStyle/>
          <a:p>
            <a:pPr indent="0" marL="0">
              <a:buNone/>
            </a:pPr>
            <a:r>
              <a:rPr lang="en-US" sz="1400" dirty="0">
                <a:solidFill>
                  <a:schemeClr val="tx1"/>
                </a:solidFill>
              </a:rPr>
              <a:t>Alice granted B, agent reads WIDGET-B</a:t>
            </a:r>
            <a:endParaRPr lang="en-US" sz="1400" dirty="0"/>
          </a:p>
        </p:txBody>
      </p:sp>
      <p:sp>
        <p:nvSpPr>
          <p:cNvPr id="24" name="pill-390"/>
          <p:cNvSpPr txBox="1"/>
          <p:nvPr/>
        </p:nvSpPr>
        <p:spPr>
          <a:xfrm>
            <a:off x="6492240" y="4270248"/>
            <a:ext cx="73152" cy="292608"/>
          </a:xfrm>
          <a:prstGeom prst="roundRect">
            <a:avLst>
              <a:gd name="adj" fmla="val 187500"/>
            </a:avLst>
          </a:prstGeom>
          <a:solidFill>
            <a:schemeClr val="accent3"/>
          </a:solidFill>
          <a:ln>
            <a:solidFill>
              <a:schemeClr val="accent3"/>
            </a:solidFill>
          </a:ln>
        </p:spPr>
        <p:txBody>
          <a:bodyPr wrap="square" lIns="0" tIns="0" rIns="0" bIns="0" rtlCol="0" anchor="ctr"/>
          <a:lstStyle/>
          <a:p>
            <a:pPr algn="ctr" indent="0" marL="0">
              <a:buNone/>
            </a:pPr>
            <a:endParaRPr lang="en-US" sz="1100" dirty="0"/>
          </a:p>
        </p:txBody>
      </p:sp>
      <p:sp>
        <p:nvSpPr>
          <p:cNvPr id="25" name="text-391"/>
          <p:cNvSpPr txBox="1"/>
          <p:nvPr/>
        </p:nvSpPr>
        <p:spPr>
          <a:xfrm>
            <a:off x="6720840" y="4160520"/>
            <a:ext cx="4754880" cy="512064"/>
          </a:xfrm>
          <a:prstGeom prst="rect">
            <a:avLst/>
          </a:prstGeom>
          <a:noFill/>
          <a:ln/>
        </p:spPr>
        <p:txBody>
          <a:bodyPr wrap="square" lIns="0" tIns="0" rIns="0" bIns="0" rtlCol="0" anchor="ctr"/>
          <a:lstStyle/>
          <a:p>
            <a:pPr indent="0" marL="0">
              <a:buNone/>
            </a:pPr>
            <a:r>
              <a:rPr lang="en-US" sz="1400" b="1" dirty="0">
                <a:solidFill>
                  <a:schemeClr val="accent3"/>
                </a:solidFill>
              </a:rPr>
              <a:t>200</a:t>
            </a:r>
            <a:endParaRPr lang="en-US" sz="1400" dirty="0"/>
          </a:p>
        </p:txBody>
      </p:sp>
      <p:sp>
        <p:nvSpPr>
          <p:cNvPr id="26" name="card-392"/>
          <p:cNvSpPr/>
          <p:nvPr/>
        </p:nvSpPr>
        <p:spPr>
          <a:xfrm>
            <a:off x="548640" y="4782312"/>
            <a:ext cx="11091672" cy="512064"/>
          </a:xfrm>
          <a:prstGeom prst="roundRect">
            <a:avLst>
              <a:gd name="adj" fmla="val 17857"/>
            </a:avLst>
          </a:prstGeom>
          <a:solidFill>
            <a:schemeClr val="bg2"/>
          </a:solidFill>
          <a:ln w="12700">
            <a:solidFill>
              <a:schemeClr val="bg2"/>
            </a:solidFill>
            <a:prstDash val="solid"/>
          </a:ln>
        </p:spPr>
      </p:sp>
      <p:sp>
        <p:nvSpPr>
          <p:cNvPr id="27" name="text-393"/>
          <p:cNvSpPr txBox="1"/>
          <p:nvPr/>
        </p:nvSpPr>
        <p:spPr>
          <a:xfrm>
            <a:off x="777240" y="4782312"/>
            <a:ext cx="5669280" cy="512064"/>
          </a:xfrm>
          <a:prstGeom prst="rect">
            <a:avLst/>
          </a:prstGeom>
          <a:noFill/>
          <a:ln/>
        </p:spPr>
        <p:txBody>
          <a:bodyPr wrap="square" lIns="0" tIns="0" rIns="0" bIns="0" rtlCol="0" anchor="ctr"/>
          <a:lstStyle/>
          <a:p>
            <a:pPr indent="0" marL="0">
              <a:buNone/>
            </a:pPr>
            <a:r>
              <a:rPr lang="en-US" sz="1400" dirty="0">
                <a:solidFill>
                  <a:schemeClr val="tx1"/>
                </a:solidFill>
              </a:rPr>
              <a:t>Alice granted B, agent reads WIDGET-A</a:t>
            </a:r>
            <a:endParaRPr lang="en-US" sz="1400" dirty="0"/>
          </a:p>
        </p:txBody>
      </p:sp>
      <p:sp>
        <p:nvSpPr>
          <p:cNvPr id="28" name="pill-394"/>
          <p:cNvSpPr txBox="1"/>
          <p:nvPr/>
        </p:nvSpPr>
        <p:spPr>
          <a:xfrm>
            <a:off x="6492240" y="4892040"/>
            <a:ext cx="73152" cy="292608"/>
          </a:xfrm>
          <a:prstGeom prst="roundRect">
            <a:avLst>
              <a:gd name="adj" fmla="val 187500"/>
            </a:avLst>
          </a:prstGeom>
          <a:solidFill>
            <a:schemeClr val="accent1"/>
          </a:solidFill>
          <a:ln>
            <a:solidFill>
              <a:schemeClr val="accent1"/>
            </a:solidFill>
          </a:ln>
        </p:spPr>
        <p:txBody>
          <a:bodyPr wrap="square" lIns="0" tIns="0" rIns="0" bIns="0" rtlCol="0" anchor="ctr"/>
          <a:lstStyle/>
          <a:p>
            <a:pPr algn="ctr" indent="0" marL="0">
              <a:buNone/>
            </a:pPr>
            <a:endParaRPr lang="en-US" sz="1100" dirty="0"/>
          </a:p>
        </p:txBody>
      </p:sp>
      <p:sp>
        <p:nvSpPr>
          <p:cNvPr id="29" name="text-395"/>
          <p:cNvSpPr txBox="1"/>
          <p:nvPr/>
        </p:nvSpPr>
        <p:spPr>
          <a:xfrm>
            <a:off x="6720840" y="4782312"/>
            <a:ext cx="4754880" cy="512064"/>
          </a:xfrm>
          <a:prstGeom prst="rect">
            <a:avLst/>
          </a:prstGeom>
          <a:noFill/>
          <a:ln/>
        </p:spPr>
        <p:txBody>
          <a:bodyPr wrap="square" lIns="0" tIns="0" rIns="0" bIns="0" rtlCol="0" anchor="ctr"/>
          <a:lstStyle/>
          <a:p>
            <a:pPr indent="0" marL="0">
              <a:buNone/>
            </a:pPr>
            <a:r>
              <a:rPr lang="en-US" sz="1400" b="1" dirty="0">
                <a:solidFill>
                  <a:schemeClr val="accent1"/>
                </a:solidFill>
              </a:rPr>
              <a:t>403: H fails, though the machine could read A</a:t>
            </a:r>
            <a:endParaRPr lang="en-US" sz="1400" dirty="0"/>
          </a:p>
        </p:txBody>
      </p:sp>
      <p:sp>
        <p:nvSpPr>
          <p:cNvPr id="30" name="card-396"/>
          <p:cNvSpPr/>
          <p:nvPr/>
        </p:nvSpPr>
        <p:spPr>
          <a:xfrm>
            <a:off x="548640" y="5404104"/>
            <a:ext cx="11091672" cy="512064"/>
          </a:xfrm>
          <a:prstGeom prst="roundRect">
            <a:avLst>
              <a:gd name="adj" fmla="val 17857"/>
            </a:avLst>
          </a:prstGeom>
          <a:solidFill>
            <a:schemeClr val="bg2"/>
          </a:solidFill>
          <a:ln w="12700">
            <a:solidFill>
              <a:schemeClr val="bg2"/>
            </a:solidFill>
            <a:prstDash val="solid"/>
          </a:ln>
        </p:spPr>
      </p:sp>
      <p:sp>
        <p:nvSpPr>
          <p:cNvPr id="31" name="text-397"/>
          <p:cNvSpPr txBox="1"/>
          <p:nvPr/>
        </p:nvSpPr>
        <p:spPr>
          <a:xfrm>
            <a:off x="777240" y="5404104"/>
            <a:ext cx="5669280" cy="512064"/>
          </a:xfrm>
          <a:prstGeom prst="rect">
            <a:avLst/>
          </a:prstGeom>
          <a:noFill/>
          <a:ln/>
        </p:spPr>
        <p:txBody>
          <a:bodyPr wrap="square" lIns="0" tIns="0" rIns="0" bIns="0" rtlCol="0" anchor="ctr"/>
          <a:lstStyle/>
          <a:p>
            <a:pPr indent="0" marL="0">
              <a:buNone/>
            </a:pPr>
            <a:r>
              <a:rPr lang="en-US" sz="1400" dirty="0">
                <a:solidFill>
                  <a:schemeClr val="tx1"/>
                </a:solidFill>
              </a:rPr>
              <a:t>Grant says A + B, machine token scoped to B, reads A</a:t>
            </a:r>
            <a:endParaRPr lang="en-US" sz="1400" dirty="0"/>
          </a:p>
        </p:txBody>
      </p:sp>
      <p:sp>
        <p:nvSpPr>
          <p:cNvPr id="32" name="pill-398"/>
          <p:cNvSpPr txBox="1"/>
          <p:nvPr/>
        </p:nvSpPr>
        <p:spPr>
          <a:xfrm>
            <a:off x="6492240" y="5513832"/>
            <a:ext cx="73152" cy="292608"/>
          </a:xfrm>
          <a:prstGeom prst="roundRect">
            <a:avLst>
              <a:gd name="adj" fmla="val 187500"/>
            </a:avLst>
          </a:prstGeom>
          <a:solidFill>
            <a:schemeClr val="tx1"/>
          </a:solidFill>
          <a:ln>
            <a:solidFill>
              <a:schemeClr val="tx1"/>
            </a:solidFill>
          </a:ln>
        </p:spPr>
        <p:txBody>
          <a:bodyPr wrap="square" lIns="0" tIns="0" rIns="0" bIns="0" rtlCol="0" anchor="ctr"/>
          <a:lstStyle/>
          <a:p>
            <a:pPr algn="ctr" indent="0" marL="0">
              <a:buNone/>
            </a:pPr>
            <a:endParaRPr lang="en-US" sz="1100" dirty="0"/>
          </a:p>
        </p:txBody>
      </p:sp>
      <p:sp>
        <p:nvSpPr>
          <p:cNvPr id="33" name="text-399"/>
          <p:cNvSpPr txBox="1"/>
          <p:nvPr/>
        </p:nvSpPr>
        <p:spPr>
          <a:xfrm>
            <a:off x="6720840" y="5404104"/>
            <a:ext cx="4754880" cy="512064"/>
          </a:xfrm>
          <a:prstGeom prst="rect">
            <a:avLst/>
          </a:prstGeom>
          <a:noFill/>
          <a:ln/>
        </p:spPr>
        <p:txBody>
          <a:bodyPr wrap="square" lIns="0" tIns="0" rIns="0" bIns="0" rtlCol="0" anchor="ctr"/>
          <a:lstStyle/>
          <a:p>
            <a:pPr indent="0" marL="0">
              <a:buNone/>
            </a:pPr>
            <a:r>
              <a:rPr lang="en-US" sz="1400" b="1" dirty="0">
                <a:solidFill>
                  <a:schemeClr val="tx1"/>
                </a:solidFill>
              </a:rPr>
              <a:t>403: S fails, the grant cannot widen the machine</a:t>
            </a:r>
            <a:endParaRPr lang="en-US" sz="14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274320"/>
          </a:xfrm>
          <a:prstGeom prst="rect">
            <a:avLst/>
          </a:prstGeom>
          <a:noFill/>
          <a:ln/>
        </p:spPr>
        <p:txBody>
          <a:bodyPr wrap="square" lIns="0" tIns="0" rIns="0" bIns="0" rtlCol="0"/>
          <a:lstStyle/>
          <a:p>
            <a:pPr indent="0" marL="0">
              <a:buNone/>
            </a:pPr>
            <a:r>
              <a:rPr lang="en-US" sz="1200" b="1" dirty="0">
                <a:solidFill>
                  <a:schemeClr val="accent1"/>
                </a:solidFill>
                <a:latin typeface="Courier New" pitchFamily="34" charset="0"/>
                <a:ea typeface="Courier New" pitchFamily="34" charset="-122"/>
                <a:cs typeface="Courier New" pitchFamily="34" charset="-120"/>
              </a:rPr>
              <a:t>EVIDENCE</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ctr" indent="0" marL="0">
              <a:buNone/>
            </a:pPr>
            <a:r>
              <a:rPr lang="en-US" sz="3200" b="1" dirty="0">
                <a:solidFill>
                  <a:schemeClr val="tx1"/>
                </a:solidFill>
              </a:rPr>
              <a:t>Every claim is a test</a:t>
            </a:r>
            <a:endParaRPr lang="en-US" sz="3200" dirty="0"/>
          </a:p>
        </p:txBody>
      </p:sp>
      <p:sp>
        <p:nvSpPr>
          <p:cNvPr id="4" name="card-400"/>
          <p:cNvSpPr/>
          <p:nvPr/>
        </p:nvSpPr>
        <p:spPr>
          <a:xfrm>
            <a:off x="548640" y="1600200"/>
            <a:ext cx="2624328" cy="1828800"/>
          </a:xfrm>
          <a:prstGeom prst="roundRect">
            <a:avLst>
              <a:gd name="adj" fmla="val 5000"/>
            </a:avLst>
          </a:prstGeom>
          <a:solidFill>
            <a:schemeClr val="bg2"/>
          </a:solidFill>
          <a:ln w="12700">
            <a:solidFill>
              <a:schemeClr val="bg2"/>
            </a:solidFill>
            <a:prstDash val="solid"/>
          </a:ln>
        </p:spPr>
      </p:sp>
      <p:sp>
        <p:nvSpPr>
          <p:cNvPr id="5" name="text-401"/>
          <p:cNvSpPr txBox="1"/>
          <p:nvPr/>
        </p:nvSpPr>
        <p:spPr>
          <a:xfrm>
            <a:off x="548640" y="1691640"/>
            <a:ext cx="2624328" cy="1005840"/>
          </a:xfrm>
          <a:prstGeom prst="rect">
            <a:avLst/>
          </a:prstGeom>
          <a:noFill/>
          <a:ln/>
        </p:spPr>
        <p:txBody>
          <a:bodyPr wrap="square" lIns="0" tIns="0" rIns="0" bIns="0" rtlCol="0" anchor="ctr"/>
          <a:lstStyle/>
          <a:p>
            <a:pPr algn="ctr" indent="0" marL="0">
              <a:buNone/>
            </a:pPr>
            <a:r>
              <a:rPr lang="en-US" sz="6000" b="1" dirty="0">
                <a:solidFill>
                  <a:schemeClr val="tx1"/>
                </a:solidFill>
              </a:rPr>
              <a:t>331</a:t>
            </a:r>
            <a:endParaRPr lang="en-US" sz="6000" dirty="0"/>
          </a:p>
        </p:txBody>
      </p:sp>
      <p:sp>
        <p:nvSpPr>
          <p:cNvPr id="6" name="text-402"/>
          <p:cNvSpPr txBox="1"/>
          <p:nvPr/>
        </p:nvSpPr>
        <p:spPr>
          <a:xfrm>
            <a:off x="731520" y="2697480"/>
            <a:ext cx="2258568" cy="548640"/>
          </a:xfrm>
          <a:prstGeom prst="rect">
            <a:avLst/>
          </a:prstGeom>
          <a:noFill/>
          <a:ln/>
        </p:spPr>
        <p:txBody>
          <a:bodyPr wrap="square" lIns="0" tIns="0" rIns="0" bIns="0" rtlCol="0" anchor="t"/>
          <a:lstStyle/>
          <a:p>
            <a:pPr algn="ctr" indent="0" marL="0">
              <a:buNone/>
            </a:pPr>
            <a:r>
              <a:rPr lang="en-US" sz="1400" dirty="0">
                <a:solidFill>
                  <a:schemeClr val="tx2"/>
                </a:solidFill>
              </a:rPr>
              <a:t>tests passing at 06.09A</a:t>
            </a:r>
            <a:endParaRPr lang="en-US" sz="1400" dirty="0"/>
          </a:p>
        </p:txBody>
      </p:sp>
      <p:sp>
        <p:nvSpPr>
          <p:cNvPr id="7" name="card-403"/>
          <p:cNvSpPr/>
          <p:nvPr/>
        </p:nvSpPr>
        <p:spPr>
          <a:xfrm>
            <a:off x="3355848" y="1600200"/>
            <a:ext cx="2624328" cy="1828800"/>
          </a:xfrm>
          <a:prstGeom prst="roundRect">
            <a:avLst>
              <a:gd name="adj" fmla="val 5000"/>
            </a:avLst>
          </a:prstGeom>
          <a:solidFill>
            <a:schemeClr val="bg2"/>
          </a:solidFill>
          <a:ln w="12700">
            <a:solidFill>
              <a:schemeClr val="bg2"/>
            </a:solidFill>
            <a:prstDash val="solid"/>
          </a:ln>
        </p:spPr>
      </p:sp>
      <p:sp>
        <p:nvSpPr>
          <p:cNvPr id="8" name="text-404"/>
          <p:cNvSpPr txBox="1"/>
          <p:nvPr/>
        </p:nvSpPr>
        <p:spPr>
          <a:xfrm>
            <a:off x="3355848" y="1691640"/>
            <a:ext cx="2624328" cy="1005840"/>
          </a:xfrm>
          <a:prstGeom prst="rect">
            <a:avLst/>
          </a:prstGeom>
          <a:noFill/>
          <a:ln/>
        </p:spPr>
        <p:txBody>
          <a:bodyPr wrap="square" lIns="0" tIns="0" rIns="0" bIns="0" rtlCol="0" anchor="ctr"/>
          <a:lstStyle/>
          <a:p>
            <a:pPr algn="ctr" indent="0" marL="0">
              <a:buNone/>
            </a:pPr>
            <a:r>
              <a:rPr lang="en-US" sz="6000" b="1" dirty="0">
                <a:solidFill>
                  <a:schemeClr val="accent3"/>
                </a:solidFill>
              </a:rPr>
              <a:t>19</a:t>
            </a:r>
            <a:endParaRPr lang="en-US" sz="6000" dirty="0"/>
          </a:p>
        </p:txBody>
      </p:sp>
      <p:sp>
        <p:nvSpPr>
          <p:cNvPr id="9" name="text-405"/>
          <p:cNvSpPr txBox="1"/>
          <p:nvPr/>
        </p:nvSpPr>
        <p:spPr>
          <a:xfrm>
            <a:off x="3538728" y="2697480"/>
            <a:ext cx="2258568" cy="548640"/>
          </a:xfrm>
          <a:prstGeom prst="rect">
            <a:avLst/>
          </a:prstGeom>
          <a:noFill/>
          <a:ln/>
        </p:spPr>
        <p:txBody>
          <a:bodyPr wrap="square" lIns="0" tIns="0" rIns="0" bIns="0" rtlCol="0" anchor="t"/>
          <a:lstStyle/>
          <a:p>
            <a:pPr algn="ctr" indent="0" marL="0">
              <a:buNone/>
            </a:pPr>
            <a:r>
              <a:rPr lang="en-US" sz="1400" dirty="0">
                <a:solidFill>
                  <a:schemeClr val="tx2"/>
                </a:solidFill>
              </a:rPr>
              <a:t>delegation tests in 06.09B</a:t>
            </a:r>
            <a:endParaRPr lang="en-US" sz="1400" dirty="0"/>
          </a:p>
        </p:txBody>
      </p:sp>
      <p:sp>
        <p:nvSpPr>
          <p:cNvPr id="10" name="card-406"/>
          <p:cNvSpPr/>
          <p:nvPr/>
        </p:nvSpPr>
        <p:spPr>
          <a:xfrm>
            <a:off x="6163056" y="1600200"/>
            <a:ext cx="2624328" cy="1828800"/>
          </a:xfrm>
          <a:prstGeom prst="roundRect">
            <a:avLst>
              <a:gd name="adj" fmla="val 5000"/>
            </a:avLst>
          </a:prstGeom>
          <a:solidFill>
            <a:schemeClr val="bg2"/>
          </a:solidFill>
          <a:ln w="12700">
            <a:solidFill>
              <a:schemeClr val="bg2"/>
            </a:solidFill>
            <a:prstDash val="solid"/>
          </a:ln>
        </p:spPr>
      </p:sp>
      <p:sp>
        <p:nvSpPr>
          <p:cNvPr id="11" name="text-407"/>
          <p:cNvSpPr txBox="1"/>
          <p:nvPr/>
        </p:nvSpPr>
        <p:spPr>
          <a:xfrm>
            <a:off x="6163056" y="1691640"/>
            <a:ext cx="2624328" cy="1005840"/>
          </a:xfrm>
          <a:prstGeom prst="rect">
            <a:avLst/>
          </a:prstGeom>
          <a:noFill/>
          <a:ln/>
        </p:spPr>
        <p:txBody>
          <a:bodyPr wrap="square" lIns="0" tIns="0" rIns="0" bIns="0" rtlCol="0" anchor="ctr"/>
          <a:lstStyle/>
          <a:p>
            <a:pPr algn="ctr" indent="0" marL="0">
              <a:buNone/>
            </a:pPr>
            <a:r>
              <a:rPr lang="en-US" sz="6000" b="1" dirty="0">
                <a:solidFill>
                  <a:schemeClr val="accent1"/>
                </a:solidFill>
              </a:rPr>
              <a:t>8</a:t>
            </a:r>
            <a:endParaRPr lang="en-US" sz="6000" dirty="0"/>
          </a:p>
        </p:txBody>
      </p:sp>
      <p:sp>
        <p:nvSpPr>
          <p:cNvPr id="12" name="text-408"/>
          <p:cNvSpPr txBox="1"/>
          <p:nvPr/>
        </p:nvSpPr>
        <p:spPr>
          <a:xfrm>
            <a:off x="6345936" y="2697480"/>
            <a:ext cx="2258568" cy="548640"/>
          </a:xfrm>
          <a:prstGeom prst="rect">
            <a:avLst/>
          </a:prstGeom>
          <a:noFill/>
          <a:ln/>
        </p:spPr>
        <p:txBody>
          <a:bodyPr wrap="square" lIns="0" tIns="0" rIns="0" bIns="0" rtlCol="0" anchor="t"/>
          <a:lstStyle/>
          <a:p>
            <a:pPr algn="ctr" indent="0" marL="0">
              <a:buNone/>
            </a:pPr>
            <a:r>
              <a:rPr lang="en-US" sz="1400" dirty="0">
                <a:solidFill>
                  <a:schemeClr val="tx2"/>
                </a:solidFill>
              </a:rPr>
              <a:t>forged grants, all 401</a:t>
            </a:r>
            <a:endParaRPr lang="en-US" sz="1400" dirty="0"/>
          </a:p>
        </p:txBody>
      </p:sp>
      <p:sp>
        <p:nvSpPr>
          <p:cNvPr id="13" name="card-409"/>
          <p:cNvSpPr/>
          <p:nvPr/>
        </p:nvSpPr>
        <p:spPr>
          <a:xfrm>
            <a:off x="8970264" y="1600200"/>
            <a:ext cx="2624328" cy="1828800"/>
          </a:xfrm>
          <a:prstGeom prst="roundRect">
            <a:avLst>
              <a:gd name="adj" fmla="val 5000"/>
            </a:avLst>
          </a:prstGeom>
          <a:solidFill>
            <a:schemeClr val="bg2"/>
          </a:solidFill>
          <a:ln w="12700">
            <a:solidFill>
              <a:schemeClr val="bg2"/>
            </a:solidFill>
            <a:prstDash val="solid"/>
          </a:ln>
        </p:spPr>
      </p:sp>
      <p:sp>
        <p:nvSpPr>
          <p:cNvPr id="14" name="text-410"/>
          <p:cNvSpPr txBox="1"/>
          <p:nvPr/>
        </p:nvSpPr>
        <p:spPr>
          <a:xfrm>
            <a:off x="8970264" y="1691640"/>
            <a:ext cx="2624328" cy="1005840"/>
          </a:xfrm>
          <a:prstGeom prst="rect">
            <a:avLst/>
          </a:prstGeom>
          <a:noFill/>
          <a:ln/>
        </p:spPr>
        <p:txBody>
          <a:bodyPr wrap="square" lIns="0" tIns="0" rIns="0" bIns="0" rtlCol="0" anchor="ctr"/>
          <a:lstStyle/>
          <a:p>
            <a:pPr algn="ctr" indent="0" marL="0">
              <a:buNone/>
            </a:pPr>
            <a:r>
              <a:rPr lang="en-US" sz="6000" b="1" dirty="0">
                <a:solidFill>
                  <a:schemeClr val="accent2"/>
                </a:solidFill>
              </a:rPr>
              <a:t>0</a:t>
            </a:r>
            <a:endParaRPr lang="en-US" sz="6000" dirty="0"/>
          </a:p>
        </p:txBody>
      </p:sp>
      <p:sp>
        <p:nvSpPr>
          <p:cNvPr id="15" name="text-411"/>
          <p:cNvSpPr txBox="1"/>
          <p:nvPr/>
        </p:nvSpPr>
        <p:spPr>
          <a:xfrm>
            <a:off x="9153144" y="2697480"/>
            <a:ext cx="2258568" cy="548640"/>
          </a:xfrm>
          <a:prstGeom prst="rect">
            <a:avLst/>
          </a:prstGeom>
          <a:noFill/>
          <a:ln/>
        </p:spPr>
        <p:txBody>
          <a:bodyPr wrap="square" lIns="0" tIns="0" rIns="0" bIns="0" rtlCol="0" anchor="t"/>
          <a:lstStyle/>
          <a:p>
            <a:pPr algn="ctr" indent="0" marL="0">
              <a:buNone/>
            </a:pPr>
            <a:r>
              <a:rPr lang="en-US" sz="1400" dirty="0">
                <a:solidFill>
                  <a:schemeClr val="tx2"/>
                </a:solidFill>
              </a:rPr>
              <a:t>detail lookups on any denial</a:t>
            </a:r>
            <a:endParaRPr lang="en-US" sz="1400" dirty="0"/>
          </a:p>
        </p:txBody>
      </p:sp>
      <p:graphicFrame>
        <p:nvGraphicFramePr>
          <p:cNvPr id="18" name="table-412"/>
          <p:cNvGraphicFramePr>
            <a:graphicFrameLocks noGrp="1"/>
          </p:cNvGraphicFramePr>
          <p:nvPr>
            <p:extLst>
              <p:ext uri="{D42A27DB-BD31-4B8C-83A1-F6EECF244321}">
                <p14:modId xmlns:p14="http://schemas.microsoft.com/office/powerpoint/2010/main" val="1579011935"/>
              </p:ext>
            </p:extLst>
          </p:nvPr>
        </p:nvGraphicFramePr>
        <p:xfrm>
          <a:off x="548640" y="3703320"/>
          <a:ext cx="11091672" cy="914400"/>
        </p:xfrm>
        <a:graphic>
          <a:graphicData uri="http://schemas.openxmlformats.org/drawingml/2006/table">
            <a:tbl>
              <a:tblPr/>
              <a:tblGrid>
                <a:gridCol w="4206240"/>
                <a:gridCol w="6885432"/>
              </a:tblGrid>
              <a:tr h="402336">
                <a:tc>
                  <a:txBody>
                    <a:bodyPr/>
                    <a:lstStyle/>
                    <a:p>
                      <a:pPr indent="0" marL="0">
                        <a:buNone/>
                      </a:pPr>
                      <a:r>
                        <a:rPr lang="en-US" sz="1300" b="1" dirty="0">
                          <a:solidFill>
                            <a:schemeClr val="tx1"/>
                          </a:solidFill>
                          <a:latin typeface="Courier New" pitchFamily="34" charset="0"/>
                          <a:ea typeface="Courier New" pitchFamily="34" charset="-122"/>
                          <a:cs typeface="Courier New" pitchFamily="34" charset="-120"/>
                        </a:rPr>
                        <a:t>tests/test_delegation.py</a:t>
                      </a:r>
                      <a:endParaRPr lang="en-US" sz="1300" dirty="0">
                        <a:latin typeface="Courier New" charset="0"/>
                        <a:ea typeface="Courier New" charset="0"/>
                        <a:cs typeface="Courier New" charset="0"/>
                      </a:endParaRPr>
                    </a:p>
                  </a:txBody>
                  <a:tcPr marL="109728" marR="109728" marT="36576" marB="36576">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bg2"/>
                    </a:solidFill>
                  </a:tcPr>
                </a:tc>
                <a:tc>
                  <a:txBody>
                    <a:bodyPr/>
                    <a:lstStyle/>
                    <a:p>
                      <a:pPr indent="0" marL="0">
                        <a:buNone/>
                      </a:pPr>
                      <a:r>
                        <a:rPr lang="en-US" sz="1300" dirty="0">
                          <a:solidFill>
                            <a:schemeClr val="tx2"/>
                          </a:solidFill>
                        </a:rPr>
                        <a:t>authority checks, intersection, actor binding, end to end</a:t>
                      </a:r>
                      <a:endParaRPr lang="en-US" sz="1300" dirty="0"/>
                    </a:p>
                  </a:txBody>
                  <a:tcPr marL="109728" marR="109728" marT="36576" marB="36576">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bg2"/>
                    </a:solidFill>
                  </a:tcPr>
                </a:tc>
              </a:tr>
              <a:tr h="402336">
                <a:tc>
                  <a:txBody>
                    <a:bodyPr/>
                    <a:lstStyle/>
                    <a:p>
                      <a:pPr indent="0" marL="0">
                        <a:buNone/>
                      </a:pPr>
                      <a:r>
                        <a:rPr lang="en-US" sz="1300" b="1" dirty="0">
                          <a:solidFill>
                            <a:schemeClr val="tx1"/>
                          </a:solidFill>
                          <a:latin typeface="Courier New" pitchFamily="34" charset="0"/>
                          <a:ea typeface="Courier New" pitchFamily="34" charset="-122"/>
                          <a:cs typeface="Courier New" pitchFamily="34" charset="-120"/>
                        </a:rPr>
                        <a:t>tests/test_identity_forwarding.py</a:t>
                      </a:r>
                      <a:endParaRPr lang="en-US" sz="1300" dirty="0">
                        <a:latin typeface="Courier New" charset="0"/>
                        <a:ea typeface="Courier New" charset="0"/>
                        <a:cs typeface="Courier New" charset="0"/>
                      </a:endParaRPr>
                    </a:p>
                  </a:txBody>
                  <a:tcPr marL="109728" marR="109728" marT="36576" marB="36576">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X-Human-User never changes a decision</a:t>
                      </a:r>
                      <a:endParaRPr lang="en-US" sz="1300" dirty="0"/>
                    </a:p>
                  </a:txBody>
                  <a:tcPr marL="109728" marR="109728" marT="36576" marB="36576">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bg1"/>
                    </a:solidFill>
                  </a:tcPr>
                </a:tc>
              </a:tr>
              <a:tr h="402336">
                <a:tc>
                  <a:txBody>
                    <a:bodyPr/>
                    <a:lstStyle/>
                    <a:p>
                      <a:pPr indent="0" marL="0">
                        <a:buNone/>
                      </a:pPr>
                      <a:r>
                        <a:rPr lang="en-US" sz="1300" b="1" dirty="0">
                          <a:solidFill>
                            <a:schemeClr val="tx1"/>
                          </a:solidFill>
                          <a:latin typeface="Courier New" pitchFamily="34" charset="0"/>
                          <a:ea typeface="Courier New" pitchFamily="34" charset="-122"/>
                          <a:cs typeface="Courier New" pitchFamily="34" charset="-120"/>
                        </a:rPr>
                        <a:t>tests/test_agent_http.py</a:t>
                      </a:r>
                      <a:endParaRPr lang="en-US" sz="1300" dirty="0">
                        <a:latin typeface="Courier New" charset="0"/>
                        <a:ea typeface="Courier New" charset="0"/>
                        <a:cs typeface="Courier New" charset="0"/>
                      </a:endParaRPr>
                    </a:p>
                  </a:txBody>
                  <a:tcPr marL="109728" marR="109728" marT="36576" marB="36576">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bg2"/>
                    </a:solidFill>
                  </a:tcPr>
                </a:tc>
                <a:tc>
                  <a:txBody>
                    <a:bodyPr/>
                    <a:lstStyle/>
                    <a:p>
                      <a:pPr indent="0" marL="0">
                        <a:buNone/>
                      </a:pPr>
                      <a:r>
                        <a:rPr lang="en-US" sz="1300" dirty="0">
                          <a:solidFill>
                            <a:schemeClr val="tx2"/>
                          </a:solidFill>
                        </a:rPr>
                        <a:t>human in, machine out; 06.08 scenarios</a:t>
                      </a:r>
                      <a:endParaRPr lang="en-US" sz="1300" dirty="0"/>
                    </a:p>
                  </a:txBody>
                  <a:tcPr marL="109728" marR="109728" marT="36576" marB="36576">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bg2"/>
                    </a:solidFill>
                  </a:tcPr>
                </a:tc>
              </a:tr>
              <a:tr h="402336">
                <a:tc>
                  <a:txBody>
                    <a:bodyPr/>
                    <a:lstStyle/>
                    <a:p>
                      <a:pPr indent="0" marL="0">
                        <a:buNone/>
                      </a:pPr>
                      <a:r>
                        <a:rPr lang="en-US" sz="1300" b="1" dirty="0">
                          <a:solidFill>
                            <a:schemeClr val="tx1"/>
                          </a:solidFill>
                          <a:latin typeface="Courier New" pitchFamily="34" charset="0"/>
                          <a:ea typeface="Courier New" pitchFamily="34" charset="-122"/>
                          <a:cs typeface="Courier New" pitchFamily="34" charset="-120"/>
                        </a:rPr>
                        <a:t>tests/test_identity_service.py</a:t>
                      </a:r>
                      <a:endParaRPr lang="en-US" sz="1300" dirty="0">
                        <a:latin typeface="Courier New" charset="0"/>
                        <a:ea typeface="Courier New" charset="0"/>
                        <a:cs typeface="Courier New" charset="0"/>
                      </a:endParaRPr>
                    </a:p>
                  </a:txBody>
                  <a:tcPr marL="109728" marR="109728" marT="36576" marB="36576">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hashing, login, timing, no secrets logged</a:t>
                      </a:r>
                      <a:endParaRPr lang="en-US" sz="1300" dirty="0"/>
                    </a:p>
                  </a:txBody>
                  <a:tcPr marL="109728" marR="109728" marT="36576" marB="36576">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bg1"/>
                    </a:solidFill>
                  </a:tcPr>
                </a:tc>
              </a:tr>
              <a:tr h="402336">
                <a:tc>
                  <a:txBody>
                    <a:bodyPr/>
                    <a:lstStyle/>
                    <a:p>
                      <a:pPr indent="0" marL="0">
                        <a:buNone/>
                      </a:pPr>
                      <a:r>
                        <a:rPr lang="en-US" sz="1300" b="1" dirty="0">
                          <a:solidFill>
                            <a:schemeClr val="tx1"/>
                          </a:solidFill>
                          <a:latin typeface="Courier New" pitchFamily="34" charset="0"/>
                          <a:ea typeface="Courier New" pitchFamily="34" charset="-122"/>
                          <a:cs typeface="Courier New" pitchFamily="34" charset="-120"/>
                        </a:rPr>
                        <a:t>scripts/tamper_human_jwt.py</a:t>
                      </a:r>
                      <a:endParaRPr lang="en-US" sz="1300" dirty="0">
                        <a:latin typeface="Courier New" charset="0"/>
                        <a:ea typeface="Courier New" charset="0"/>
                        <a:cs typeface="Courier New" charset="0"/>
                      </a:endParaRPr>
                    </a:p>
                  </a:txBody>
                  <a:tcPr marL="109728" marR="109728" marT="36576" marB="36576">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bg2"/>
                    </a:solidFill>
                  </a:tcPr>
                </a:tc>
                <a:tc>
                  <a:txBody>
                    <a:bodyPr/>
                    <a:lstStyle/>
                    <a:p>
                      <a:pPr indent="0" marL="0">
                        <a:buNone/>
                      </a:pPr>
                      <a:r>
                        <a:rPr lang="en-US" sz="1300" dirty="0">
                          <a:solidFill>
                            <a:schemeClr val="tx2"/>
                          </a:solidFill>
                        </a:rPr>
                        <a:t>live forgery attempts against a real token</a:t>
                      </a:r>
                      <a:endParaRPr lang="en-US" sz="1300" dirty="0"/>
                    </a:p>
                  </a:txBody>
                  <a:tcPr marL="109728" marR="109728" marT="36576" marB="36576">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274320"/>
          </a:xfrm>
          <a:prstGeom prst="rect">
            <a:avLst/>
          </a:prstGeom>
          <a:noFill/>
          <a:ln/>
        </p:spPr>
        <p:txBody>
          <a:bodyPr wrap="square" lIns="0" tIns="0" rIns="0" bIns="0" rtlCol="0"/>
          <a:lstStyle/>
          <a:p>
            <a:pPr indent="0" marL="0">
              <a:buNone/>
            </a:pPr>
            <a:r>
              <a:rPr lang="en-US" sz="1200" b="1" dirty="0">
                <a:solidFill>
                  <a:schemeClr val="accent1"/>
                </a:solidFill>
                <a:latin typeface="Courier New" pitchFamily="34" charset="0"/>
                <a:ea typeface="Courier New" pitchFamily="34" charset="-122"/>
                <a:cs typeface="Courier New" pitchFamily="34" charset="-120"/>
              </a:rPr>
              <a:t>LIMITS AND WHAT'S NEXT</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ctr" indent="0" marL="0">
              <a:buNone/>
            </a:pPr>
            <a:r>
              <a:rPr lang="en-US" sz="3200" b="1" dirty="0">
                <a:solidFill>
                  <a:schemeClr val="tx1"/>
                </a:solidFill>
              </a:rPr>
              <a:t>What Day 06 does not solve yet</a:t>
            </a:r>
            <a:endParaRPr lang="en-US" sz="3200" dirty="0"/>
          </a:p>
        </p:txBody>
      </p:sp>
      <p:sp>
        <p:nvSpPr>
          <p:cNvPr id="4" name="card-413"/>
          <p:cNvSpPr/>
          <p:nvPr/>
        </p:nvSpPr>
        <p:spPr>
          <a:xfrm>
            <a:off x="548640" y="1600200"/>
            <a:ext cx="6035040" cy="896112"/>
          </a:xfrm>
          <a:prstGeom prst="roundRect">
            <a:avLst>
              <a:gd name="adj" fmla="val 10204"/>
            </a:avLst>
          </a:prstGeom>
          <a:solidFill>
            <a:schemeClr val="bg2"/>
          </a:solidFill>
          <a:ln w="12700">
            <a:solidFill>
              <a:schemeClr val="bg2"/>
            </a:solidFill>
            <a:prstDash val="solid"/>
          </a:ln>
        </p:spPr>
      </p:sp>
      <p:sp>
        <p:nvSpPr>
          <p:cNvPr id="5" name="text-414"/>
          <p:cNvSpPr txBox="1"/>
          <p:nvPr/>
        </p:nvSpPr>
        <p:spPr>
          <a:xfrm>
            <a:off x="777240" y="1673352"/>
            <a:ext cx="5669280" cy="777240"/>
          </a:xfrm>
          <a:prstGeom prst="rect">
            <a:avLst/>
          </a:prstGeom>
          <a:noFill/>
          <a:ln/>
        </p:spPr>
        <p:txBody>
          <a:bodyPr wrap="square" lIns="0" tIns="0" rIns="0" bIns="0" rtlCol="0" anchor="t"/>
          <a:lstStyle/>
          <a:p>
            <a:pPr indent="0" marL="0">
              <a:buNone/>
            </a:pPr>
            <a:r>
              <a:rPr lang="en-US" sz="1600" b="1" dirty="0">
                <a:solidFill>
                  <a:schemeClr val="tx1"/>
                </a:solidFill>
              </a:rPr>
              <a:t>Delegation is optional</a:t>
            </a:r>
            <a:endParaRPr lang="en-US" sz="1300" dirty="0"/>
          </a:p>
          <a:p>
            <a:pPr indent="0" marL="0">
              <a:buNone/>
            </a:pPr>
            <a:r>
              <a:rPr lang="en-US" sz="1300" dirty="0">
                <a:solidFill>
                  <a:schemeClr val="tx2"/>
                </a:solidFill>
              </a:rPr>
              <a:t>Without X-Delegation-Token the service still allows M ∧ S, the Day 05 path.</a:t>
            </a:r>
            <a:endParaRPr lang="en-US" sz="1300" dirty="0"/>
          </a:p>
        </p:txBody>
      </p:sp>
      <p:sp>
        <p:nvSpPr>
          <p:cNvPr id="6" name="card-415"/>
          <p:cNvSpPr/>
          <p:nvPr/>
        </p:nvSpPr>
        <p:spPr>
          <a:xfrm>
            <a:off x="548640" y="2624328"/>
            <a:ext cx="6035040" cy="896112"/>
          </a:xfrm>
          <a:prstGeom prst="roundRect">
            <a:avLst>
              <a:gd name="adj" fmla="val 10204"/>
            </a:avLst>
          </a:prstGeom>
          <a:solidFill>
            <a:schemeClr val="bg2"/>
          </a:solidFill>
          <a:ln w="12700">
            <a:solidFill>
              <a:schemeClr val="bg2"/>
            </a:solidFill>
            <a:prstDash val="solid"/>
          </a:ln>
        </p:spPr>
      </p:sp>
      <p:sp>
        <p:nvSpPr>
          <p:cNvPr id="7" name="text-416"/>
          <p:cNvSpPr txBox="1"/>
          <p:nvPr/>
        </p:nvSpPr>
        <p:spPr>
          <a:xfrm>
            <a:off x="777240" y="2697480"/>
            <a:ext cx="5669280" cy="777240"/>
          </a:xfrm>
          <a:prstGeom prst="rect">
            <a:avLst/>
          </a:prstGeom>
          <a:noFill/>
          <a:ln/>
        </p:spPr>
        <p:txBody>
          <a:bodyPr wrap="square" lIns="0" tIns="0" rIns="0" bIns="0" rtlCol="0" anchor="t"/>
          <a:lstStyle/>
          <a:p>
            <a:pPr indent="0" marL="0">
              <a:buNone/>
            </a:pPr>
            <a:r>
              <a:rPr lang="en-US" sz="1600" b="1" dirty="0">
                <a:solidFill>
                  <a:schemeClr val="tx1"/>
                </a:solidFill>
              </a:rPr>
              <a:t>Bearer, for five minutes</a:t>
            </a:r>
            <a:endParaRPr lang="en-US" sz="1300" dirty="0"/>
          </a:p>
          <a:p>
            <a:pPr indent="0" marL="0">
              <a:buNone/>
            </a:pPr>
            <a:r>
              <a:rPr lang="en-US" sz="1300" dirty="0">
                <a:solidFill>
                  <a:schemeClr val="tx2"/>
                </a:solidFill>
              </a:rPr>
              <a:t>A stolen grant is useless without the bound agent's machine token, but no revocation.</a:t>
            </a:r>
            <a:endParaRPr lang="en-US" sz="1300" dirty="0"/>
          </a:p>
        </p:txBody>
      </p:sp>
      <p:sp>
        <p:nvSpPr>
          <p:cNvPr id="8" name="card-417"/>
          <p:cNvSpPr/>
          <p:nvPr/>
        </p:nvSpPr>
        <p:spPr>
          <a:xfrm>
            <a:off x="548640" y="3648456"/>
            <a:ext cx="6035040" cy="896112"/>
          </a:xfrm>
          <a:prstGeom prst="roundRect">
            <a:avLst>
              <a:gd name="adj" fmla="val 10204"/>
            </a:avLst>
          </a:prstGeom>
          <a:solidFill>
            <a:schemeClr val="bg2"/>
          </a:solidFill>
          <a:ln w="12700">
            <a:solidFill>
              <a:schemeClr val="bg2"/>
            </a:solidFill>
            <a:prstDash val="solid"/>
          </a:ln>
        </p:spPr>
      </p:sp>
      <p:sp>
        <p:nvSpPr>
          <p:cNvPr id="9" name="text-418"/>
          <p:cNvSpPr txBox="1"/>
          <p:nvPr/>
        </p:nvSpPr>
        <p:spPr>
          <a:xfrm>
            <a:off x="777240" y="3721608"/>
            <a:ext cx="5669280" cy="777240"/>
          </a:xfrm>
          <a:prstGeom prst="rect">
            <a:avLst/>
          </a:prstGeom>
          <a:noFill/>
          <a:ln/>
        </p:spPr>
        <p:txBody>
          <a:bodyPr wrap="square" lIns="0" tIns="0" rIns="0" bIns="0" rtlCol="0" anchor="t"/>
          <a:lstStyle/>
          <a:p>
            <a:pPr indent="0" marL="0">
              <a:buNone/>
            </a:pPr>
            <a:r>
              <a:rPr lang="en-US" sz="1600" b="1" dirty="0">
                <a:solidFill>
                  <a:schemeClr val="tx1"/>
                </a:solidFill>
              </a:rPr>
              <a:t>Policy lives in JSON</a:t>
            </a:r>
            <a:endParaRPr lang="en-US" sz="1300" dirty="0"/>
          </a:p>
          <a:p>
            <a:pPr indent="0" marL="0">
              <a:buNone/>
            </a:pPr>
            <a:r>
              <a:rPr lang="en-US" sz="1300" dirty="0">
                <a:solidFill>
                  <a:schemeClr val="tx2"/>
                </a:solidFill>
              </a:rPr>
              <a:t>may_act_for and permissions are static config, loaded at startup.</a:t>
            </a:r>
            <a:endParaRPr lang="en-US" sz="1300" dirty="0"/>
          </a:p>
        </p:txBody>
      </p:sp>
      <p:sp>
        <p:nvSpPr>
          <p:cNvPr id="10" name="card-419"/>
          <p:cNvSpPr/>
          <p:nvPr/>
        </p:nvSpPr>
        <p:spPr>
          <a:xfrm>
            <a:off x="548640" y="4672584"/>
            <a:ext cx="6035040" cy="896112"/>
          </a:xfrm>
          <a:prstGeom prst="roundRect">
            <a:avLst>
              <a:gd name="adj" fmla="val 10204"/>
            </a:avLst>
          </a:prstGeom>
          <a:solidFill>
            <a:schemeClr val="bg2"/>
          </a:solidFill>
          <a:ln w="12700">
            <a:solidFill>
              <a:schemeClr val="bg2"/>
            </a:solidFill>
            <a:prstDash val="solid"/>
          </a:ln>
        </p:spPr>
      </p:sp>
      <p:sp>
        <p:nvSpPr>
          <p:cNvPr id="11" name="text-420"/>
          <p:cNvSpPr txBox="1"/>
          <p:nvPr/>
        </p:nvSpPr>
        <p:spPr>
          <a:xfrm>
            <a:off x="777240" y="4745736"/>
            <a:ext cx="5669280" cy="777240"/>
          </a:xfrm>
          <a:prstGeom prst="rect">
            <a:avLst/>
          </a:prstGeom>
          <a:noFill/>
          <a:ln/>
        </p:spPr>
        <p:txBody>
          <a:bodyPr wrap="square" lIns="0" tIns="0" rIns="0" bIns="0" rtlCol="0" anchor="t"/>
          <a:lstStyle/>
          <a:p>
            <a:pPr indent="0" marL="0">
              <a:buNone/>
            </a:pPr>
            <a:r>
              <a:rPr lang="en-US" sz="1600" b="1" dirty="0">
                <a:solidFill>
                  <a:schemeClr val="tx1"/>
                </a:solidFill>
              </a:rPr>
              <a:t>Read is the only operation</a:t>
            </a:r>
            <a:endParaRPr lang="en-US" sz="1300" dirty="0"/>
          </a:p>
          <a:p>
            <a:pPr indent="0" marL="0">
              <a:buNone/>
            </a:pPr>
            <a:r>
              <a:rPr lang="en-US" sz="1300" dirty="0">
                <a:solidFill>
                  <a:schemeClr val="tx2"/>
                </a:solidFill>
              </a:rPr>
              <a:t>Every scope is inventory.read.class_x. Nothing writes yet.</a:t>
            </a:r>
            <a:endParaRPr lang="en-US" sz="1300" dirty="0"/>
          </a:p>
        </p:txBody>
      </p:sp>
      <p:sp>
        <p:nvSpPr>
          <p:cNvPr id="12" name="card-421"/>
          <p:cNvSpPr/>
          <p:nvPr/>
        </p:nvSpPr>
        <p:spPr>
          <a:xfrm>
            <a:off x="6903720" y="1600200"/>
            <a:ext cx="4736592" cy="3968496"/>
          </a:xfrm>
          <a:prstGeom prst="roundRect">
            <a:avLst>
              <a:gd name="adj" fmla="val 2304"/>
            </a:avLst>
          </a:prstGeom>
          <a:solidFill>
            <a:schemeClr val="tx1"/>
          </a:solidFill>
          <a:ln w="12700">
            <a:solidFill>
              <a:schemeClr val="tx1"/>
            </a:solidFill>
            <a:prstDash val="solid"/>
          </a:ln>
        </p:spPr>
      </p:sp>
      <p:sp>
        <p:nvSpPr>
          <p:cNvPr id="13" name="icon-bg-422"/>
          <p:cNvSpPr/>
          <p:nvPr/>
        </p:nvSpPr>
        <p:spPr>
          <a:xfrm>
            <a:off x="7178040" y="1874520"/>
            <a:ext cx="685800" cy="685800"/>
          </a:xfrm>
          <a:prstGeom prst="ellipse">
            <a:avLst/>
          </a:prstGeom>
          <a:solidFill>
            <a:schemeClr val="accent1"/>
          </a:solidFill>
          <a:ln w="12700">
            <a:solidFill>
              <a:schemeClr val="accent1"/>
            </a:solidFill>
            <a:prstDash val="solid"/>
          </a:ln>
        </p:spPr>
      </p:sp>
      <p:pic>
        <p:nvPicPr>
          <p:cNvPr id="14" name="icon-423" descr="preencoded.png">    </p:cNvPr>
          <p:cNvPicPr>
            <a:picLocks noChangeAspect="1"/>
          </p:cNvPicPr>
          <p:nvPr/>
        </p:nvPicPr>
        <p:blipFill>
          <a:blip r:embed="rId1"/>
          <a:stretch>
            <a:fillRect/>
          </a:stretch>
        </p:blipFill>
        <p:spPr>
          <a:xfrm>
            <a:off x="7342632" y="2039112"/>
            <a:ext cx="356616" cy="356616"/>
          </a:xfrm>
          <a:prstGeom prst="rect">
            <a:avLst/>
          </a:prstGeom>
        </p:spPr>
      </p:pic>
      <p:sp>
        <p:nvSpPr>
          <p:cNvPr id="15" name="text-424"/>
          <p:cNvSpPr txBox="1"/>
          <p:nvPr/>
        </p:nvSpPr>
        <p:spPr>
          <a:xfrm>
            <a:off x="8046720" y="2011680"/>
            <a:ext cx="2743200" cy="365760"/>
          </a:xfrm>
          <a:prstGeom prst="rect">
            <a:avLst/>
          </a:prstGeom>
          <a:noFill/>
          <a:ln/>
        </p:spPr>
        <p:txBody>
          <a:bodyPr wrap="square" lIns="0" tIns="0" rIns="0" bIns="0" rtlCol="0" anchor="t"/>
          <a:lstStyle/>
          <a:p>
            <a:pPr indent="0" marL="0">
              <a:buNone/>
            </a:pPr>
            <a:r>
              <a:rPr lang="en-US" sz="1200" b="1" dirty="0">
                <a:solidFill>
                  <a:schemeClr val="accent4"/>
                </a:solidFill>
                <a:latin typeface="Courier New" pitchFamily="34" charset="0"/>
                <a:ea typeface="Courier New" pitchFamily="34" charset="-122"/>
                <a:cs typeface="Courier New" pitchFamily="34" charset="-120"/>
              </a:rPr>
              <a:t>NEXT</a:t>
            </a:r>
            <a:endParaRPr lang="en-US" sz="1200" dirty="0"/>
          </a:p>
        </p:txBody>
      </p:sp>
      <p:sp>
        <p:nvSpPr>
          <p:cNvPr id="16" name="text-425"/>
          <p:cNvSpPr txBox="1"/>
          <p:nvPr/>
        </p:nvSpPr>
        <p:spPr>
          <a:xfrm>
            <a:off x="7178040" y="2743200"/>
            <a:ext cx="4206240" cy="2651760"/>
          </a:xfrm>
          <a:prstGeom prst="rect">
            <a:avLst/>
          </a:prstGeom>
          <a:noFill/>
          <a:ln/>
        </p:spPr>
        <p:txBody>
          <a:bodyPr wrap="square" lIns="0" tIns="0" rIns="0" bIns="0" rtlCol="0" anchor="t"/>
          <a:lstStyle/>
          <a:p>
            <a:pPr indent="0" marL="0">
              <a:buNone/>
            </a:pPr>
            <a:r>
              <a:rPr lang="en-US" sz="1800" b="1" dirty="0">
                <a:solidFill>
                  <a:schemeClr val="bg1"/>
                </a:solidFill>
              </a:rPr>
              <a:t>Alice may read inventory, but may not create purchase orders.</a:t>
            </a:r>
            <a:endParaRPr lang="en-US" sz="1500" dirty="0"/>
          </a:p>
          <a:p>
            <a:pPr indent="0" marL="0">
              <a:buNone/>
            </a:pPr>
            <a:r>
              <a:rPr lang="en-US" sz="1500" dirty="0">
                <a:solidFill>
                  <a:schemeClr val="bg1"/>
                </a:solidFill>
              </a:rPr>
              <a:t> </a:t>
            </a:r>
            <a:endParaRPr lang="en-US" sz="1500" dirty="0"/>
          </a:p>
          <a:p>
            <a:pPr indent="0" marL="0">
              <a:buNone/>
            </a:pPr>
            <a:r>
              <a:rPr lang="en-US" sz="1500" dirty="0">
                <a:solidFill>
                  <a:schemeClr val="accent5"/>
                </a:solidFill>
              </a:rPr>
              <a:t>The delegation must name the operation, and the intersection must hold per operation. An agent that can write must never write for a human who can't.</a:t>
            </a:r>
            <a:endParaRPr lang="en-US" sz="15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2A Day 06">
  <a:themeElements>
    <a:clrScheme name="A2A Day 06">
      <a:dk1>
        <a:srgbClr val="14213D"/>
      </a:dk1>
      <a:lt1>
        <a:srgbClr val="FFFFFF"/>
      </a:lt1>
      <a:dk2>
        <a:srgbClr val="4A5568"/>
      </a:dk2>
      <a:lt2>
        <a:srgbClr val="EEF1F5"/>
      </a:lt2>
      <a:accent1>
        <a:srgbClr val="B4531A"/>
      </a:accent1>
      <a:accent2>
        <a:srgbClr val="2F6FB0"/>
      </a:accent2>
      <a:accent3>
        <a:srgbClr val="2E7D5B"/>
      </a:accent3>
      <a:accent4>
        <a:srgbClr val="8FC1F0"/>
      </a:accent4>
      <a:accent5>
        <a:srgbClr val="DDE2EA"/>
      </a:accent5>
      <a:accent6>
        <a:srgbClr val="5F6672"/>
      </a:accent6>
      <a:hlink>
        <a:srgbClr val="2F6FB0"/>
      </a:hlink>
      <a:folHlink>
        <a:srgbClr val="5F6672"/>
      </a:folHlink>
    </a:clrScheme>
    <a:fontScheme name="A2A Day 06">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06: Acting on behalf of a human</dc:title>
  <dc:subject>PptxGenJS Presentation</dc:subject>
  <dc:creator>A2A Governance</dc:creator>
  <cp:lastModifiedBy>A2A Governance</cp:lastModifiedBy>
  <cp:revision>1</cp:revision>
  <dcterms:created xsi:type="dcterms:W3CDTF">2026-10-26T01:08:59Z</dcterms:created>
  <dcterms:modified xsi:type="dcterms:W3CDTF">2026-10-26T01:08:59Z</dcterms:modified>
</cp:coreProperties>
</file>